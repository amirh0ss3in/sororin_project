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0" r:id="rId10"/>
    <p:sldId id="265" r:id="rId11"/>
    <p:sldId id="266" r:id="rId12"/>
    <p:sldId id="267" r:id="rId13"/>
    <p:sldId id="268" r:id="rId14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2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828800"/>
            <a:ext cx="85035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2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(next slide) 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stabilising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E(i)  ≈  Σ over pairs (a,b)  of  M(a,b) · cₐ · c_b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stabilising energy to fold are predicted disordered (high score). It is a mean-field energy estimate from sequence — the physics-flavoured part.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favourable energy by binding a generic globular partner? If yes, it is flagged as a disordered binding region.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favourable to bind  →  binding-competent disorder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994612" y="49866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49866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cohesin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M crosscheck footer"/>
          <p:cNvSpPr/>
          <p:nvPr/>
        </p:nvSpPr>
        <p:spPr>
          <a:xfrm>
            <a:off x="342412" y="6226860"/>
            <a:ext cx="11504000" cy="515000"/>
          </a:xfrm>
          <a:prstGeom prst="roundRect">
            <a:avLst>
              <a:gd name="adj" fmla="val 4200"/>
            </a:avLst>
          </a:prstGeom>
          <a:solidFill>
            <a:srgbClr val="E7F1F3"/>
          </a:solidFill>
          <a:ln w="1397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0440" tIns="54000" rIns="100440" bIns="36000" anchor="ctr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6F7A"/>
                </a:solidFill>
                <a:effectLst/>
                <a:uFillTx/>
                <a:latin typeface="Calibri"/>
              </a:rPr>
              <a:t>Cross-check — short linear motifs (paper §3.4):  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an independent ELM scan of the raw sequence recovers this very same CDK1 cluster — nine proline-directed (S/T-P) motifs — and re-finds the KEN box, so the phospho-sites are confirmed by a second, pattern-based method (it also flags candidate SPOP degrons).</a:t>
            </a:r>
            <a:endParaRPr lang="en-US" sz="105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  <p:bldP spid="4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91440"/>
            <a:ext cx="11639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Result 4 - robustness: two more methods, one architecture (the disorder is not an artifact of analysis method)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13160"/>
            <a:ext cx="3401280" cy="1481040"/>
          </a:xfrm>
          <a:prstGeom prst="roundRect">
            <a:avLst>
              <a:gd name="adj" fmla="val 3704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IUPred2 + ANCHOR2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disorder predictor - our §3.2 baseline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61.5%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of residues disordered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675960" y="1033200"/>
            <a:ext cx="566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≈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within 2.4%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4233600" y="713160"/>
            <a:ext cx="3401280" cy="1481040"/>
          </a:xfrm>
          <a:prstGeom prst="roundRect">
            <a:avLst>
              <a:gd name="adj" fmla="val 3704"/>
            </a:avLst>
          </a:prstGeom>
          <a:solidFill>
            <a:srgbClr val="E3F2F4"/>
          </a:solidFill>
          <a:ln w="1905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8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 disorder predictor - different algorithm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63.9%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of residues disordered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138160" y="713160"/>
            <a:ext cx="3730320" cy="1481040"/>
          </a:xfrm>
          <a:prstGeom prst="roundRect">
            <a:avLst>
              <a:gd name="adj" fmla="val 3704"/>
            </a:avLst>
          </a:prstGeom>
          <a:solidFill>
            <a:srgbClr val="F1E7F3"/>
          </a:solidFill>
          <a:ln w="1905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PSIPRED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- a different axis (helix / strand / coil)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78.2% coil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18.7% helix  ·  3.2% strand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2286000"/>
            <a:ext cx="11548440" cy="840960"/>
          </a:xfrm>
          <a:prstGeom prst="roundRect">
            <a:avLst>
              <a:gd name="adj" fmla="val 5435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All three converge on one ordered element  →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C-terminal Sororin domain (230-252): 83% ordered secondary structure, 70% helix, 0% disordered.  </a:t>
            </a:r>
            <a:r>
              <a:rPr lang="en-US" sz="12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rest of the chain is coil and disordered.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2C5F58E-9504-622B-C70F-B7F63185FB1D}"/>
              </a:ext>
            </a:extLst>
          </p:cNvPr>
          <p:cNvGrpSpPr/>
          <p:nvPr/>
        </p:nvGrpSpPr>
        <p:grpSpPr>
          <a:xfrm>
            <a:off x="320040" y="3291840"/>
            <a:ext cx="6858000" cy="3035880"/>
            <a:chOff x="320040" y="3291840"/>
            <a:chExt cx="6858000" cy="3035880"/>
          </a:xfrm>
        </p:grpSpPr>
        <p:sp>
          <p:nvSpPr>
            <p:cNvPr id="14" name="Text 6"/>
            <p:cNvSpPr/>
            <p:nvPr/>
          </p:nvSpPr>
          <p:spPr>
            <a:xfrm>
              <a:off x="320040" y="3291840"/>
              <a:ext cx="6857640" cy="25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000" b="1" u="none" strike="noStrike" dirty="0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PSIPRED secondary structure &amp; DISOPRED3 disorder, per region (Table 6)</a:t>
              </a:r>
              <a:endPara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aphicFrame>
          <p:nvGraphicFramePr>
            <p:cNvPr id="15" name="Table 0"/>
            <p:cNvGraphicFramePr/>
            <p:nvPr>
              <p:extLst>
                <p:ext uri="{D42A27DB-BD31-4B8C-83A1-F6EECF244321}">
                  <p14:modId xmlns:p14="http://schemas.microsoft.com/office/powerpoint/2010/main" val="3623137487"/>
                </p:ext>
              </p:extLst>
            </p:nvPr>
          </p:nvGraphicFramePr>
          <p:xfrm>
            <a:off x="320040" y="3584520"/>
            <a:ext cx="6858000" cy="2743200"/>
          </p:xfrm>
          <a:graphic>
            <a:graphicData uri="http://schemas.openxmlformats.org/drawingml/2006/table">
              <a:tbl>
                <a:tblPr/>
                <a:tblGrid>
                  <a:gridCol w="233172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5156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</a:tblGrid>
                <a:tr h="274320"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Region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Residues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helix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strand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coil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dis.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N-terminal IDR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1-48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Central IDR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 dirty="0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72-142</a:t>
                        </a:r>
                        <a:endParaRPr lang="en-US" sz="9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21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79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85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C-terminal IDR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199-222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46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KEN box (APC/C)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88-90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MAPK docking (ERK2)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77-84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SPOP degron 1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122-126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FGF motif (PDS5)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166-168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PLK1 motif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201-207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Sororin domain</a:t>
                        </a:r>
                        <a:endParaRPr lang="en-US" sz="9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230-252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13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17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722C7F3-63D2-BB09-5532-8366BB652B30}"/>
              </a:ext>
            </a:extLst>
          </p:cNvPr>
          <p:cNvGrpSpPr/>
          <p:nvPr/>
        </p:nvGrpSpPr>
        <p:grpSpPr>
          <a:xfrm>
            <a:off x="7315200" y="3246120"/>
            <a:ext cx="4571640" cy="2459700"/>
            <a:chOff x="7315200" y="3246120"/>
            <a:chExt cx="4571640" cy="2459700"/>
          </a:xfrm>
        </p:grpSpPr>
        <p:sp>
          <p:nvSpPr>
            <p:cNvPr id="16" name="Text 7"/>
            <p:cNvSpPr/>
            <p:nvPr/>
          </p:nvSpPr>
          <p:spPr>
            <a:xfrm>
              <a:off x="7315200" y="3246120"/>
              <a:ext cx="4571640" cy="23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00" b="1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What PSIPRED labels — helix / strand / coil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" name="Image 0" descr="/tmp/helix_illus.png"/>
            <p:cNvPicPr>
              <a:picLocks noChangeAspect="1"/>
            </p:cNvPicPr>
            <p:nvPr/>
          </p:nvPicPr>
          <p:blipFill>
            <a:blip r:embed="rId2"/>
            <a:stretch/>
          </p:blipFill>
          <p:spPr>
            <a:xfrm>
              <a:off x="7945026" y="3547440"/>
              <a:ext cx="3487661" cy="2035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" name="Text 8"/>
            <p:cNvSpPr/>
            <p:nvPr/>
          </p:nvSpPr>
          <p:spPr>
            <a:xfrm>
              <a:off x="7945025" y="5583000"/>
              <a:ext cx="3487661" cy="1228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70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Illustration: Molecules 2024, DOI 10.3390/molecules30010128</a:t>
              </a:r>
              <a:endParaRPr lang="en-US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Text 9"/>
          <p:cNvSpPr/>
          <p:nvPr/>
        </p:nvSpPr>
        <p:spPr>
          <a:xfrm>
            <a:off x="7577328" y="5803896"/>
            <a:ext cx="4059936" cy="770784"/>
          </a:xfrm>
          <a:prstGeom prst="roundRect">
            <a:avLst>
              <a:gd name="adj" fmla="val 5556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B8760A"/>
                </a:solidFill>
                <a:effectLst/>
                <a:uFillTx/>
                <a:latin typeface="Calibri"/>
                <a:ea typeface="Calibri"/>
              </a:rPr>
              <a:t>coil ≠ disordered.  </a:t>
            </a: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“Coil” only means not helix/strand — a coil can still be ordered. Two different axes (shape vs. disorder) agreeing is what makes the result method-independent. Telling exception: the </a:t>
            </a:r>
            <a:r>
              <a:rPr lang="en-US" sz="900" b="1" u="none" strike="noStrike" dirty="0">
                <a:solidFill>
                  <a:srgbClr val="B23A1E"/>
                </a:solidFill>
                <a:effectLst/>
                <a:uFillTx/>
                <a:latin typeface="Calibri"/>
                <a:ea typeface="Calibri"/>
              </a:rPr>
              <a:t>FGF motif is 100% coil yet 0% disorder</a:t>
            </a: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— a local ordered dip (a SLiM).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 animBg="1"/>
      <p:bldP spid="13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Words>2860</Words>
  <Application>Microsoft Office PowerPoint</Application>
  <PresentationFormat>Custom</PresentationFormat>
  <Paragraphs>338</Paragraphs>
  <Slides>13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59</cp:revision>
  <dcterms:created xsi:type="dcterms:W3CDTF">2026-07-24T12:17:33Z</dcterms:created>
  <dcterms:modified xsi:type="dcterms:W3CDTF">2026-07-25T19:42:36Z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