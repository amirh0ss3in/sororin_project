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1" r:id="rId6"/>
    <p:sldId id="264" r:id="rId7"/>
    <p:sldId id="260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62" r:id="rId16"/>
    <p:sldId id="263" r:id="rId17"/>
    <p:sldId id="272" r:id="rId18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8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34123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wmf"/><Relationship Id="rId4" Type="http://schemas.openxmlformats.org/officeDocument/2006/relationships/oleObject" Target="../embeddings/oleObject1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554660"/>
            <a:ext cx="8503560" cy="173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Author"/>
          <p:cNvSpPr/>
          <p:nvPr/>
        </p:nvSpPr>
        <p:spPr>
          <a:xfrm>
            <a:off x="749880" y="4995000"/>
            <a:ext cx="8229240" cy="9535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2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Amirhossein Rezaei</a:t>
            </a:r>
          </a:p>
          <a:p>
            <a:pPr defTabSz="914400">
              <a:lnSpc>
                <a:spcPct val="102000"/>
              </a:lnSpc>
            </a:pPr>
            <a:r>
              <a:rPr lang="en-US" sz="1300" b="0" dirty="0">
                <a:solidFill>
                  <a:srgbClr val="9FB0D8"/>
                </a:solidFill>
                <a:latin typeface="Calibri"/>
              </a:rPr>
              <a:t>University of Padova</a:t>
            </a:r>
          </a:p>
          <a:p>
            <a:pPr defTabSz="914400">
              <a:lnSpc>
                <a:spcPct val="102000"/>
              </a:lnSpc>
            </a:pPr>
            <a:endParaRPr lang="en-US" sz="1300" dirty="0">
              <a:solidFill>
                <a:srgbClr val="9FB0D8"/>
              </a:solidFill>
              <a:latin typeface="Calibri"/>
            </a:endParaRPr>
          </a:p>
          <a:p>
            <a:pPr>
              <a:lnSpc>
                <a:spcPct val="102000"/>
              </a:lnSpc>
            </a:pPr>
            <a:r>
              <a:rPr lang="en-US" sz="1300" dirty="0">
                <a:solidFill>
                  <a:schemeClr val="bg2">
                    <a:lumMod val="75000"/>
                  </a:schemeClr>
                </a:solidFill>
              </a:rPr>
              <a:t>https://amirh0ss3in.github.io/</a:t>
            </a:r>
            <a:endParaRPr lang="en-US" sz="1300" b="0" dirty="0">
              <a:solidFill>
                <a:schemeClr val="bg2">
                  <a:lumMod val="75000"/>
                </a:schemeClr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4631732" y="5077073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4624156" y="2384365"/>
            <a:ext cx="1709436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6711812" y="3354007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7710268" y="2864393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7664548" y="2178593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7664548" y="3092993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9447268" y="1685494"/>
            <a:ext cx="2322756" cy="1048466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9447268" y="3623798"/>
            <a:ext cx="2322756" cy="114540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5458666" y="5773720"/>
            <a:ext cx="5614532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5637212" y="1332353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1" name="Picture 40">
            <a:extLst>
              <a:ext uri="{FF2B5EF4-FFF2-40B4-BE49-F238E27FC236}">
                <a16:creationId xmlns:a16="http://schemas.microsoft.com/office/drawing/2014/main" id="{DB4DA2CB-158D-27A3-FA9E-17E9EE3706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137" y="1478760"/>
            <a:ext cx="4311445" cy="386661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3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(extra slides)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≈  Σ over pairs 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of  M(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· cₐ · 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c_b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to fold are predicted disordered (high score). It is a mean-field energy estimate from sequence — the physics-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flavoured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part.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by binding a generic globular partner? If yes, it is flagged as a disordered binding region.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</a:t>
            </a:r>
            <a:r>
              <a:rPr lang="en-US" sz="105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to bind  →  binding-competent disorder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build="allAtOnce" animBg="1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three more methods, one architecture (the disorder is not an artifact of analysis method)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— our §3.2 baseline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044880" y="1042560"/>
            <a:ext cx="456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2.4%</a:t>
            </a:r>
            <a:endParaRPr lang="en-US" sz="7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204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2nd disorder predictor — different algorithm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6400800" y="676800"/>
            <a:ext cx="2651400" cy="1517400"/>
          </a:xfrm>
          <a:prstGeom prst="roundRect">
            <a:avLst>
              <a:gd name="adj" fmla="val 361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uses an evolutionary profile (MSA)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· 3.2%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9235440" y="676800"/>
            <a:ext cx="2834280" cy="1517400"/>
          </a:xfrm>
          <a:prstGeom prst="roundRect">
            <a:avLst>
              <a:gd name="adj" fmla="val 3614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single sequence only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58.3%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34.9% helix · 6.7%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2267640"/>
            <a:ext cx="11548440" cy="731160"/>
          </a:xfrm>
          <a:prstGeom prst="roundRect">
            <a:avLst>
              <a:gd name="adj" fmla="val 625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four converge on one ordered element  → 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(230–252).  PSIPRED 70% helix (83% H/E) · </a:t>
            </a:r>
            <a:r>
              <a:rPr lang="en-US" sz="115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83% helix, only 4% coil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(its longest helix, 223–248, is that domain) · DISOPRED3 0% disordered.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A8B2A9-4C6F-F59F-0583-2ADEA545C955}"/>
              </a:ext>
            </a:extLst>
          </p:cNvPr>
          <p:cNvGrpSpPr/>
          <p:nvPr/>
        </p:nvGrpSpPr>
        <p:grpSpPr>
          <a:xfrm>
            <a:off x="320040" y="3090600"/>
            <a:ext cx="6857640" cy="2815560"/>
            <a:chOff x="320040" y="3090600"/>
            <a:chExt cx="6857640" cy="2815560"/>
          </a:xfrm>
        </p:grpSpPr>
        <p:sp>
          <p:nvSpPr>
            <p:cNvPr id="15" name="Text 7"/>
            <p:cNvSpPr/>
            <p:nvPr/>
          </p:nvSpPr>
          <p:spPr>
            <a:xfrm>
              <a:off x="320040" y="3090600"/>
              <a:ext cx="6857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Per region — PSIPRED vs GOR IV, with DISOPRED3 disorder (Table 6)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6" name="Table 0"/>
            <p:cNvGraphicFramePr/>
            <p:nvPr>
              <p:extLst>
                <p:ext uri="{D42A27DB-BD31-4B8C-83A1-F6EECF244321}">
                  <p14:modId xmlns:p14="http://schemas.microsoft.com/office/powerpoint/2010/main" val="1981232886"/>
                </p:ext>
              </p:extLst>
            </p:nvPr>
          </p:nvGraphicFramePr>
          <p:xfrm>
            <a:off x="320040" y="3346560"/>
            <a:ext cx="6856200" cy="2559600"/>
          </p:xfrm>
          <a:graphic>
            <a:graphicData uri="http://schemas.openxmlformats.org/drawingml/2006/table">
              <a:tbl>
                <a:tblPr/>
                <a:tblGrid>
                  <a:gridCol w="197496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324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7678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</a:tblGrid>
                <a:tr h="25596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1–48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72–142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58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199–222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88–90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77–84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122–126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166–168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201–207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230–252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83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6290E6F-C28D-33A1-7399-BD27A5D162AC}"/>
              </a:ext>
            </a:extLst>
          </p:cNvPr>
          <p:cNvGrpSpPr/>
          <p:nvPr/>
        </p:nvGrpSpPr>
        <p:grpSpPr>
          <a:xfrm>
            <a:off x="7296840" y="3524580"/>
            <a:ext cx="4571640" cy="2203560"/>
            <a:chOff x="7315200" y="3090600"/>
            <a:chExt cx="4571640" cy="2203560"/>
          </a:xfrm>
        </p:grpSpPr>
        <p:sp>
          <p:nvSpPr>
            <p:cNvPr id="17" name="Text 8"/>
            <p:cNvSpPr/>
            <p:nvPr/>
          </p:nvSpPr>
          <p:spPr>
            <a:xfrm>
              <a:off x="7315200" y="3090600"/>
              <a:ext cx="4571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they label — helix / strand / coil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" name="Image 0" descr="/tmp/helix_illus.png"/>
            <p:cNvPicPr/>
            <p:nvPr/>
          </p:nvPicPr>
          <p:blipFill>
            <a:blip r:embed="rId2"/>
            <a:stretch/>
          </p:blipFill>
          <p:spPr>
            <a:xfrm>
              <a:off x="8092440" y="3328560"/>
              <a:ext cx="3108600" cy="1810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 9"/>
            <p:cNvSpPr/>
            <p:nvPr/>
          </p:nvSpPr>
          <p:spPr>
            <a:xfrm>
              <a:off x="7315200" y="5157360"/>
              <a:ext cx="4571640" cy="13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6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6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Conclusion: Sororin is a fuzzy cohesin hub — a switchboard built on disorder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20040" y="65844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 dirty="0">
                <a:solidFill>
                  <a:srgbClr val="D6E3EE"/>
                </a:solidFill>
                <a:effectLst/>
                <a:uFillTx/>
                <a:latin typeface="Calibri"/>
                <a:ea typeface="Calibri"/>
              </a:rPr>
              <a:t>Does Sororin engage its partners through folded domains or through disorder?   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 It is built on disorder.  </a:t>
            </a: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Where a partner-specific claim can be made at all, it is a short linear motif embedded in that disorder — not disorder in the abstract — that explains the edge.</a:t>
            </a:r>
            <a:endParaRPr lang="en-US" sz="12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2004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Result 1 · Network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small, high-confidence hub of a dense </a:t>
            </a:r>
            <a:r>
              <a:rPr lang="en-US" sz="10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cohesin</a:t>
            </a: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module (density 0.89) — and itself ~62% intrinsically disordered.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324612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BEAD9"/>
          </a:solidFill>
          <a:ln w="19050">
            <a:solidFill>
              <a:srgbClr val="C06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C0601F"/>
                </a:solidFill>
                <a:effectLst/>
                <a:uFillTx/>
                <a:latin typeface="Calibri"/>
                <a:ea typeface="Calibri"/>
              </a:rPr>
              <a:t>Result 2 · Disorder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APC/C (KEN), PDS5 (FGF) and ERK2 (Ser209) determinants all sit in disordered segments; only the short C-terminal domain is folded.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17220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Result 3 · </a:t>
            </a:r>
            <a:r>
              <a:rPr lang="en-US" sz="11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Phospho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Seven proline-directed phospho-sites lie outside the folded domain — in the disordered regions and linker flanking those determinants.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09828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§3.4 · Linear motifs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ELM anchors 4 of 5 partners (APC/C, SPOP, ERK2, PLK1) to a specific short motif — predominantly, not exclusively, within disorder.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320040" y="3877200"/>
            <a:ext cx="11548440" cy="1371240"/>
          </a:xfrm>
          <a:prstGeom prst="roundRect">
            <a:avLst>
              <a:gd name="adj" fmla="val 333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model — a fuzzy Cohesin hub.  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mostly disordered chain displays a set of short linear motifs (KEN degron · FGF motif · two SPOP degrons · MAPK docking) interleaved with proline-directed phospho-sites, so kinases and ubiquitin ligases switch individual contacts on and off 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without re</a:t>
            </a:r>
            <a:r>
              <a:rPr lang="en-US" sz="1200" b="1" dirty="0">
                <a:solidFill>
                  <a:srgbClr val="2C3E50"/>
                </a:solidFill>
                <a:latin typeface="Calibri"/>
                <a:ea typeface="Calibri"/>
              </a:rPr>
              <a:t>-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modelling a folded core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The disorder is what makes Sororin an efficient, multiply-regulated switchboard for 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20040" y="5440680"/>
            <a:ext cx="115484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Consistent with known biology: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Cdk1/Aurora B release Sororin from PDS5 and activate WAPL (Nishiyama 2013);  the PDS5B–FGF contact is a short linear motif (Ouyang 2016);  the C-terminal domain is required for cohesion (Wu 2011).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build="allAtOnce" animBg="1"/>
      <p:bldP spid="13" grpId="0" build="allAtOnce" animBg="1"/>
      <p:bldP spid="14" grpId="0" build="allAtOnce" animBg="1"/>
      <p:bldP spid="15" grpId="0" build="allAtOnce" animBg="1"/>
      <p:bldP spid="16" grpId="0" animBg="1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3716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Future directions — testing the predictions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07031" y="660173"/>
            <a:ext cx="11548440" cy="351333"/>
          </a:xfrm>
          <a:prstGeom prst="roundRect">
            <a:avLst>
              <a:gd name="adj" fmla="val 500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 — everything here is a prediction.  </a:t>
            </a:r>
            <a:r>
              <a:rPr lang="en-US" sz="13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natural next step is to test those predictions in the lab, rather than only predicting them.</a:t>
            </a:r>
            <a:endParaRPr lang="en-US" sz="13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39" y="1142668"/>
            <a:ext cx="3140915" cy="5197172"/>
          </a:xfrm>
          <a:prstGeom prst="roundRect">
            <a:avLst>
              <a:gd name="adj" fmla="val 1493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See it directly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Solve the real 3-D structure of Sororin bound to its partner PDS5, to confirm with your own eyes that it stays disordered when it binds — instead of only predicting it.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49445" y="1142668"/>
            <a:ext cx="5063613" cy="5197172"/>
          </a:xfrm>
          <a:prstGeom prst="roundRect">
            <a:avLst>
              <a:gd name="adj" fmla="val 14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2 · Test the new binding sites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Low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predicted SPOP sites (residues 122–126 and 155–159) are the novel finding. Break them by mutation and check whether Sororin then survives longer — if it does, the sites are real.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727566" y="1142668"/>
            <a:ext cx="3140914" cy="5200122"/>
          </a:xfrm>
          <a:prstGeom prst="roundRect">
            <a:avLst>
              <a:gd name="adj" fmla="val 14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3 · Back the predictions up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Apart from the KEN box, the motifs found here are predictions, not confirmed results — they remain hypotheses still to be tested experimentally.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6473952"/>
            <a:ext cx="11548440" cy="246888"/>
          </a:xfrm>
          <a:prstGeom prst="roundRect">
            <a:avLst>
              <a:gd name="adj" fmla="val 5882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In one sentence: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study is computational, so the honest next step is experimental confirmation of what it predicts.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A6D024-7B1D-3A68-A427-AB791000971D}"/>
              </a:ext>
            </a:extLst>
          </p:cNvPr>
          <p:cNvGrpSpPr/>
          <p:nvPr/>
        </p:nvGrpSpPr>
        <p:grpSpPr>
          <a:xfrm>
            <a:off x="507179" y="2724685"/>
            <a:ext cx="2766633" cy="2822348"/>
            <a:chOff x="841117" y="3429000"/>
            <a:chExt cx="2766633" cy="2822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3A1B7D-83BB-047B-330B-A1D2FCED5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2059" y="3429000"/>
              <a:ext cx="1984641" cy="24530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F3CB91-6A71-065C-D91E-03596C9C49CF}"/>
                </a:ext>
              </a:extLst>
            </p:cNvPr>
            <p:cNvSpPr txBox="1"/>
            <p:nvPr/>
          </p:nvSpPr>
          <p:spPr>
            <a:xfrm>
              <a:off x="841117" y="5882016"/>
              <a:ext cx="2766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A 900 MHz Nuclear Magnetic Resonance instrument with a 21.1 T magnet at HWB-NMR, Birmingham, UK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B6C2DEC-1592-EF2F-8FB8-4ED921284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752" y="2320413"/>
            <a:ext cx="4536998" cy="36308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666895-1DA2-AF11-4157-E0F33107E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5387" y="2938619"/>
            <a:ext cx="2725271" cy="1945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BD6767-121B-42C2-6E4F-5888B01B8631}"/>
              </a:ext>
            </a:extLst>
          </p:cNvPr>
          <p:cNvSpPr txBox="1"/>
          <p:nvPr/>
        </p:nvSpPr>
        <p:spPr>
          <a:xfrm>
            <a:off x="5719566" y="3244334"/>
            <a:ext cx="74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252667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How this was done — the tool chain, and what each claim rests 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40080"/>
            <a:ext cx="11548440" cy="712800"/>
          </a:xfrm>
          <a:prstGeom prst="roundRect">
            <a:avLst>
              <a:gd name="adj" fmla="val 641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study.  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Everything comes from public databases and sequence-based prediction — no experiments were performed. So I separate below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curated data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prediction cross-checked by several methods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and what remains a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hypothesis to be tested.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40" y="148140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pipeline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200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UniProt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sequence, IDRs,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motifs, phospho-sites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28600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E3F2F4"/>
          </a:solidFill>
          <a:ln w="1778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STRING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+ Cytoscape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network, topology,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GO/KEGG enrichment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25196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BEFD6"/>
          </a:solidFill>
          <a:ln w="1778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IUPred2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+ ANCHOR2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per-residue disorder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&amp; binding regions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21792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1E7F3"/>
          </a:solidFill>
          <a:ln w="1778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ELM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short linear motifs,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filtered by partner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818388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GOR IV · PSIPRED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secondary structure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+ 2nd disorder check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01498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FuzPred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binding mode: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folds or stays fuzzy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03904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0500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97096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793692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990288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320040" y="307224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What each result rests 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32004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Curated data — not predicted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252-residue sequence, the annotated IDRs, the KEN box and FGF motif, the 13 phospho-sites, and the STRING confidence scores.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These come from UniProt/STRING and the primary literature — experimentally supported, not my inference.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25196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2 · Prediction — cross-checked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61.5% disordered (IUPred2), independently 63.9% (DISOPRED3).  One folded element, the C-terminal domain, recovered by PSIPRED and GOR IV alike.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Predictions — but reproduced by methods that work on different principles, so not an artifact of one tool.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18388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3 · Hypotheses — still to be tested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candidate SPOP degrons (122–126, 155–159), the MAPK docking motif (77–84) and the PLK1 site (201–207).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Sequence-based predictions with no experimental validation in Sororin. I label these “candidate” throughout.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320040" y="5779080"/>
            <a:ext cx="11548440" cy="566640"/>
          </a:xfrm>
          <a:prstGeom prst="roundRect">
            <a:avLst>
              <a:gd name="adj" fmla="val 8065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one motif that is both predicted and already validated is the KEN box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— ELM re-found it independently, which is what gives confidence in the rest of the screen.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3656</Words>
  <Application>Microsoft Office PowerPoint</Application>
  <PresentationFormat>Custom</PresentationFormat>
  <Paragraphs>438</Paragraphs>
  <Slides>17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80</cp:revision>
  <dcterms:created xsi:type="dcterms:W3CDTF">2026-07-24T12:17:33Z</dcterms:created>
  <dcterms:modified xsi:type="dcterms:W3CDTF">2026-07-27T12:41:54Z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