
<file path=[Content_Types].xml><?xml version="1.0" encoding="utf-8"?>
<Types xmlns="http://schemas.openxmlformats.org/package/2006/content-types">
  <Default Extension="bin" ContentType="application/vnd.openxmlformats-officedocument.oleObject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4" r:id="rId9"/>
    <p:sldId id="260" r:id="rId10"/>
    <p:sldId id="265" r:id="rId11"/>
    <p:sldId id="266" r:id="rId12"/>
    <p:sldId id="267" r:id="rId13"/>
    <p:sldId id="268" r:id="rId14"/>
    <p:sldId id="269" r:id="rId15"/>
    <p:sldId id="270" r:id="rId16"/>
  </p:sldIdLst>
  <p:sldSz cx="12188825" cy="6858000"/>
  <p:notesSz cx="6858000" cy="12188825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389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ED1FE1BC-EA02-44F1-8101-5AC578654424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3C03EB6C-B8A1-4EB8-A8AF-B11F07E4CF2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E6EDF5A-A12A-48B9-86FB-6F1EA0273D0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6B686CE0-4F00-4C38-AD55-CC235F7477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D793C1F8-4F2E-4897-B279-CE7531E03D0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1F30D3AF-C09A-44A7-B29E-A9AE035C13C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9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217488" y="812800"/>
            <a:ext cx="7124700" cy="4008438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3"/>
          </p:nvPr>
        </p:nvSpPr>
        <p:spPr/>
        <p:txBody>
          <a:bodyPr/>
          <a:lstStyle/>
          <a:p>
            <a:pPr indent="0" algn="r">
              <a:buNone/>
            </a:pPr>
            <a:fld id="{ED1FE1BC-EA02-44F1-8101-5AC578654424}" type="slidenum">
              <a:rPr lang="en-US" sz="1400" b="0" u="none" strike="noStrike" smtClean="0">
                <a:solidFill>
                  <a:srgbClr val="000000"/>
                </a:solidFill>
                <a:effectLst/>
                <a:uFillTx/>
                <a:latin typeface="Times New Roman"/>
              </a:rPr>
              <a:t>11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1900299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wmf"/><Relationship Id="rId4" Type="http://schemas.openxmlformats.org/officeDocument/2006/relationships/oleObject" Target="../embeddings/oleObject1.bin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jp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 0" descr="/tmp/assets/af_crop.png"/>
          <p:cNvPicPr/>
          <p:nvPr/>
        </p:nvPicPr>
        <p:blipFill>
          <a:blip r:embed="rId3"/>
          <a:stretch/>
        </p:blipFill>
        <p:spPr>
          <a:xfrm>
            <a:off x="9119880" y="1554660"/>
            <a:ext cx="27669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" name="Text 0"/>
          <p:cNvSpPr/>
          <p:nvPr/>
        </p:nvSpPr>
        <p:spPr>
          <a:xfrm>
            <a:off x="731520" y="1554660"/>
            <a:ext cx="8503560" cy="17368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 dirty="0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How Sororin controls sister-chromatid cohesion</a:t>
            </a:r>
            <a:endParaRPr lang="en-US" sz="36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1"/>
          <p:cNvSpPr/>
          <p:nvPr/>
        </p:nvSpPr>
        <p:spPr>
          <a:xfrm>
            <a:off x="749880" y="3383280"/>
            <a:ext cx="82292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i="1" u="none" strike="noStrike">
                <a:solidFill>
                  <a:srgbClr val="CADCFC"/>
                </a:solidFill>
                <a:effectLst/>
                <a:uFillTx/>
                <a:latin typeface="Calibri"/>
                <a:ea typeface="Calibri"/>
              </a:rPr>
              <a:t>A floppy (intrinsically disordered) protein switched on and off by phosphate tags and degrons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749880" y="4297680"/>
            <a:ext cx="822924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Sororin (CDCA5)  •  UniProt Q96FF9  •  252 residues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3"/>
          <p:cNvSpPr/>
          <p:nvPr/>
        </p:nvSpPr>
        <p:spPr>
          <a:xfrm>
            <a:off x="8949060" y="5395140"/>
            <a:ext cx="31086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9FB0D8"/>
                </a:solidFill>
                <a:effectLst/>
                <a:uFillTx/>
                <a:latin typeface="Calibri"/>
                <a:ea typeface="Calibri"/>
              </a:rPr>
              <a:t> AlphaFold model: mostly extended, unfolded chain</a:t>
            </a:r>
            <a:endParaRPr lang="en-US" sz="10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" name="Author"/>
          <p:cNvSpPr/>
          <p:nvPr/>
        </p:nvSpPr>
        <p:spPr>
          <a:xfrm>
            <a:off x="749880" y="4995000"/>
            <a:ext cx="8229240" cy="95351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2000"/>
              </a:lnSpc>
            </a:pPr>
            <a:r>
              <a:rPr lang="en-US" sz="1600" b="1" dirty="0">
                <a:solidFill>
                  <a:srgbClr val="FFFFFF"/>
                </a:solidFill>
                <a:latin typeface="Calibri"/>
              </a:rPr>
              <a:t>Amirhossein Rezaei</a:t>
            </a:r>
          </a:p>
          <a:p>
            <a:pPr defTabSz="914400">
              <a:lnSpc>
                <a:spcPct val="102000"/>
              </a:lnSpc>
            </a:pPr>
            <a:r>
              <a:rPr lang="en-US" sz="1300" b="0" dirty="0">
                <a:solidFill>
                  <a:srgbClr val="9FB0D8"/>
                </a:solidFill>
                <a:latin typeface="Calibri"/>
              </a:rPr>
              <a:t>University of Padova</a:t>
            </a:r>
          </a:p>
          <a:p>
            <a:pPr defTabSz="914400">
              <a:lnSpc>
                <a:spcPct val="102000"/>
              </a:lnSpc>
            </a:pPr>
            <a:endParaRPr lang="en-US" sz="1300" dirty="0">
              <a:solidFill>
                <a:srgbClr val="9FB0D8"/>
              </a:solidFill>
              <a:latin typeface="Calibri"/>
            </a:endParaRPr>
          </a:p>
          <a:p>
            <a:pPr>
              <a:lnSpc>
                <a:spcPct val="102000"/>
              </a:lnSpc>
            </a:pPr>
            <a:r>
              <a:rPr lang="en-US" sz="1300" dirty="0">
                <a:solidFill>
                  <a:schemeClr val="bg2">
                    <a:lumMod val="75000"/>
                  </a:schemeClr>
                </a:solidFill>
              </a:rPr>
              <a:t>https://amirh0ss3in.github.io/</a:t>
            </a:r>
            <a:endParaRPr lang="en-US" sz="1300" b="0" dirty="0">
              <a:solidFill>
                <a:schemeClr val="bg2">
                  <a:lumMod val="75000"/>
                </a:schemeClr>
              </a:solidFill>
              <a:latin typeface="Calibri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setup: a competition for the PDS5 seat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5"/>
          <p:cNvSpPr/>
          <p:nvPr/>
        </p:nvSpPr>
        <p:spPr>
          <a:xfrm>
            <a:off x="1455102" y="5214724"/>
            <a:ext cx="1462680" cy="548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2 sister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chromatids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53FAB1EF-1C19-0989-E8CE-01132739EC81}"/>
              </a:ext>
            </a:extLst>
          </p:cNvPr>
          <p:cNvGrpSpPr/>
          <p:nvPr/>
        </p:nvGrpSpPr>
        <p:grpSpPr>
          <a:xfrm>
            <a:off x="683513" y="3010368"/>
            <a:ext cx="2080678" cy="539170"/>
            <a:chOff x="364666" y="3017700"/>
            <a:chExt cx="2080678" cy="539170"/>
          </a:xfrm>
        </p:grpSpPr>
        <p:sp>
          <p:nvSpPr>
            <p:cNvPr id="19" name="Text 4"/>
            <p:cNvSpPr/>
            <p:nvPr/>
          </p:nvSpPr>
          <p:spPr>
            <a:xfrm>
              <a:off x="616593" y="3017700"/>
              <a:ext cx="1569778" cy="31968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1" dirty="0">
                  <a:solidFill>
                    <a:srgbClr val="2166AC"/>
                  </a:solidFill>
                  <a:latin typeface="Calibri"/>
                  <a:ea typeface="Calibri"/>
                </a:rPr>
                <a:t>C</a:t>
              </a:r>
              <a:r>
                <a:rPr lang="en-US" sz="1200" b="1" u="none" strike="noStrike" dirty="0">
                  <a:solidFill>
                    <a:srgbClr val="2166AC"/>
                  </a:solidFill>
                  <a:effectLst/>
                  <a:uFillTx/>
                  <a:latin typeface="Calibri"/>
                  <a:ea typeface="Calibri"/>
                </a:rPr>
                <a:t>ohesin ring</a:t>
              </a:r>
              <a:endParaRPr lang="en-US" sz="12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21" name="Text 6"/>
            <p:cNvSpPr/>
            <p:nvPr/>
          </p:nvSpPr>
          <p:spPr>
            <a:xfrm>
              <a:off x="364666" y="3282910"/>
              <a:ext cx="2080678" cy="2739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950" b="0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SMC1A · SMC3 · RAD21 · STAG1/2</a:t>
              </a:r>
              <a:endParaRPr lang="en-US" sz="9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24" name="Text 9"/>
          <p:cNvSpPr/>
          <p:nvPr/>
        </p:nvSpPr>
        <p:spPr>
          <a:xfrm>
            <a:off x="3535182" y="3491658"/>
            <a:ext cx="155412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the docking 'seat'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Text 10"/>
          <p:cNvSpPr/>
          <p:nvPr/>
        </p:nvSpPr>
        <p:spPr>
          <a:xfrm>
            <a:off x="4533638" y="3002044"/>
            <a:ext cx="173700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compete for the seat</a:t>
            </a:r>
            <a:endParaRPr lang="en-US" sz="11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a_arrG"/>
          <p:cNvSpPr/>
          <p:nvPr/>
        </p:nvSpPr>
        <p:spPr>
          <a:xfrm flipV="1">
            <a:off x="4487918" y="2316244"/>
            <a:ext cx="1737360" cy="914400"/>
          </a:xfrm>
          <a:prstGeom prst="line">
            <a:avLst/>
          </a:prstGeom>
          <a:ln w="25400">
            <a:solidFill>
              <a:srgbClr val="1A7A34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a_arrRd"/>
          <p:cNvSpPr/>
          <p:nvPr/>
        </p:nvSpPr>
        <p:spPr>
          <a:xfrm>
            <a:off x="4487918" y="3230644"/>
            <a:ext cx="1737360" cy="914400"/>
          </a:xfrm>
          <a:prstGeom prst="line">
            <a:avLst/>
          </a:prstGeom>
          <a:ln w="25400">
            <a:solidFill>
              <a:srgbClr val="B2182B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a_sororin"/>
          <p:cNvSpPr/>
          <p:nvPr/>
        </p:nvSpPr>
        <p:spPr>
          <a:xfrm>
            <a:off x="6362438" y="167616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 — the lock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grabs PDS5 via its FGF motif (aa 166–168) → blocks WAPL → ring stays CLOSED → cohesion protected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a_wapl"/>
          <p:cNvSpPr/>
          <p:nvPr/>
        </p:nvSpPr>
        <p:spPr>
          <a:xfrm>
            <a:off x="6362438" y="3459244"/>
            <a:ext cx="4663080" cy="1371240"/>
          </a:xfrm>
          <a:prstGeom prst="roundRect">
            <a:avLst>
              <a:gd name="adj" fmla="val 4000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WAPL  — the release factor</a:t>
            </a:r>
            <a:endParaRPr lang="en-US" sz="14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when Sororin is switched off, WAPL takes the seat → opens the ring → </a:t>
            </a:r>
            <a:r>
              <a:rPr lang="en-US" sz="1200" dirty="0">
                <a:solidFill>
                  <a:srgbClr val="7B1616"/>
                </a:solidFill>
                <a:latin typeface="Calibri"/>
              </a:rPr>
              <a:t>C</a:t>
            </a:r>
            <a:r>
              <a:rPr lang="en-US" sz="1200" b="0" strike="noStrike" dirty="0">
                <a:solidFill>
                  <a:srgbClr val="7B1616"/>
                </a:solidFill>
                <a:effectLst/>
                <a:uFillTx/>
                <a:latin typeface="Calibri"/>
              </a:rPr>
              <a:t>ohesin falls off → sisters can separate</a:t>
            </a:r>
            <a:endParaRPr lang="en-US" sz="1200" b="0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15"/>
          <p:cNvSpPr/>
          <p:nvPr/>
        </p:nvSpPr>
        <p:spPr>
          <a:xfrm>
            <a:off x="1097280" y="5989320"/>
            <a:ext cx="106066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Whoever wins the PDS5 seat decides: Sororin on = glued;  WAPL on = released.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370A15-82E0-0A4A-F593-15E6E3A240CA}"/>
              </a:ext>
            </a:extLst>
          </p:cNvPr>
          <p:cNvGrpSpPr/>
          <p:nvPr/>
        </p:nvGrpSpPr>
        <p:grpSpPr>
          <a:xfrm>
            <a:off x="2460582" y="1470004"/>
            <a:ext cx="2215750" cy="3835980"/>
            <a:chOff x="2460582" y="1470004"/>
            <a:chExt cx="2215750" cy="3835980"/>
          </a:xfrm>
        </p:grpSpPr>
        <p:sp>
          <p:nvSpPr>
            <p:cNvPr id="4" name="Block Arc 3">
              <a:extLst>
                <a:ext uri="{FF2B5EF4-FFF2-40B4-BE49-F238E27FC236}">
                  <a16:creationId xmlns:a16="http://schemas.microsoft.com/office/drawing/2014/main" id="{440F22A2-2C24-C862-E220-79561A526FF9}"/>
                </a:ext>
              </a:extLst>
            </p:cNvPr>
            <p:cNvSpPr/>
            <p:nvPr/>
          </p:nvSpPr>
          <p:spPr>
            <a:xfrm>
              <a:off x="2557256" y="2883366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18" name="Shape 3"/>
            <p:cNvSpPr/>
            <p:nvPr/>
          </p:nvSpPr>
          <p:spPr>
            <a:xfrm>
              <a:off x="3451642" y="1470004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A22F9B4A-359C-EA97-64C9-CE13763C264E}"/>
                </a:ext>
              </a:extLst>
            </p:cNvPr>
            <p:cNvGrpSpPr/>
            <p:nvPr/>
          </p:nvGrpSpPr>
          <p:grpSpPr>
            <a:xfrm>
              <a:off x="3762292" y="2948940"/>
              <a:ext cx="914040" cy="550961"/>
              <a:chOff x="4149007" y="2971620"/>
              <a:chExt cx="914040" cy="550961"/>
            </a:xfrm>
          </p:grpSpPr>
          <p:sp>
            <p:nvSpPr>
              <p:cNvPr id="22" name="Shape 7"/>
              <p:cNvSpPr>
                <a:spLocks noChangeAspect="1"/>
              </p:cNvSpPr>
              <p:nvPr/>
            </p:nvSpPr>
            <p:spPr>
              <a:xfrm>
                <a:off x="4335563" y="2973941"/>
                <a:ext cx="548640" cy="548640"/>
              </a:xfrm>
              <a:prstGeom prst="ellipse">
                <a:avLst/>
              </a:prstGeom>
              <a:solidFill>
                <a:srgbClr val="5A6B7B"/>
              </a:solidFill>
              <a:ln w="12700">
                <a:solidFill>
                  <a:srgbClr val="2C3E50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t">
                <a:noAutofit/>
              </a:bodyPr>
              <a:lstStyle/>
              <a:p>
                <a:endParaRPr lang="en-US" sz="1800" b="0" strike="noStrike">
                  <a:solidFill>
                    <a:srgbClr val="FFFFFF"/>
                  </a:solidFill>
                  <a:effectLst/>
                  <a:uFillTx/>
                  <a:latin typeface="Arial"/>
                </a:endParaRPr>
              </a:p>
            </p:txBody>
          </p:sp>
          <p:sp>
            <p:nvSpPr>
              <p:cNvPr id="23" name="Text 8"/>
              <p:cNvSpPr/>
              <p:nvPr/>
            </p:nvSpPr>
            <p:spPr>
              <a:xfrm>
                <a:off x="4149007" y="2971620"/>
                <a:ext cx="914040" cy="502560"/>
              </a:xfrm>
              <a:prstGeom prst="rect">
                <a:avLst/>
              </a:prstGeom>
              <a:noFill/>
              <a:ln w="0">
                <a:noFill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90000" tIns="45000" rIns="90000" bIns="45000" anchor="ctr">
                <a:noAutofit/>
              </a:bodyPr>
              <a:lstStyle/>
              <a:p>
                <a:pPr algn="ctr"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100" b="1" i="1" strike="noStrike" dirty="0">
                    <a:solidFill>
                      <a:srgbClr val="FFFFFF"/>
                    </a:solidFill>
                    <a:effectLst/>
                    <a:uFillTx/>
                    <a:latin typeface="Calibri"/>
                    <a:ea typeface="Calibri"/>
                  </a:rPr>
                  <a:t>PDS5</a:t>
                </a:r>
                <a:endParaRPr lang="en-US" sz="1100" b="0" i="1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p:grpSp>
        <p:sp>
          <p:nvSpPr>
            <p:cNvPr id="2" name="Shape 3">
              <a:extLst>
                <a:ext uri="{FF2B5EF4-FFF2-40B4-BE49-F238E27FC236}">
                  <a16:creationId xmlns:a16="http://schemas.microsoft.com/office/drawing/2014/main" id="{34649F7D-F99B-01BB-61CF-BBD0559AFB4F}"/>
                </a:ext>
              </a:extLst>
            </p:cNvPr>
            <p:cNvSpPr/>
            <p:nvPr/>
          </p:nvSpPr>
          <p:spPr>
            <a:xfrm flipH="1">
              <a:off x="2460582" y="1485897"/>
              <a:ext cx="814880" cy="3820087"/>
            </a:xfrm>
            <a:custGeom>
              <a:avLst/>
              <a:gdLst>
                <a:gd name="csX0" fmla="*/ 0 w 383760"/>
                <a:gd name="csY0" fmla="*/ 164468 h 2559960"/>
                <a:gd name="csX1" fmla="*/ 164468 w 383760"/>
                <a:gd name="csY1" fmla="*/ 0 h 2559960"/>
                <a:gd name="csX2" fmla="*/ 219292 w 383760"/>
                <a:gd name="csY2" fmla="*/ 0 h 2559960"/>
                <a:gd name="csX3" fmla="*/ 383760 w 383760"/>
                <a:gd name="csY3" fmla="*/ 164468 h 2559960"/>
                <a:gd name="csX4" fmla="*/ 383760 w 383760"/>
                <a:gd name="csY4" fmla="*/ 2395492 h 2559960"/>
                <a:gd name="csX5" fmla="*/ 219292 w 383760"/>
                <a:gd name="csY5" fmla="*/ 2559960 h 2559960"/>
                <a:gd name="csX6" fmla="*/ 164468 w 383760"/>
                <a:gd name="csY6" fmla="*/ 2559960 h 2559960"/>
                <a:gd name="csX7" fmla="*/ 0 w 383760"/>
                <a:gd name="csY7" fmla="*/ 2395492 h 2559960"/>
                <a:gd name="csX8" fmla="*/ 0 w 383760"/>
                <a:gd name="csY8" fmla="*/ 164468 h 2559960"/>
                <a:gd name="csX0" fmla="*/ 0 w 671979"/>
                <a:gd name="csY0" fmla="*/ 903608 h 3299100"/>
                <a:gd name="csX1" fmla="*/ 164468 w 671979"/>
                <a:gd name="csY1" fmla="*/ 73914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3608 h 3299100"/>
                <a:gd name="csX1" fmla="*/ 427358 w 671979"/>
                <a:gd name="csY1" fmla="*/ 57150 h 3299100"/>
                <a:gd name="csX2" fmla="*/ 657442 w 671979"/>
                <a:gd name="csY2" fmla="*/ 0 h 3299100"/>
                <a:gd name="csX3" fmla="*/ 383760 w 671979"/>
                <a:gd name="csY3" fmla="*/ 903608 h 3299100"/>
                <a:gd name="csX4" fmla="*/ 383760 w 671979"/>
                <a:gd name="csY4" fmla="*/ 3134632 h 3299100"/>
                <a:gd name="csX5" fmla="*/ 219292 w 671979"/>
                <a:gd name="csY5" fmla="*/ 3299100 h 3299100"/>
                <a:gd name="csX6" fmla="*/ 164468 w 671979"/>
                <a:gd name="csY6" fmla="*/ 3299100 h 3299100"/>
                <a:gd name="csX7" fmla="*/ 0 w 671979"/>
                <a:gd name="csY7" fmla="*/ 3134632 h 3299100"/>
                <a:gd name="csX8" fmla="*/ 0 w 671979"/>
                <a:gd name="csY8" fmla="*/ 903608 h 3299100"/>
                <a:gd name="csX0" fmla="*/ 0 w 671979"/>
                <a:gd name="csY0" fmla="*/ 904322 h 3299814"/>
                <a:gd name="csX1" fmla="*/ 427358 w 671979"/>
                <a:gd name="csY1" fmla="*/ 57864 h 3299814"/>
                <a:gd name="csX2" fmla="*/ 657442 w 671979"/>
                <a:gd name="csY2" fmla="*/ 714 h 3299814"/>
                <a:gd name="csX3" fmla="*/ 383760 w 671979"/>
                <a:gd name="csY3" fmla="*/ 904322 h 3299814"/>
                <a:gd name="csX4" fmla="*/ 383760 w 671979"/>
                <a:gd name="csY4" fmla="*/ 3135346 h 3299814"/>
                <a:gd name="csX5" fmla="*/ 219292 w 671979"/>
                <a:gd name="csY5" fmla="*/ 3299814 h 3299814"/>
                <a:gd name="csX6" fmla="*/ 164468 w 671979"/>
                <a:gd name="csY6" fmla="*/ 3299814 h 3299814"/>
                <a:gd name="csX7" fmla="*/ 0 w 671979"/>
                <a:gd name="csY7" fmla="*/ 3135346 h 3299814"/>
                <a:gd name="csX8" fmla="*/ 0 w 671979"/>
                <a:gd name="csY8" fmla="*/ 904322 h 3299814"/>
                <a:gd name="csX0" fmla="*/ 0 w 671979"/>
                <a:gd name="csY0" fmla="*/ 910357 h 3305849"/>
                <a:gd name="csX1" fmla="*/ 415928 w 671979"/>
                <a:gd name="csY1" fmla="*/ 44849 h 3305849"/>
                <a:gd name="csX2" fmla="*/ 657442 w 671979"/>
                <a:gd name="csY2" fmla="*/ 6749 h 3305849"/>
                <a:gd name="csX3" fmla="*/ 383760 w 671979"/>
                <a:gd name="csY3" fmla="*/ 910357 h 3305849"/>
                <a:gd name="csX4" fmla="*/ 383760 w 671979"/>
                <a:gd name="csY4" fmla="*/ 3141381 h 3305849"/>
                <a:gd name="csX5" fmla="*/ 219292 w 671979"/>
                <a:gd name="csY5" fmla="*/ 3305849 h 3305849"/>
                <a:gd name="csX6" fmla="*/ 164468 w 671979"/>
                <a:gd name="csY6" fmla="*/ 3305849 h 3305849"/>
                <a:gd name="csX7" fmla="*/ 0 w 671979"/>
                <a:gd name="csY7" fmla="*/ 3141381 h 3305849"/>
                <a:gd name="csX8" fmla="*/ 0 w 671979"/>
                <a:gd name="csY8" fmla="*/ 910357 h 3305849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1979"/>
                <a:gd name="csY0" fmla="*/ 909048 h 3304540"/>
                <a:gd name="csX1" fmla="*/ 415928 w 671979"/>
                <a:gd name="csY1" fmla="*/ 43540 h 3304540"/>
                <a:gd name="csX2" fmla="*/ 657442 w 671979"/>
                <a:gd name="csY2" fmla="*/ 5440 h 3304540"/>
                <a:gd name="csX3" fmla="*/ 383760 w 671979"/>
                <a:gd name="csY3" fmla="*/ 909048 h 3304540"/>
                <a:gd name="csX4" fmla="*/ 383760 w 671979"/>
                <a:gd name="csY4" fmla="*/ 3140072 h 3304540"/>
                <a:gd name="csX5" fmla="*/ 219292 w 671979"/>
                <a:gd name="csY5" fmla="*/ 3304540 h 3304540"/>
                <a:gd name="csX6" fmla="*/ 164468 w 671979"/>
                <a:gd name="csY6" fmla="*/ 3304540 h 3304540"/>
                <a:gd name="csX7" fmla="*/ 0 w 671979"/>
                <a:gd name="csY7" fmla="*/ 3140072 h 3304540"/>
                <a:gd name="csX8" fmla="*/ 0 w 671979"/>
                <a:gd name="csY8" fmla="*/ 909048 h 3304540"/>
                <a:gd name="csX0" fmla="*/ 0 w 679455"/>
                <a:gd name="csY0" fmla="*/ 909048 h 3304540"/>
                <a:gd name="csX1" fmla="*/ 415928 w 679455"/>
                <a:gd name="csY1" fmla="*/ 43540 h 3304540"/>
                <a:gd name="csX2" fmla="*/ 657442 w 679455"/>
                <a:gd name="csY2" fmla="*/ 5440 h 3304540"/>
                <a:gd name="csX3" fmla="*/ 383760 w 679455"/>
                <a:gd name="csY3" fmla="*/ 909048 h 3304540"/>
                <a:gd name="csX4" fmla="*/ 383760 w 679455"/>
                <a:gd name="csY4" fmla="*/ 3140072 h 3304540"/>
                <a:gd name="csX5" fmla="*/ 219292 w 679455"/>
                <a:gd name="csY5" fmla="*/ 3304540 h 3304540"/>
                <a:gd name="csX6" fmla="*/ 164468 w 679455"/>
                <a:gd name="csY6" fmla="*/ 3304540 h 3304540"/>
                <a:gd name="csX7" fmla="*/ 0 w 679455"/>
                <a:gd name="csY7" fmla="*/ 3140072 h 3304540"/>
                <a:gd name="csX8" fmla="*/ 0 w 679455"/>
                <a:gd name="csY8" fmla="*/ 909048 h 3304540"/>
                <a:gd name="csX0" fmla="*/ 0 w 679455"/>
                <a:gd name="csY0" fmla="*/ 917903 h 3313395"/>
                <a:gd name="csX1" fmla="*/ 415928 w 679455"/>
                <a:gd name="csY1" fmla="*/ 52395 h 3313395"/>
                <a:gd name="csX2" fmla="*/ 657442 w 679455"/>
                <a:gd name="csY2" fmla="*/ 14295 h 3313395"/>
                <a:gd name="csX3" fmla="*/ 383760 w 679455"/>
                <a:gd name="csY3" fmla="*/ 917903 h 3313395"/>
                <a:gd name="csX4" fmla="*/ 383760 w 679455"/>
                <a:gd name="csY4" fmla="*/ 3148927 h 3313395"/>
                <a:gd name="csX5" fmla="*/ 219292 w 679455"/>
                <a:gd name="csY5" fmla="*/ 3313395 h 3313395"/>
                <a:gd name="csX6" fmla="*/ 164468 w 679455"/>
                <a:gd name="csY6" fmla="*/ 3313395 h 3313395"/>
                <a:gd name="csX7" fmla="*/ 0 w 679455"/>
                <a:gd name="csY7" fmla="*/ 3148927 h 3313395"/>
                <a:gd name="csX8" fmla="*/ 0 w 679455"/>
                <a:gd name="csY8" fmla="*/ 917903 h 3313395"/>
                <a:gd name="csX0" fmla="*/ 0 w 680976"/>
                <a:gd name="csY0" fmla="*/ 917903 h 3313395"/>
                <a:gd name="csX1" fmla="*/ 415928 w 680976"/>
                <a:gd name="csY1" fmla="*/ 52395 h 3313395"/>
                <a:gd name="csX2" fmla="*/ 657442 w 680976"/>
                <a:gd name="csY2" fmla="*/ 14295 h 3313395"/>
                <a:gd name="csX3" fmla="*/ 414240 w 680976"/>
                <a:gd name="csY3" fmla="*/ 969338 h 3313395"/>
                <a:gd name="csX4" fmla="*/ 383760 w 680976"/>
                <a:gd name="csY4" fmla="*/ 3148927 h 3313395"/>
                <a:gd name="csX5" fmla="*/ 219292 w 680976"/>
                <a:gd name="csY5" fmla="*/ 3313395 h 3313395"/>
                <a:gd name="csX6" fmla="*/ 164468 w 680976"/>
                <a:gd name="csY6" fmla="*/ 3313395 h 3313395"/>
                <a:gd name="csX7" fmla="*/ 0 w 680976"/>
                <a:gd name="csY7" fmla="*/ 3148927 h 3313395"/>
                <a:gd name="csX8" fmla="*/ 0 w 680976"/>
                <a:gd name="csY8" fmla="*/ 917903 h 3313395"/>
                <a:gd name="csX0" fmla="*/ 0 w 679609"/>
                <a:gd name="csY0" fmla="*/ 917903 h 3313395"/>
                <a:gd name="csX1" fmla="*/ 415928 w 679609"/>
                <a:gd name="csY1" fmla="*/ 52395 h 3313395"/>
                <a:gd name="csX2" fmla="*/ 657442 w 679609"/>
                <a:gd name="csY2" fmla="*/ 14295 h 3313395"/>
                <a:gd name="csX3" fmla="*/ 414240 w 679609"/>
                <a:gd name="csY3" fmla="*/ 969338 h 3313395"/>
                <a:gd name="csX4" fmla="*/ 383760 w 679609"/>
                <a:gd name="csY4" fmla="*/ 3148927 h 3313395"/>
                <a:gd name="csX5" fmla="*/ 219292 w 679609"/>
                <a:gd name="csY5" fmla="*/ 3313395 h 3313395"/>
                <a:gd name="csX6" fmla="*/ 164468 w 679609"/>
                <a:gd name="csY6" fmla="*/ 3313395 h 3313395"/>
                <a:gd name="csX7" fmla="*/ 0 w 679609"/>
                <a:gd name="csY7" fmla="*/ 3148927 h 3313395"/>
                <a:gd name="csX8" fmla="*/ 0 w 679609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0 w 678091"/>
                <a:gd name="csY0" fmla="*/ 91790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0 w 678091"/>
                <a:gd name="csY8" fmla="*/ 917903 h 3313395"/>
                <a:gd name="csX0" fmla="*/ 5926 w 684017"/>
                <a:gd name="csY0" fmla="*/ 917903 h 3313395"/>
                <a:gd name="csX1" fmla="*/ 421854 w 684017"/>
                <a:gd name="csY1" fmla="*/ 52395 h 3313395"/>
                <a:gd name="csX2" fmla="*/ 663368 w 684017"/>
                <a:gd name="csY2" fmla="*/ 14295 h 3313395"/>
                <a:gd name="csX3" fmla="*/ 385876 w 684017"/>
                <a:gd name="csY3" fmla="*/ 1015058 h 3313395"/>
                <a:gd name="csX4" fmla="*/ 389686 w 684017"/>
                <a:gd name="csY4" fmla="*/ 3148927 h 3313395"/>
                <a:gd name="csX5" fmla="*/ 225218 w 684017"/>
                <a:gd name="csY5" fmla="*/ 3313395 h 3313395"/>
                <a:gd name="csX6" fmla="*/ 170394 w 684017"/>
                <a:gd name="csY6" fmla="*/ 3313395 h 3313395"/>
                <a:gd name="csX7" fmla="*/ 5926 w 684017"/>
                <a:gd name="csY7" fmla="*/ 3148927 h 3313395"/>
                <a:gd name="csX8" fmla="*/ 5926 w 684017"/>
                <a:gd name="csY8" fmla="*/ 917903 h 3313395"/>
                <a:gd name="csX0" fmla="*/ 41910 w 678091"/>
                <a:gd name="csY0" fmla="*/ 967433 h 3313395"/>
                <a:gd name="csX1" fmla="*/ 415928 w 678091"/>
                <a:gd name="csY1" fmla="*/ 52395 h 3313395"/>
                <a:gd name="csX2" fmla="*/ 657442 w 678091"/>
                <a:gd name="csY2" fmla="*/ 14295 h 3313395"/>
                <a:gd name="csX3" fmla="*/ 379950 w 678091"/>
                <a:gd name="csY3" fmla="*/ 1015058 h 3313395"/>
                <a:gd name="csX4" fmla="*/ 383760 w 678091"/>
                <a:gd name="csY4" fmla="*/ 3148927 h 3313395"/>
                <a:gd name="csX5" fmla="*/ 219292 w 678091"/>
                <a:gd name="csY5" fmla="*/ 3313395 h 3313395"/>
                <a:gd name="csX6" fmla="*/ 164468 w 678091"/>
                <a:gd name="csY6" fmla="*/ 3313395 h 3313395"/>
                <a:gd name="csX7" fmla="*/ 0 w 678091"/>
                <a:gd name="csY7" fmla="*/ 3148927 h 3313395"/>
                <a:gd name="csX8" fmla="*/ 41910 w 678091"/>
                <a:gd name="csY8" fmla="*/ 967433 h 331339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164468 w 719996"/>
                <a:gd name="csY6" fmla="*/ 331339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19996"/>
                <a:gd name="csY0" fmla="*/ 967433 h 3806155"/>
                <a:gd name="csX1" fmla="*/ 415928 w 719996"/>
                <a:gd name="csY1" fmla="*/ 52395 h 3806155"/>
                <a:gd name="csX2" fmla="*/ 657442 w 719996"/>
                <a:gd name="csY2" fmla="*/ 14295 h 3806155"/>
                <a:gd name="csX3" fmla="*/ 379950 w 719996"/>
                <a:gd name="csY3" fmla="*/ 1015058 h 3806155"/>
                <a:gd name="csX4" fmla="*/ 383760 w 719996"/>
                <a:gd name="csY4" fmla="*/ 3148927 h 3806155"/>
                <a:gd name="csX5" fmla="*/ 706972 w 719996"/>
                <a:gd name="csY5" fmla="*/ 3806155 h 3806155"/>
                <a:gd name="csX6" fmla="*/ 311788 w 719996"/>
                <a:gd name="csY6" fmla="*/ 3536915 h 3806155"/>
                <a:gd name="csX7" fmla="*/ 0 w 719996"/>
                <a:gd name="csY7" fmla="*/ 3148927 h 3806155"/>
                <a:gd name="csX8" fmla="*/ 41910 w 719996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311788 w 721380"/>
                <a:gd name="csY6" fmla="*/ 353691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721380"/>
                <a:gd name="csY0" fmla="*/ 967433 h 3806155"/>
                <a:gd name="csX1" fmla="*/ 415928 w 721380"/>
                <a:gd name="csY1" fmla="*/ 52395 h 3806155"/>
                <a:gd name="csX2" fmla="*/ 657442 w 721380"/>
                <a:gd name="csY2" fmla="*/ 14295 h 3806155"/>
                <a:gd name="csX3" fmla="*/ 379950 w 721380"/>
                <a:gd name="csY3" fmla="*/ 1015058 h 3806155"/>
                <a:gd name="csX4" fmla="*/ 429480 w 721380"/>
                <a:gd name="csY4" fmla="*/ 3057487 h 3806155"/>
                <a:gd name="csX5" fmla="*/ 706972 w 721380"/>
                <a:gd name="csY5" fmla="*/ 3806155 h 3806155"/>
                <a:gd name="csX6" fmla="*/ 291468 w 721380"/>
                <a:gd name="csY6" fmla="*/ 3608035 h 3806155"/>
                <a:gd name="csX7" fmla="*/ 0 w 721380"/>
                <a:gd name="csY7" fmla="*/ 3148927 h 3806155"/>
                <a:gd name="csX8" fmla="*/ 41910 w 721380"/>
                <a:gd name="csY8" fmla="*/ 967433 h 3806155"/>
                <a:gd name="csX0" fmla="*/ 41910 w 682244"/>
                <a:gd name="csY0" fmla="*/ 967433 h 3755355"/>
                <a:gd name="csX1" fmla="*/ 415928 w 682244"/>
                <a:gd name="csY1" fmla="*/ 52395 h 3755355"/>
                <a:gd name="csX2" fmla="*/ 657442 w 682244"/>
                <a:gd name="csY2" fmla="*/ 14295 h 3755355"/>
                <a:gd name="csX3" fmla="*/ 379950 w 682244"/>
                <a:gd name="csY3" fmla="*/ 1015058 h 3755355"/>
                <a:gd name="csX4" fmla="*/ 429480 w 682244"/>
                <a:gd name="csY4" fmla="*/ 3057487 h 3755355"/>
                <a:gd name="csX5" fmla="*/ 666332 w 682244"/>
                <a:gd name="csY5" fmla="*/ 3755355 h 3755355"/>
                <a:gd name="csX6" fmla="*/ 291468 w 682244"/>
                <a:gd name="csY6" fmla="*/ 3608035 h 3755355"/>
                <a:gd name="csX7" fmla="*/ 0 w 682244"/>
                <a:gd name="csY7" fmla="*/ 3148927 h 3755355"/>
                <a:gd name="csX8" fmla="*/ 41910 w 682244"/>
                <a:gd name="csY8" fmla="*/ 967433 h 3755355"/>
                <a:gd name="csX0" fmla="*/ 41910 w 682244"/>
                <a:gd name="csY0" fmla="*/ 967433 h 3758018"/>
                <a:gd name="csX1" fmla="*/ 415928 w 682244"/>
                <a:gd name="csY1" fmla="*/ 52395 h 3758018"/>
                <a:gd name="csX2" fmla="*/ 657442 w 682244"/>
                <a:gd name="csY2" fmla="*/ 14295 h 3758018"/>
                <a:gd name="csX3" fmla="*/ 379950 w 682244"/>
                <a:gd name="csY3" fmla="*/ 1015058 h 3758018"/>
                <a:gd name="csX4" fmla="*/ 429480 w 682244"/>
                <a:gd name="csY4" fmla="*/ 3057487 h 3758018"/>
                <a:gd name="csX5" fmla="*/ 666332 w 682244"/>
                <a:gd name="csY5" fmla="*/ 3755355 h 3758018"/>
                <a:gd name="csX6" fmla="*/ 291468 w 682244"/>
                <a:gd name="csY6" fmla="*/ 3608035 h 3758018"/>
                <a:gd name="csX7" fmla="*/ 0 w 682244"/>
                <a:gd name="csY7" fmla="*/ 3148927 h 3758018"/>
                <a:gd name="csX8" fmla="*/ 41910 w 682244"/>
                <a:gd name="csY8" fmla="*/ 967433 h 3758018"/>
                <a:gd name="csX0" fmla="*/ 41910 w 855055"/>
                <a:gd name="csY0" fmla="*/ 967433 h 3818160"/>
                <a:gd name="csX1" fmla="*/ 415928 w 855055"/>
                <a:gd name="csY1" fmla="*/ 52395 h 3818160"/>
                <a:gd name="csX2" fmla="*/ 657442 w 855055"/>
                <a:gd name="csY2" fmla="*/ 14295 h 3818160"/>
                <a:gd name="csX3" fmla="*/ 379950 w 855055"/>
                <a:gd name="csY3" fmla="*/ 1015058 h 3818160"/>
                <a:gd name="csX4" fmla="*/ 429480 w 855055"/>
                <a:gd name="csY4" fmla="*/ 3057487 h 3818160"/>
                <a:gd name="csX5" fmla="*/ 844132 w 855055"/>
                <a:gd name="csY5" fmla="*/ 3816315 h 3818160"/>
                <a:gd name="csX6" fmla="*/ 291468 w 855055"/>
                <a:gd name="csY6" fmla="*/ 3608035 h 3818160"/>
                <a:gd name="csX7" fmla="*/ 0 w 855055"/>
                <a:gd name="csY7" fmla="*/ 3148927 h 3818160"/>
                <a:gd name="csX8" fmla="*/ 41910 w 855055"/>
                <a:gd name="csY8" fmla="*/ 967433 h 3818160"/>
                <a:gd name="csX0" fmla="*/ 41910 w 855055"/>
                <a:gd name="csY0" fmla="*/ 967433 h 3817846"/>
                <a:gd name="csX1" fmla="*/ 415928 w 855055"/>
                <a:gd name="csY1" fmla="*/ 52395 h 3817846"/>
                <a:gd name="csX2" fmla="*/ 657442 w 855055"/>
                <a:gd name="csY2" fmla="*/ 14295 h 3817846"/>
                <a:gd name="csX3" fmla="*/ 379950 w 855055"/>
                <a:gd name="csY3" fmla="*/ 1015058 h 3817846"/>
                <a:gd name="csX4" fmla="*/ 429480 w 855055"/>
                <a:gd name="csY4" fmla="*/ 3057487 h 3817846"/>
                <a:gd name="csX5" fmla="*/ 844132 w 855055"/>
                <a:gd name="csY5" fmla="*/ 3816315 h 3817846"/>
                <a:gd name="csX6" fmla="*/ 433708 w 855055"/>
                <a:gd name="csY6" fmla="*/ 3567395 h 3817846"/>
                <a:gd name="csX7" fmla="*/ 0 w 855055"/>
                <a:gd name="csY7" fmla="*/ 3148927 h 3817846"/>
                <a:gd name="csX8" fmla="*/ 41910 w 855055"/>
                <a:gd name="csY8" fmla="*/ 967433 h 3817846"/>
                <a:gd name="csX0" fmla="*/ 1735 w 814880"/>
                <a:gd name="csY0" fmla="*/ 967433 h 3817846"/>
                <a:gd name="csX1" fmla="*/ 375753 w 814880"/>
                <a:gd name="csY1" fmla="*/ 52395 h 3817846"/>
                <a:gd name="csX2" fmla="*/ 617267 w 814880"/>
                <a:gd name="csY2" fmla="*/ 14295 h 3817846"/>
                <a:gd name="csX3" fmla="*/ 339775 w 814880"/>
                <a:gd name="csY3" fmla="*/ 1015058 h 3817846"/>
                <a:gd name="csX4" fmla="*/ 389305 w 814880"/>
                <a:gd name="csY4" fmla="*/ 3057487 h 3817846"/>
                <a:gd name="csX5" fmla="*/ 803957 w 814880"/>
                <a:gd name="csY5" fmla="*/ 3816315 h 3817846"/>
                <a:gd name="csX6" fmla="*/ 393533 w 814880"/>
                <a:gd name="csY6" fmla="*/ 3567395 h 3817846"/>
                <a:gd name="csX7" fmla="*/ 56345 w 814880"/>
                <a:gd name="csY7" fmla="*/ 3077807 h 3817846"/>
                <a:gd name="csX8" fmla="*/ 1735 w 814880"/>
                <a:gd name="csY8" fmla="*/ 967433 h 3817846"/>
                <a:gd name="csX0" fmla="*/ 1735 w 814880"/>
                <a:gd name="csY0" fmla="*/ 967433 h 3818070"/>
                <a:gd name="csX1" fmla="*/ 375753 w 814880"/>
                <a:gd name="csY1" fmla="*/ 52395 h 3818070"/>
                <a:gd name="csX2" fmla="*/ 617267 w 814880"/>
                <a:gd name="csY2" fmla="*/ 14295 h 3818070"/>
                <a:gd name="csX3" fmla="*/ 339775 w 814880"/>
                <a:gd name="csY3" fmla="*/ 1015058 h 3818070"/>
                <a:gd name="csX4" fmla="*/ 389305 w 814880"/>
                <a:gd name="csY4" fmla="*/ 3057487 h 3818070"/>
                <a:gd name="csX5" fmla="*/ 803957 w 814880"/>
                <a:gd name="csY5" fmla="*/ 3816315 h 3818070"/>
                <a:gd name="csX6" fmla="*/ 403693 w 814880"/>
                <a:gd name="csY6" fmla="*/ 3597875 h 3818070"/>
                <a:gd name="csX7" fmla="*/ 56345 w 814880"/>
                <a:gd name="csY7" fmla="*/ 3077807 h 3818070"/>
                <a:gd name="csX8" fmla="*/ 1735 w 814880"/>
                <a:gd name="csY8" fmla="*/ 967433 h 3818070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19483"/>
                <a:gd name="csX1" fmla="*/ 375753 w 814880"/>
                <a:gd name="csY1" fmla="*/ 52395 h 3819483"/>
                <a:gd name="csX2" fmla="*/ 617267 w 814880"/>
                <a:gd name="csY2" fmla="*/ 14295 h 3819483"/>
                <a:gd name="csX3" fmla="*/ 339775 w 814880"/>
                <a:gd name="csY3" fmla="*/ 1015058 h 3819483"/>
                <a:gd name="csX4" fmla="*/ 389305 w 814880"/>
                <a:gd name="csY4" fmla="*/ 3057487 h 3819483"/>
                <a:gd name="csX5" fmla="*/ 803957 w 814880"/>
                <a:gd name="csY5" fmla="*/ 3816315 h 3819483"/>
                <a:gd name="csX6" fmla="*/ 403693 w 814880"/>
                <a:gd name="csY6" fmla="*/ 3597875 h 3819483"/>
                <a:gd name="csX7" fmla="*/ 56345 w 814880"/>
                <a:gd name="csY7" fmla="*/ 3077807 h 3819483"/>
                <a:gd name="csX8" fmla="*/ 1735 w 814880"/>
                <a:gd name="csY8" fmla="*/ 967433 h 3819483"/>
                <a:gd name="csX0" fmla="*/ 1735 w 814880"/>
                <a:gd name="csY0" fmla="*/ 967433 h 3820087"/>
                <a:gd name="csX1" fmla="*/ 375753 w 814880"/>
                <a:gd name="csY1" fmla="*/ 52395 h 3820087"/>
                <a:gd name="csX2" fmla="*/ 617267 w 814880"/>
                <a:gd name="csY2" fmla="*/ 14295 h 3820087"/>
                <a:gd name="csX3" fmla="*/ 339775 w 814880"/>
                <a:gd name="csY3" fmla="*/ 1015058 h 3820087"/>
                <a:gd name="csX4" fmla="*/ 389305 w 814880"/>
                <a:gd name="csY4" fmla="*/ 3057487 h 3820087"/>
                <a:gd name="csX5" fmla="*/ 803957 w 814880"/>
                <a:gd name="csY5" fmla="*/ 3816315 h 3820087"/>
                <a:gd name="csX6" fmla="*/ 403693 w 814880"/>
                <a:gd name="csY6" fmla="*/ 3597875 h 3820087"/>
                <a:gd name="csX7" fmla="*/ 56345 w 814880"/>
                <a:gd name="csY7" fmla="*/ 3077807 h 3820087"/>
                <a:gd name="csX8" fmla="*/ 1735 w 814880"/>
                <a:gd name="csY8" fmla="*/ 967433 h 382008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</a:cxnLst>
              <a:rect l="l" t="t" r="r" b="b"/>
              <a:pathLst>
                <a:path w="814880" h="3820087">
                  <a:moveTo>
                    <a:pt x="1735" y="967433"/>
                  </a:moveTo>
                  <a:cubicBezTo>
                    <a:pt x="30310" y="762300"/>
                    <a:pt x="286825" y="136215"/>
                    <a:pt x="375753" y="52395"/>
                  </a:cubicBezTo>
                  <a:cubicBezTo>
                    <a:pt x="477848" y="-12375"/>
                    <a:pt x="499932" y="-6660"/>
                    <a:pt x="617267" y="14295"/>
                  </a:cubicBezTo>
                  <a:cubicBezTo>
                    <a:pt x="734770" y="46680"/>
                    <a:pt x="311200" y="800400"/>
                    <a:pt x="339775" y="1015058"/>
                  </a:cubicBezTo>
                  <a:lnTo>
                    <a:pt x="389305" y="3057487"/>
                  </a:lnTo>
                  <a:cubicBezTo>
                    <a:pt x="389305" y="3148320"/>
                    <a:pt x="894790" y="3816315"/>
                    <a:pt x="803957" y="3816315"/>
                  </a:cubicBezTo>
                  <a:cubicBezTo>
                    <a:pt x="648522" y="3838328"/>
                    <a:pt x="604848" y="3763822"/>
                    <a:pt x="403693" y="3597875"/>
                  </a:cubicBezTo>
                  <a:cubicBezTo>
                    <a:pt x="231580" y="3409915"/>
                    <a:pt x="56345" y="3168640"/>
                    <a:pt x="56345" y="3077807"/>
                  </a:cubicBezTo>
                  <a:cubicBezTo>
                    <a:pt x="56345" y="2334132"/>
                    <a:pt x="-11600" y="1674913"/>
                    <a:pt x="1735" y="967433"/>
                  </a:cubicBezTo>
                  <a:close/>
                </a:path>
              </a:pathLst>
            </a:custGeom>
            <a:solidFill>
              <a:srgbClr val="9DB4CE"/>
            </a:solidFill>
            <a:ln w="12700">
              <a:solidFill>
                <a:srgbClr val="2166AC"/>
              </a:solidFill>
              <a:round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t">
              <a:noAutofit/>
            </a:bodyPr>
            <a:lstStyle/>
            <a:p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5" name="Block Arc 4">
              <a:extLst>
                <a:ext uri="{FF2B5EF4-FFF2-40B4-BE49-F238E27FC236}">
                  <a16:creationId xmlns:a16="http://schemas.microsoft.com/office/drawing/2014/main" id="{6A1F7EEC-A387-3307-85C0-D8BE43D91FCF}"/>
                </a:ext>
              </a:extLst>
            </p:cNvPr>
            <p:cNvSpPr/>
            <p:nvPr/>
          </p:nvSpPr>
          <p:spPr>
            <a:xfrm flipV="1">
              <a:off x="2557256" y="2871611"/>
              <a:ext cx="1620012" cy="822599"/>
            </a:xfrm>
            <a:prstGeom prst="blockArc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4" presetClass="entr" presetSubtype="1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17" dur="75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0" dur="7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4" presetClass="entr" presetSubtype="1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23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8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2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4" presetClass="entr" presetSubtype="1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randombar(horizontal)">
                                      <p:cBhvr>
                                        <p:cTn id="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/>
      <p:bldP spid="20" grpId="0"/>
      <p:bldP spid="24" grpId="0"/>
      <p:bldP spid="25" grpId="0"/>
      <p:bldP spid="26" grpId="0" animBg="1"/>
      <p:bldP spid="27" grpId="0" animBg="1"/>
      <p:bldP spid="28" grpId="0" animBg="1"/>
      <p:bldP spid="29" grpId="0" animBg="1"/>
      <p:bldP spid="30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Text 0"/>
          <p:cNvSpPr/>
          <p:nvPr/>
        </p:nvSpPr>
        <p:spPr>
          <a:xfrm>
            <a:off x="365760" y="164520"/>
            <a:ext cx="1142964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3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real structure: Sororin locks the ring; phosphorylation lets WAPL in</a:t>
            </a:r>
            <a:endParaRPr lang="en-US" sz="2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2" name="a_realimg" descr="/tmp/assets/cohesin_real.png"/>
          <p:cNvPicPr/>
          <p:nvPr/>
        </p:nvPicPr>
        <p:blipFill>
          <a:blip r:embed="rId3"/>
          <a:stretch/>
        </p:blipFill>
        <p:spPr>
          <a:xfrm>
            <a:off x="1234440" y="960120"/>
            <a:ext cx="9692280" cy="491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" name="a_cap"/>
          <p:cNvSpPr/>
          <p:nvPr/>
        </p:nvSpPr>
        <p:spPr>
          <a:xfrm>
            <a:off x="548640" y="5943600"/>
            <a:ext cx="11063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LEFT: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 (green) docks on Pds5 → </a:t>
            </a:r>
            <a:r>
              <a:rPr lang="en-US" sz="130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ring CLOSED, sisters glued.    </a:t>
            </a: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  <a:ea typeface="Calibri"/>
              </a:rPr>
              <a:t>RIGHT:  </a:t>
            </a: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mitotic phosphorylation (red ✱) displaces Sororin → WAPL opens the ring.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2"/>
          <p:cNvSpPr/>
          <p:nvPr/>
        </p:nvSpPr>
        <p:spPr>
          <a:xfrm>
            <a:off x="548640" y="6473880"/>
            <a:ext cx="1106388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>
                <a:solidFill>
                  <a:srgbClr val="8A97A3"/>
                </a:solidFill>
                <a:effectLst/>
                <a:uFillTx/>
                <a:latin typeface="Calibri"/>
                <a:ea typeface="Calibri"/>
              </a:rPr>
              <a:t>Image: Nature Communications, Fig. 9 (see 'PPT images/ref.txt' for full citation) — used for study purposes.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 0"/>
          <p:cNvSpPr/>
          <p:nvPr/>
        </p:nvSpPr>
        <p:spPr>
          <a:xfrm>
            <a:off x="457200" y="16452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mechanism, step by step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a_cohesin"/>
          <p:cNvSpPr/>
          <p:nvPr/>
        </p:nvSpPr>
        <p:spPr>
          <a:xfrm>
            <a:off x="3108960" y="777240"/>
            <a:ext cx="5943240" cy="658080"/>
          </a:xfrm>
          <a:prstGeom prst="roundRect">
            <a:avLst>
              <a:gd name="adj" fmla="val 11111"/>
            </a:avLst>
          </a:prstGeom>
          <a:solidFill>
            <a:srgbClr val="2166AC"/>
          </a:solidFill>
          <a:ln w="0">
            <a:solidFill>
              <a:srgbClr val="2166AC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Cohesin ring traps the two sister chromatids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E8F0F8"/>
                </a:solidFill>
                <a:effectLst/>
                <a:uFillTx/>
                <a:latin typeface="Calibri"/>
              </a:rPr>
              <a:t>SMC1A · SMC3 · RAD21 · STAG1/2  +  PDS5 (docking subunit)</a:t>
            </a:r>
            <a:endParaRPr lang="en-US" sz="11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" name="a_arrAB"/>
          <p:cNvSpPr/>
          <p:nvPr/>
        </p:nvSpPr>
        <p:spPr>
          <a:xfrm>
            <a:off x="6094440" y="1463040"/>
            <a:ext cx="360" cy="18288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a_sororin"/>
          <p:cNvSpPr/>
          <p:nvPr/>
        </p:nvSpPr>
        <p:spPr>
          <a:xfrm>
            <a:off x="2743200" y="1673280"/>
            <a:ext cx="6674760" cy="749520"/>
          </a:xfrm>
          <a:prstGeom prst="roundRect">
            <a:avLst>
              <a:gd name="adj" fmla="val 9756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Sororin binds PDS5 via its FGF motif (aa 166–168)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1B5E20"/>
                </a:solidFill>
                <a:effectLst/>
                <a:uFillTx/>
                <a:latin typeface="Calibri"/>
              </a:rPr>
              <a:t>→ blocks WAPL → ring stays CLOSED → cohesion protected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a_label"/>
          <p:cNvSpPr/>
          <p:nvPr/>
        </p:nvSpPr>
        <p:spPr>
          <a:xfrm>
            <a:off x="2743200" y="2487240"/>
            <a:ext cx="6674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Two ways to switch Sororin OFF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a_arrL"/>
          <p:cNvSpPr/>
          <p:nvPr/>
        </p:nvSpPr>
        <p:spPr>
          <a:xfrm>
            <a:off x="324612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" name="a_arrR"/>
          <p:cNvSpPr/>
          <p:nvPr/>
        </p:nvSpPr>
        <p:spPr>
          <a:xfrm>
            <a:off x="8942760" y="2450520"/>
            <a:ext cx="360" cy="4021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a_switch1"/>
          <p:cNvSpPr/>
          <p:nvPr/>
        </p:nvSpPr>
        <p:spPr>
          <a:xfrm>
            <a:off x="45720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①  PHOSPHORYLATION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temporary · 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Kinases CDK1 (on schedule) &amp; ERK2/MAPK1 add PO₄ to 7 proline-directed sites (Ser/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Thr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–Pro):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Ser21, Ser75, Ser79, Thr111, Thr115, Thr159, Ser209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negative charge disrupts the FGF–PDS5 grip → Sororin displaced (a phosphatase can remove it)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ERK2 → Ser209 drives lung cancer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a_switch2"/>
          <p:cNvSpPr/>
          <p:nvPr/>
        </p:nvSpPr>
        <p:spPr>
          <a:xfrm>
            <a:off x="6245280" y="2880360"/>
            <a:ext cx="5486040" cy="1782720"/>
          </a:xfrm>
          <a:prstGeom prst="roundRect">
            <a:avLst>
              <a:gd name="adj" fmla="val 3077"/>
            </a:avLst>
          </a:prstGeom>
          <a:solidFill>
            <a:srgbClr val="F7DBDB"/>
          </a:solidFill>
          <a:ln w="1905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88920" tIns="88920" rIns="88920" bIns="889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2182B"/>
                </a:solidFill>
                <a:effectLst/>
                <a:uFillTx/>
                <a:latin typeface="Calibri"/>
              </a:rPr>
              <a:t>②  DEGRADATION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permanent · irreversible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Degrons (short 'destroy-me' motifs) are read by shredding machines: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(aa 88–90) → APC/C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SPOP degron → SPOP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add ubiquitin tag → proteasome destroys the whole Sororin protein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SPOP loss → Sororin piles up (prostate cancer)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a_arrCL"/>
          <p:cNvSpPr/>
          <p:nvPr/>
        </p:nvSpPr>
        <p:spPr>
          <a:xfrm>
            <a:off x="324612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a_arrCR"/>
          <p:cNvSpPr/>
          <p:nvPr/>
        </p:nvSpPr>
        <p:spPr>
          <a:xfrm>
            <a:off x="8942760" y="4681440"/>
            <a:ext cx="360" cy="2743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a_wapl"/>
          <p:cNvSpPr/>
          <p:nvPr/>
        </p:nvSpPr>
        <p:spPr>
          <a:xfrm>
            <a:off x="2743200" y="4983480"/>
            <a:ext cx="6674760" cy="566640"/>
          </a:xfrm>
          <a:prstGeom prst="roundRect">
            <a:avLst>
              <a:gd name="adj" fmla="val 12903"/>
            </a:avLst>
          </a:prstGeom>
          <a:solidFill>
            <a:srgbClr val="B2182B"/>
          </a:solidFill>
          <a:ln w="0">
            <a:solidFill>
              <a:srgbClr val="B2182B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Sororin OFF  →  WAPL binds PDS5  →  </a:t>
            </a:r>
            <a:r>
              <a:rPr lang="en-US" sz="1400" b="1" dirty="0">
                <a:solidFill>
                  <a:srgbClr val="FFFFFF"/>
                </a:solidFill>
                <a:latin typeface="Calibri"/>
              </a:rPr>
              <a:t>C</a:t>
            </a:r>
            <a:r>
              <a:rPr lang="en-US" sz="1400" b="1" u="none" strike="noStrike" dirty="0">
                <a:solidFill>
                  <a:srgbClr val="FFFFFF"/>
                </a:solidFill>
                <a:effectLst/>
                <a:uFillTx/>
                <a:latin typeface="Calibri"/>
              </a:rPr>
              <a:t>ohesin ring OPENS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" name="a_arrCD"/>
          <p:cNvSpPr/>
          <p:nvPr/>
        </p:nvSpPr>
        <p:spPr>
          <a:xfrm>
            <a:off x="6094440" y="5550120"/>
            <a:ext cx="360" cy="155520"/>
          </a:xfrm>
          <a:prstGeom prst="line">
            <a:avLst/>
          </a:prstGeom>
          <a:ln w="25400">
            <a:solidFill>
              <a:srgbClr val="2C3E50"/>
            </a:solidFill>
            <a:round/>
            <a:tailEnd type="triangl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 anchorCtr="1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a_sep"/>
          <p:cNvSpPr/>
          <p:nvPr/>
        </p:nvSpPr>
        <p:spPr>
          <a:xfrm>
            <a:off x="3566160" y="5733360"/>
            <a:ext cx="5028840" cy="456840"/>
          </a:xfrm>
          <a:prstGeom prst="roundRect">
            <a:avLst>
              <a:gd name="adj" fmla="val 16000"/>
            </a:avLst>
          </a:prstGeom>
          <a:solidFill>
            <a:srgbClr val="2C3E50"/>
          </a:solidFill>
          <a:ln w="0">
            <a:solidFill>
              <a:srgbClr val="2C3E50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Sister chromatids separate  (mitosis / anaphase)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a_key"/>
          <p:cNvSpPr/>
          <p:nvPr/>
        </p:nvSpPr>
        <p:spPr>
          <a:xfrm>
            <a:off x="457200" y="6327720"/>
            <a:ext cx="11274120" cy="438480"/>
          </a:xfrm>
          <a:prstGeom prst="roundRect">
            <a:avLst>
              <a:gd name="adj" fmla="val 10417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KEY INSIGHT —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switch element (FGF motif, KEN box, SPOP degron, all 7 phospho-sites) sits in an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intrinsically DISORDERED region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(61.5% of Sororin; only the C-terminal domain aa 230–252 is folded). Floppy chain + short motifs = easy to switch  →  Sororin is a </a:t>
            </a: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“fuzzy hub.”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7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2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5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0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6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4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2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45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0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3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58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Result 1: Sororin sits in a dense </a:t>
            </a:r>
            <a:r>
              <a:rPr lang="en-US" sz="2400" b="1" dirty="0">
                <a:solidFill>
                  <a:srgbClr val="2C3E50"/>
                </a:solidFill>
                <a:latin typeface="Cambria"/>
                <a:ea typeface="Cambria"/>
              </a:rPr>
              <a:t>C</a:t>
            </a: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ohesin network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" name="Image 0" descr="/tmp/assets/fig1_net.png"/>
          <p:cNvPicPr/>
          <p:nvPr/>
        </p:nvPicPr>
        <p:blipFill>
          <a:blip r:embed="rId2"/>
          <a:stretch/>
        </p:blipFill>
        <p:spPr>
          <a:xfrm>
            <a:off x="320040" y="822960"/>
            <a:ext cx="4626360" cy="374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Text 1"/>
          <p:cNvSpPr/>
          <p:nvPr/>
        </p:nvSpPr>
        <p:spPr>
          <a:xfrm>
            <a:off x="320040" y="4553640"/>
            <a:ext cx="484596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Figure 1 — STRING interaction network (dashed red = literature-curated ERK2/SPOP).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2"/>
          <p:cNvSpPr/>
          <p:nvPr/>
        </p:nvSpPr>
        <p:spPr>
          <a:xfrm>
            <a:off x="5623560" y="822960"/>
            <a:ext cx="6217560" cy="776880"/>
          </a:xfrm>
          <a:prstGeom prst="roundRect">
            <a:avLst>
              <a:gd name="adj" fmla="val 5882"/>
            </a:avLst>
          </a:prstGeom>
          <a:solidFill>
            <a:srgbClr val="DCE7F3"/>
          </a:solidFill>
          <a:ln w="1270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16 nodes  ·  107 edges  ·  density 0.89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Sororin degree = 15 of 15  (a hub)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4" name="Table 0"/>
          <p:cNvGraphicFramePr/>
          <p:nvPr/>
        </p:nvGraphicFramePr>
        <p:xfrm>
          <a:off x="5623560" y="1737360"/>
          <a:ext cx="6217920" cy="23622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</a:t>
                      </a:r>
                      <a:endParaRPr lang="en-US" sz="9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Functional class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STRING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regulator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WAPL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(release)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SMC3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0.994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RAD21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(kleisin)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0.988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kinase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0.979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CDC20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activator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ESPL1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Separase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0.930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19240">
                <a:tc gridSpan="3"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i="1" u="none" strike="noStrike">
                          <a:solidFill>
                            <a:srgbClr val="5A6B7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( … 15 high-confidence partners total 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 sz="18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90000" marR="90000" marT="45000" marB="4500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729F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92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/ SPOP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literature edges (dashed)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B218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—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15" name="a_interp"/>
          <p:cNvSpPr/>
          <p:nvPr/>
        </p:nvSpPr>
        <p:spPr>
          <a:xfrm>
            <a:off x="320040" y="5106383"/>
            <a:ext cx="11521080" cy="567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Sororin's high-confidence partners form one tight cluster —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machine. Density of 89% of all possible links are present; Sororin touches all 15 others (degree 15/15 = a hub), with its strongest edges to exactly the expected partners (PDS5A, WAPL, the </a:t>
            </a:r>
            <a:r>
              <a:rPr lang="en-US" sz="11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core, CDK1).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→ the network indicates Sororin is the central hub of a tightly-coupled physical complex.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a_caveat"/>
          <p:cNvSpPr/>
          <p:nvPr/>
        </p:nvSpPr>
        <p:spPr>
          <a:xfrm>
            <a:off x="320040" y="5760720"/>
            <a:ext cx="11521080" cy="603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B9770E"/>
                </a:solidFill>
                <a:effectLst/>
                <a:uFillTx/>
                <a:latin typeface="Calibri"/>
                <a:ea typeface="Calibri"/>
              </a:rPr>
              <a:t>Honest point: 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density is high partly 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because I curated the 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10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proteins</a:t>
            </a:r>
            <a:r>
              <a:rPr lang="en-US" sz="1100" i="1" dirty="0">
                <a:solidFill>
                  <a:srgbClr val="2C3E50"/>
                </a:solidFill>
                <a:latin typeface="Calibri"/>
                <a:ea typeface="Calibri"/>
              </a:rPr>
              <a:t>.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S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o, density describes the module, </a:t>
            </a:r>
            <a:r>
              <a:rPr lang="en-US" sz="1100" b="0" u="sng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it doesn't prove it</a:t>
            </a:r>
            <a:r>
              <a:rPr lang="en-US" sz="1100" dirty="0">
                <a:solidFill>
                  <a:srgbClr val="2C3E50"/>
                </a:solidFill>
                <a:latin typeface="Calibri"/>
                <a:ea typeface="Calibri"/>
              </a:rPr>
              <a:t>. I’m bringing more evidence 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from the enrichment (next slide) and the high-confidence scores.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5"/>
          <p:cNvSpPr/>
          <p:nvPr/>
        </p:nvSpPr>
        <p:spPr>
          <a:xfrm>
            <a:off x="320040" y="6419160"/>
            <a:ext cx="11521080" cy="319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(sequence)  →  STRING API (network)  →  networkx (metrics, code)  →  Cytoscape + stringApp (independent check + enrichment, desktop)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CD48BAF7-251C-4B63-101B-6EA48F3A5BA4}"/>
              </a:ext>
            </a:extLst>
          </p:cNvPr>
          <p:cNvSpPr/>
          <p:nvPr/>
        </p:nvSpPr>
        <p:spPr>
          <a:xfrm>
            <a:off x="5623560" y="4469272"/>
            <a:ext cx="6245225" cy="488416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1100" dirty="0"/>
              <a:t>loading (NIPBL·MAU2) → the ring (SMC1A/3 · RAD21 · STAG) → maintain/release (PDS5 · WAPL · </a:t>
            </a:r>
            <a:r>
              <a:rPr lang="en-US" sz="1100" b="1" dirty="0"/>
              <a:t>Sororin</a:t>
            </a:r>
            <a:r>
              <a:rPr lang="en-US" sz="1100" dirty="0"/>
              <a:t>) → mitotic control (CDK1 · PLK1 · AURKB) → destruction &amp; cut (APC/C·CDC20 · separase ESPL1).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2405B4F6-CB06-6714-C53B-12E126DE3AF4}"/>
              </a:ext>
            </a:extLst>
          </p:cNvPr>
          <p:cNvSpPr/>
          <p:nvPr/>
        </p:nvSpPr>
        <p:spPr>
          <a:xfrm>
            <a:off x="7579360" y="4220168"/>
            <a:ext cx="2372360" cy="187272"/>
          </a:xfrm>
          <a:prstGeom prst="roundRect">
            <a:avLst/>
          </a:prstGeom>
        </p:spPr>
        <p:style>
          <a:lnRef idx="1">
            <a:schemeClr val="dk1"/>
          </a:lnRef>
          <a:fillRef idx="3">
            <a:schemeClr val="dk1"/>
          </a:fillRef>
          <a:effectRef idx="2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50" i="1" dirty="0"/>
              <a:t>Complete Cohesin regulatory pathway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5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6" presetClass="entr" presetSubtype="37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 animBg="1"/>
      <p:bldP spid="17" grpId="0"/>
      <p:bldP spid="2" grpId="0" animBg="1"/>
      <p:bldP spid="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Confirmed independently: Cytoscape + functional enrichment</a:t>
            </a:r>
            <a:endParaRPr lang="en-US" sz="2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/tmp/assets/fig2_cyto.png"/>
          <p:cNvPicPr/>
          <p:nvPr/>
        </p:nvPicPr>
        <p:blipFill>
          <a:blip r:embed="rId2"/>
          <a:stretch/>
        </p:blipFill>
        <p:spPr>
          <a:xfrm>
            <a:off x="320040" y="868680"/>
            <a:ext cx="5028840" cy="18662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320040" y="2834640"/>
            <a:ext cx="5028840" cy="914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Figure 2 — the same module rebuilt in Cytoscape (stringApp): 16 nodes, 107 edges, density 0.892, clustering coefficient 0.925, one connected component. Same result, second tool.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320040" y="3931920"/>
            <a:ext cx="5028840" cy="548280"/>
          </a:xfrm>
          <a:prstGeom prst="roundRect">
            <a:avLst>
              <a:gd name="adj" fmla="val 8333"/>
            </a:avLst>
          </a:prstGeom>
          <a:solidFill>
            <a:srgbClr val="1A7A34"/>
          </a:solidFill>
          <a:ln w="0">
            <a:solidFill>
              <a:srgbClr val="1A7A34"/>
            </a:solidFill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50760" tIns="50760" rIns="50760" bIns="507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libri"/>
              </a:rPr>
              <a:t>STRING PPI enrichment:  p &lt; 10</a:t>
            </a:r>
            <a:r>
              <a:rPr lang="en-US" sz="900" b="1" u="none" strike="noStrike" baseline="30000">
                <a:solidFill>
                  <a:srgbClr val="FFFFFF"/>
                </a:solidFill>
                <a:effectLst/>
                <a:uFillTx/>
                <a:latin typeface="Calibri"/>
              </a:rPr>
              <a:t>−16</a:t>
            </a:r>
            <a:r>
              <a:rPr lang="en-US" sz="1200" b="0" u="none" strike="noStrike">
                <a:solidFill>
                  <a:srgbClr val="F2F2F2"/>
                </a:solidFill>
                <a:effectLst/>
                <a:uFillTx/>
                <a:latin typeface="Calibri"/>
              </a:rPr>
              <a:t>   — far more connected than random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2" name="Table 0"/>
          <p:cNvGraphicFramePr/>
          <p:nvPr>
            <p:extLst>
              <p:ext uri="{D42A27DB-BD31-4B8C-83A1-F6EECF244321}">
                <p14:modId xmlns:p14="http://schemas.microsoft.com/office/powerpoint/2010/main" val="716754159"/>
              </p:ext>
            </p:extLst>
          </p:nvPr>
        </p:nvGraphicFramePr>
        <p:xfrm>
          <a:off x="5559425" y="1152540"/>
          <a:ext cx="6309360" cy="1900800"/>
        </p:xfrm>
        <a:graphic>
          <a:graphicData uri="http://schemas.openxmlformats.org/drawingml/2006/table">
            <a:tbl>
              <a:tblPr/>
              <a:tblGrid>
                <a:gridCol w="1554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Source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Enriched term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FDR</a:t>
                      </a:r>
                      <a:endParaRPr lang="en-US" sz="9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cohesion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1.4e-24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Sister chromatid segregation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2.3e-24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Process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Mitotic cell cycle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1.2e-18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GO Component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Chromosomal region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7.0e-15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KEGG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Cell cycle (hsa04110)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6.1e-14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Resolution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1.7e-23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3760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Reactome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Establishment of sister-chr. cohesion</a:t>
                      </a:r>
                      <a:endParaRPr lang="en-US" sz="9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9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4.4e-22</a:t>
                      </a:r>
                      <a:endParaRPr lang="en-US" sz="9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D0D0D0"/>
                      </a:solidFill>
                      <a:prstDash val="solid"/>
                    </a:lnL>
                    <a:lnR w="6480">
                      <a:solidFill>
                        <a:srgbClr val="D0D0D0"/>
                      </a:solidFill>
                      <a:prstDash val="solid"/>
                    </a:lnR>
                    <a:lnT w="6480">
                      <a:solidFill>
                        <a:srgbClr val="D0D0D0"/>
                      </a:solidFill>
                      <a:prstDash val="solid"/>
                    </a:lnT>
                    <a:lnB w="6480">
                      <a:solidFill>
                        <a:srgbClr val="D0D0D0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23" name="Text 3"/>
          <p:cNvSpPr/>
          <p:nvPr/>
        </p:nvSpPr>
        <p:spPr>
          <a:xfrm>
            <a:off x="5559425" y="3164220"/>
            <a:ext cx="630900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Table 2 — representative enriched terms (all point to cohesion / cell cycle).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a_enrtext"/>
          <p:cNvSpPr/>
          <p:nvPr/>
        </p:nvSpPr>
        <p:spPr>
          <a:xfrm>
            <a:off x="5532120" y="3703140"/>
            <a:ext cx="6400440" cy="8686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Enrichment 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tests whether my 16 proteins are over-represented for a function vs. a random set — they are, overwhelmingly. The top terms (sister-chromatid cohesion, cell cycle) return at FDR ≈ 10</a:t>
            </a:r>
            <a:r>
              <a:rPr lang="en-US" sz="800" b="0" u="none" strike="noStrike" baseline="30000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−24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.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→ this demonstrates the module is genuinely the cohesion machinery, not an arbitrary selection.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FDR = significance corrected for testing many terms; the lower it is, the more reliable.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a_formula"/>
              <p:cNvSpPr/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solidFill>
                <a:srgbClr val="F4F0F7"/>
              </a:solidFill>
              <a:ln w="12700">
                <a:solidFill>
                  <a:srgbClr val="762A83"/>
                </a:solidFill>
                <a:round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/>
            </p:style>
            <p:txBody>
              <a:bodyPr lIns="114480" tIns="114480" rIns="114480" bIns="114480" anchor="ctr">
                <a:noAutofit/>
              </a:bodyPr>
              <a:lstStyle/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1000" b="1" u="none" strike="noStrike" dirty="0">
                    <a:solidFill>
                      <a:srgbClr val="762A83"/>
                    </a:solidFill>
                    <a:effectLst/>
                    <a:uFillTx/>
                    <a:latin typeface="Calibri"/>
                  </a:rPr>
                  <a:t>how it is computed:  </a:t>
                </a:r>
                <a:endParaRPr lang="en-US" sz="100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  <a:p>
                <a:pPr defTabSz="914400">
                  <a:lnSpc>
                    <a:spcPct val="100000"/>
                  </a:lnSpc>
                  <a:tabLst>
                    <a:tab pos="0" algn="l"/>
                  </a:tabLst>
                </a:pPr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Hypergeometric ('urn') test: </a:t>
                </a:r>
                <a14:m>
                  <m:oMath xmlns:m="http://schemas.openxmlformats.org/officeDocument/2006/math">
                    <m:r>
                      <a:rPr lang="en-US" sz="95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≥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  <m:r>
                      <a:rPr lang="en-US" sz="950" i="1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ctrlP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sz="950" i="1">
                            <a:solidFill>
                              <a:srgbClr val="2C3E50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func>
                          <m:func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  <m:t>min</m:t>
                            </m:r>
                          </m:fName>
                          <m:e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  <m:t>𝐾</m:t>
                                </m:r>
                              </m:e>
                            </m:d>
                          </m:e>
                        </m:func>
                      </m:sup>
                      <m:e>
                        <m:f>
                          <m:fPr>
                            <m:ctrlPr>
                              <a:rPr lang="en-US" sz="950" i="1">
                                <a:solidFill>
                                  <a:srgbClr val="2C3E5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𝐾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den>
                                </m:f>
                              </m:e>
                            </m:d>
                          </m:num>
                          <m:den>
                            <m:d>
                              <m:dPr>
                                <m:ctrlPr>
                                  <a:rPr lang="en-US" sz="950" i="1">
                                    <a:solidFill>
                                      <a:srgbClr val="2C3E5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type m:val="noBar"/>
                                    <m:ctrlP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𝑁</m:t>
                                    </m:r>
                                  </m:num>
                                  <m:den>
                                    <m:r>
                                      <a:rPr lang="en-US" sz="950" i="1">
                                        <a:solidFill>
                                          <a:srgbClr val="2C3E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den>
                                </m:f>
                              </m:e>
                            </m:d>
                          </m:den>
                        </m:f>
                      </m:e>
                    </m:nary>
                    <m:r>
                      <a:rPr lang="en-US" sz="950" b="0" i="1" smtClean="0">
                        <a:solidFill>
                          <a:srgbClr val="2C3E50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en-US" sz="950" b="0" u="none" strike="noStrike" dirty="0">
                    <a:solidFill>
                      <a:srgbClr val="2C3E50"/>
                    </a:solidFill>
                    <a:effectLst/>
                    <a:uFillTx/>
                    <a:latin typeface="Calibri"/>
                  </a:rPr>
                  <a:t> e.g. 12 of my 16 proteins are among the only 42 cohesion genes in the whole genome (N ≈ 19,000) → p = 8.6×10⁻²⁹.   Benjamini–Hochberg correction:  FDR = p × (M / rank),  M = number of terms tested.</a:t>
                </a:r>
                <a:endParaRPr lang="en-US" sz="950" b="0" u="none" strike="noStrike" dirty="0">
                  <a:solidFill>
                    <a:srgbClr val="000000"/>
                  </a:solidFill>
                  <a:effectLst/>
                  <a:uFillTx/>
                  <a:latin typeface="Arial"/>
                </a:endParaRPr>
              </a:p>
            </p:txBody>
          </p:sp>
        </mc:Choice>
        <mc:Fallback xmlns="">
          <p:sp>
            <p:nvSpPr>
              <p:cNvPr id="25" name="a_formula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20040" y="4663440"/>
                <a:ext cx="11566800" cy="721360"/>
              </a:xfrm>
              <a:prstGeom prst="roundRect">
                <a:avLst>
                  <a:gd name="adj" fmla="val 2632"/>
                </a:avLst>
              </a:prstGeom>
              <a:blipFill>
                <a:blip r:embed="rId3"/>
                <a:stretch>
                  <a:fillRect b="-12500"/>
                </a:stretch>
              </a:blipFill>
              <a:ln w="12700">
                <a:solidFill>
                  <a:srgbClr val="762A83"/>
                </a:solidFill>
                <a:round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aphicFrame>
        <p:nvGraphicFramePr>
          <p:cNvPr id="2" name="Object 1">
            <a:extLst>
              <a:ext uri="{FF2B5EF4-FFF2-40B4-BE49-F238E27FC236}">
                <a16:creationId xmlns:a16="http://schemas.microsoft.com/office/drawing/2014/main" id="{C6AE693D-DB3C-C44E-E8D2-A8D3BFF68B93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50535248"/>
              </p:ext>
            </p:extLst>
          </p:nvPr>
        </p:nvGraphicFramePr>
        <p:xfrm>
          <a:off x="4927600" y="2641600"/>
          <a:ext cx="914400" cy="198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Equation" r:id="rId4" imgW="914400" imgH="198720" progId="Equation.DSMT4">
                  <p:embed/>
                </p:oleObj>
              </mc:Choice>
              <mc:Fallback>
                <p:oleObj name="Equation" r:id="rId4" imgW="914400" imgH="198720" progId="Equation.DSMT4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4927600" y="2641600"/>
                        <a:ext cx="914400" cy="198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2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8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33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  <p:bldP spid="21" grpId="0" animBg="1"/>
      <p:bldP spid="23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 0"/>
          <p:cNvSpPr/>
          <p:nvPr/>
        </p:nvSpPr>
        <p:spPr>
          <a:xfrm>
            <a:off x="320040" y="16452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Key terms (Result 1)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"/>
          <p:cNvSpPr/>
          <p:nvPr/>
        </p:nvSpPr>
        <p:spPr>
          <a:xfrm>
            <a:off x="457200" y="10515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Node / edge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a protein / a STRING interaction between two proteins.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2"/>
          <p:cNvSpPr/>
          <p:nvPr/>
        </p:nvSpPr>
        <p:spPr>
          <a:xfrm>
            <a:off x="457200" y="19659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Degree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many interactions a protein has (Sororin: 15/15 = hub).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Text 3"/>
          <p:cNvSpPr/>
          <p:nvPr/>
        </p:nvSpPr>
        <p:spPr>
          <a:xfrm>
            <a:off x="457200" y="28803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Density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fraction of all possible links present (0.89 = very tightly connected).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Text 4"/>
          <p:cNvSpPr/>
          <p:nvPr/>
        </p:nvSpPr>
        <p:spPr>
          <a:xfrm>
            <a:off x="457200" y="37947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Clustering coefficient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how interconnected a node's </a:t>
            </a:r>
            <a:r>
              <a:rPr lang="en-US" sz="12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neighbours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are (0.925).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5"/>
          <p:cNvSpPr/>
          <p:nvPr/>
        </p:nvSpPr>
        <p:spPr>
          <a:xfrm>
            <a:off x="457200" y="4709160"/>
            <a:ext cx="548604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Separase (ESPL1)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protease ('scissors') that cuts RAD21 to open the ring at anaphase.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6"/>
          <p:cNvSpPr/>
          <p:nvPr/>
        </p:nvSpPr>
        <p:spPr>
          <a:xfrm>
            <a:off x="6263640" y="10515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Substrate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the molecule an enzyme acts on (Sororin is an APC/C substrate = its target).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7"/>
          <p:cNvSpPr/>
          <p:nvPr/>
        </p:nvSpPr>
        <p:spPr>
          <a:xfrm>
            <a:off x="6263640" y="1965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Oncogenic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cancer-promoting (ERK2 via overactivity; SPOP is a tumour suppressor whose loss is oncogenic → both 'cancer-relevant').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8"/>
          <p:cNvSpPr/>
          <p:nvPr/>
        </p:nvSpPr>
        <p:spPr>
          <a:xfrm>
            <a:off x="6263640" y="310896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PPI enrichment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statistical test: is the set more interconnected than random? (here p &lt; 10⁻¹⁶).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9"/>
          <p:cNvSpPr/>
          <p:nvPr/>
        </p:nvSpPr>
        <p:spPr>
          <a:xfrm>
            <a:off x="6263640" y="41148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KEGG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database of curated pathway maps (e.g. 'Cell cycle', hsa04110).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Text 10"/>
          <p:cNvSpPr/>
          <p:nvPr/>
        </p:nvSpPr>
        <p:spPr>
          <a:xfrm>
            <a:off x="6263640" y="5029200"/>
            <a:ext cx="5577480" cy="868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FDR  </a:t>
            </a:r>
            <a:r>
              <a:rPr lang="en-US" sz="12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— false-discovery rate: significance corrected for testing many terms; lower = more reliable.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320040" y="128160"/>
            <a:ext cx="115210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How we measure disorder  —  UniProt · IUPred2 · ANCHOR2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20040" y="777240"/>
            <a:ext cx="3702960" cy="1828440"/>
          </a:xfrm>
          <a:prstGeom prst="roundRect">
            <a:avLst>
              <a:gd name="adj" fmla="val 2500"/>
            </a:avLst>
          </a:prstGeom>
          <a:solidFill>
            <a:srgbClr val="FCEBD0"/>
          </a:solidFill>
          <a:ln w="1651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UniProt — the annotation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(the orange bands)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Curated, experimentally-supported disordered-region annotations. For Sororin: three IDRs (1–48, 72–142, 199–222) plus the folded C-terminal Sororin domain (230–252). These fixed blocks are the 'ground truth' shaded on the disorder map.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4206240" y="777240"/>
            <a:ext cx="3702960" cy="1828440"/>
          </a:xfrm>
          <a:prstGeom prst="roundRect">
            <a:avLst>
              <a:gd name="adj" fmla="val 2500"/>
            </a:avLst>
          </a:prstGeom>
          <a:solidFill>
            <a:srgbClr val="F7DBDB"/>
          </a:solidFill>
          <a:ln w="16510">
            <a:solidFill>
              <a:srgbClr val="B218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B2182B"/>
                </a:solidFill>
                <a:effectLst/>
                <a:uFillTx/>
                <a:latin typeface="Calibri"/>
              </a:rPr>
              <a:t>IUPred2 — disorder prediction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</a:rPr>
              <a:t>(the red curve)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A per-residue score from 0 to 1; &gt; 0.5 = predicted disordered. 61.5% of Sororin scores above 0.5. Sequence-only and energy-based — no structure or homology needed.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8092440" y="777240"/>
            <a:ext cx="3748680" cy="1828440"/>
          </a:xfrm>
          <a:prstGeom prst="roundRect">
            <a:avLst>
              <a:gd name="adj" fmla="val 2500"/>
            </a:avLst>
          </a:prstGeom>
          <a:solidFill>
            <a:srgbClr val="DCE7F3"/>
          </a:solidFill>
          <a:ln w="1651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>
                <a:solidFill>
                  <a:srgbClr val="2166AC"/>
                </a:solidFill>
                <a:effectLst/>
                <a:uFillTx/>
                <a:latin typeface="Calibri"/>
              </a:rPr>
              <a:t>ANCHOR2 — disordered binding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i="1" u="none" strike="noStrike">
                <a:solidFill>
                  <a:srgbClr val="5A6B7B"/>
                </a:solidFill>
                <a:effectLst/>
                <a:uFillTx/>
                <a:latin typeface="Calibri"/>
              </a:rPr>
              <a:t>(the blue curve)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2C3E50"/>
                </a:solidFill>
                <a:effectLst/>
                <a:uFillTx/>
                <a:latin typeface="Calibri"/>
              </a:rPr>
              <a:t>Flags disordered stretches that can still bind a partner (fold-upon-binding) — 'binding-competent disorder.' It marks where the floppy chain actually does its interacting, not just where it is floppy.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320040" y="2788920"/>
            <a:ext cx="5806080" cy="2239920"/>
          </a:xfrm>
          <a:prstGeom prst="roundRect">
            <a:avLst>
              <a:gd name="adj" fmla="val 2041"/>
            </a:avLst>
          </a:prstGeom>
          <a:solidFill>
            <a:srgbClr val="F4F0F7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how IUPred2 works (reference):  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For each residue it estimates the 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stabilising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pairwise contact energy that residue could gain by folding into a compact structure, from a statistical 20×20 amino-acid energy matrix applied over the local sequence composition: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E(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 ≈  Σ over pairs (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a,b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 of  M(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a,b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· cₐ · </a:t>
            </a:r>
            <a:r>
              <a:rPr lang="en-US" sz="110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c_b</a:t>
            </a:r>
            <a:r>
              <a:rPr lang="en-US" sz="110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Residues that cannot gather enough 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stabilising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energy to fold are predicted disordered (high score). It is a mean-field energy estimate from sequence — the physics-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flavoured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part.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6355080" y="2788920"/>
            <a:ext cx="5486040" cy="2239920"/>
          </a:xfrm>
          <a:prstGeom prst="roundRect">
            <a:avLst>
              <a:gd name="adj" fmla="val 2041"/>
            </a:avLst>
          </a:prstGeom>
          <a:solidFill>
            <a:srgbClr val="F4F0F7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how ANCHOR2 works (reference):  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It asks a second energy question: a residue that cannot fold on its own — could it gain enough </a:t>
            </a:r>
            <a:r>
              <a:rPr lang="en-US" sz="10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favourable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energy by binding a generic globular partner? If yes, it is flagged as a disordered binding region.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disordered on its own  +  energetically </a:t>
            </a:r>
            <a:r>
              <a:rPr lang="en-US" sz="1050" b="1" i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favourable</a:t>
            </a:r>
            <a:r>
              <a:rPr lang="en-US" sz="1050" b="1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to bind  →  binding-competent disorder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This is how a floppy region that looks 'structureless' is still identified as a functional interaction site (e.g. the KEN box, the phospho-cluster).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6"/>
          <p:cNvSpPr/>
          <p:nvPr/>
        </p:nvSpPr>
        <p:spPr>
          <a:xfrm>
            <a:off x="320040" y="5257800"/>
            <a:ext cx="11521080" cy="1096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How obtained:  </a:t>
            </a:r>
            <a:r>
              <a:rPr lang="en-US" sz="1100" b="0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UniProt REST API (region annotations, script 01)  →  IUPred2A reference implementation + energy matrices, downloaded and run locally (script 03)  →  per-residue disorder + binding profile  →  the disorder map. 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build="allAtOnce" animBg="1"/>
      <p:bldP spid="14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Text 0"/>
          <p:cNvSpPr/>
          <p:nvPr/>
        </p:nvSpPr>
        <p:spPr>
          <a:xfrm>
            <a:off x="457200" y="182880"/>
            <a:ext cx="1124676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6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Seeing it: Sororin is mostly disordered</a:t>
            </a:r>
            <a:endParaRPr lang="en-US" sz="26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EFD8EA6D-D23F-825F-141B-CD8B7CDBCBAC}"/>
              </a:ext>
            </a:extLst>
          </p:cNvPr>
          <p:cNvGrpSpPr/>
          <p:nvPr/>
        </p:nvGrpSpPr>
        <p:grpSpPr>
          <a:xfrm>
            <a:off x="8321040" y="1083600"/>
            <a:ext cx="3382920" cy="4845960"/>
            <a:chOff x="548640" y="1234440"/>
            <a:chExt cx="3382920" cy="4845960"/>
          </a:xfrm>
        </p:grpSpPr>
        <p:pic>
          <p:nvPicPr>
            <p:cNvPr id="51" name="a_af" descr="/tmp/assets/af_crop.png"/>
            <p:cNvPicPr/>
            <p:nvPr/>
          </p:nvPicPr>
          <p:blipFill>
            <a:blip r:embed="rId3"/>
            <a:stretch/>
          </p:blipFill>
          <p:spPr>
            <a:xfrm>
              <a:off x="914400" y="1234440"/>
              <a:ext cx="2631960" cy="35658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2" name="Text 1"/>
            <p:cNvSpPr/>
            <p:nvPr/>
          </p:nvSpPr>
          <p:spPr>
            <a:xfrm>
              <a:off x="548640" y="4892040"/>
              <a:ext cx="3382920" cy="118836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200" b="0" u="none" strike="noStrike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AlphaFold 3D model — a floppy, extended chain with almost no fixed structure (one short helix = the folded C-terminus).</a:t>
              </a:r>
              <a:endPara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2" name="Group 1">
            <a:extLst>
              <a:ext uri="{FF2B5EF4-FFF2-40B4-BE49-F238E27FC236}">
                <a16:creationId xmlns:a16="http://schemas.microsoft.com/office/drawing/2014/main" id="{311E238E-9C79-74F0-97EE-7DDE6F755C51}"/>
              </a:ext>
            </a:extLst>
          </p:cNvPr>
          <p:cNvGrpSpPr/>
          <p:nvPr/>
        </p:nvGrpSpPr>
        <p:grpSpPr>
          <a:xfrm>
            <a:off x="548640" y="983160"/>
            <a:ext cx="7406280" cy="4891680"/>
            <a:chOff x="4297680" y="1371600"/>
            <a:chExt cx="7406280" cy="4891680"/>
          </a:xfrm>
        </p:grpSpPr>
        <p:pic>
          <p:nvPicPr>
            <p:cNvPr id="53" name="a_disorder" descr="/tmp/assets/disorder_crop.png"/>
            <p:cNvPicPr/>
            <p:nvPr/>
          </p:nvPicPr>
          <p:blipFill>
            <a:blip r:embed="rId4"/>
            <a:stretch/>
          </p:blipFill>
          <p:spPr>
            <a:xfrm>
              <a:off x="4297680" y="1371600"/>
              <a:ext cx="7406280" cy="40834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54" name="Text 2"/>
            <p:cNvSpPr/>
            <p:nvPr/>
          </p:nvSpPr>
          <p:spPr>
            <a:xfrm>
              <a:off x="4297680" y="5623560"/>
              <a:ext cx="7406280" cy="6397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150" b="0" i="1" u="none" strike="noStrike" dirty="0" err="1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IUPred</a:t>
              </a:r>
              <a:r>
                <a:rPr lang="en-US" sz="1150" b="0" i="1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 disorder profile: 61.5% disordered (red curve above 0.5). Only the C-terminal domain (aa 230–252) folds; the KEN box, FGF motif and Ser209 all sit in disordered regions.</a:t>
              </a:r>
              <a:endParaRPr lang="en-US" sz="115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55" name="a_key"/>
          <p:cNvSpPr/>
          <p:nvPr/>
        </p:nvSpPr>
        <p:spPr>
          <a:xfrm>
            <a:off x="534960" y="6098040"/>
            <a:ext cx="11091240" cy="411120"/>
          </a:xfrm>
          <a:prstGeom prst="roundRect">
            <a:avLst>
              <a:gd name="adj" fmla="val 11111"/>
            </a:avLst>
          </a:prstGeom>
          <a:solidFill>
            <a:srgbClr val="FCEBD0"/>
          </a:solidFill>
          <a:ln w="1270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Every binding handle and switch lives in these disordered regions  →  </a:t>
            </a:r>
            <a:r>
              <a:rPr lang="en-US" sz="13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Sororin is a “fuzzy hub.”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 additive="repl">
                                        <p:cTn id="17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320040" y="109800"/>
            <a:ext cx="1152108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The determinants sit in disorder — the numbers behind the map (Table 3)</a:t>
            </a:r>
            <a:endParaRPr lang="en-US" sz="2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516752" y="4998899"/>
            <a:ext cx="11155320" cy="1142640"/>
          </a:xfrm>
          <a:prstGeom prst="roundRect">
            <a:avLst>
              <a:gd name="adj" fmla="val 4800"/>
            </a:avLst>
          </a:prstGeom>
          <a:solidFill>
            <a:srgbClr val="FCEBD0"/>
          </a:solidFill>
          <a:ln w="1905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 dirty="0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Superimposing the experimentally-defined interaction determinants onto the disorder profile revealed that they lie — almost without exception — in </a:t>
            </a:r>
            <a:r>
              <a:rPr lang="en-US" sz="1900" b="1" u="none" strike="noStrike" dirty="0">
                <a:solidFill>
                  <a:srgbClr val="B9770E"/>
                </a:solidFill>
                <a:effectLst/>
                <a:uFillTx/>
                <a:latin typeface="Cambria"/>
                <a:ea typeface="Cambria"/>
              </a:rPr>
              <a:t>disordered segments.</a:t>
            </a:r>
            <a:endParaRPr lang="en-US" sz="1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" name="Table 0"/>
          <p:cNvGraphicFramePr/>
          <p:nvPr>
            <p:extLst>
              <p:ext uri="{D42A27DB-BD31-4B8C-83A1-F6EECF244321}">
                <p14:modId xmlns:p14="http://schemas.microsoft.com/office/powerpoint/2010/main" val="984274293"/>
              </p:ext>
            </p:extLst>
          </p:nvPr>
        </p:nvGraphicFramePr>
        <p:xfrm>
          <a:off x="502200" y="991632"/>
          <a:ext cx="11155680" cy="2174760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Determinant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Residues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Partner / role</a:t>
                      </a:r>
                      <a:endParaRPr lang="en-US" sz="12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Mean IUPred2 (% dis.)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Structural context</a:t>
                      </a:r>
                      <a:endParaRPr lang="en-US" sz="12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N-terminal IDR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1–48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loading / regulation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0.82  (100%)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KEN box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88–90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APC/C (degradation)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0.64  (100%)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Central IDR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phospho-cluster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0.70  (90%)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FGF motif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166–168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PDS5A/B (cohesion)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0.47  (33%)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SLiM / ordered dip in IDR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0E8F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Ser209 site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199–222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(phosphorylation)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0.71  (96%)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disordered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106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Sororin domain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230–252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cohesin core association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0.31  (0%)</a:t>
                      </a:r>
                      <a:endParaRPr lang="en-US" sz="12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20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folded</a:t>
                      </a:r>
                      <a:endParaRPr lang="en-US" sz="12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DCE7F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Text 2"/>
          <p:cNvSpPr/>
          <p:nvPr/>
        </p:nvSpPr>
        <p:spPr>
          <a:xfrm>
            <a:off x="502200" y="3337893"/>
            <a:ext cx="11155320" cy="70743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Only the C-terminal Sororin domain is folded (0.31, 0% disordered) — the </a:t>
            </a:r>
            <a:r>
              <a:rPr lang="en-US" sz="125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 anchor. Every other determinant sits in disorder.  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apparent exception — the FGF motif (0.47) — is a short-ordered</a:t>
            </a:r>
            <a:r>
              <a:rPr lang="en-US" sz="125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 dip inside disorder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: the classic 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hort-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Li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near-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M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otif (</a:t>
            </a:r>
            <a:r>
              <a:rPr lang="en-US" sz="1250" b="0" u="none" strike="noStrike" dirty="0">
                <a:solidFill>
                  <a:srgbClr val="00B050"/>
                </a:solidFill>
                <a:effectLst/>
                <a:uFillTx/>
                <a:latin typeface="Calibri"/>
                <a:ea typeface="Calibri"/>
              </a:rPr>
              <a:t>SLiM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) signature — it becomes structured locally only to grab PDS5, which </a:t>
            </a:r>
            <a:r>
              <a:rPr lang="en-US" sz="1250" b="1" i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supports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the fuzzy-hub picture rather than contradicting it.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516752" y="4216825"/>
            <a:ext cx="11155320" cy="548280"/>
          </a:xfrm>
          <a:prstGeom prst="roundRect">
            <a:avLst>
              <a:gd name="adj" fmla="val 8333"/>
            </a:avLst>
          </a:prstGeom>
          <a:solidFill>
            <a:srgbClr val="F7F7F7"/>
          </a:solidFill>
          <a:ln w="9525">
            <a:solidFill>
              <a:srgbClr val="5A6B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63360" tIns="63360" rIns="63360" bIns="63360" anchor="ctr">
            <a:noAutofit/>
          </a:bodyPr>
          <a:lstStyle/>
          <a:p>
            <a:pPr algn="ctr">
              <a:tabLst>
                <a:tab pos="0" algn="l"/>
              </a:tabLst>
            </a:pPr>
            <a:r>
              <a:rPr lang="en-US" sz="14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 </a:t>
            </a:r>
            <a:r>
              <a:rPr lang="en-US" sz="1400" dirty="0"/>
              <a:t>Sororin engages multiple partners through short linear motifs (SLiMs) embedded within intrinsically disordered regions </a:t>
            </a:r>
            <a:r>
              <a:rPr lang="en-US" sz="14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=  </a:t>
            </a:r>
            <a:r>
              <a:rPr lang="en-US" sz="14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a fuzzy interaction hub.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55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w*0.7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5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h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/>
      <p:bldP spid="12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12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FuzPred — does each region fold, or stay fuzzy, when it binds?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147AA6C-DB40-3ECD-9047-56D82D6FB141}"/>
              </a:ext>
            </a:extLst>
          </p:cNvPr>
          <p:cNvGrpSpPr>
            <a:grpSpLocks noChangeAspect="1"/>
          </p:cNvGrpSpPr>
          <p:nvPr/>
        </p:nvGrpSpPr>
        <p:grpSpPr>
          <a:xfrm>
            <a:off x="1689725" y="625078"/>
            <a:ext cx="8809373" cy="3628898"/>
            <a:chOff x="2326511" y="581220"/>
            <a:chExt cx="7040520" cy="2900244"/>
          </a:xfrm>
        </p:grpSpPr>
        <p:pic>
          <p:nvPicPr>
            <p:cNvPr id="9" name="Image 0" descr="/tmp/assets/fuzfig_crop.png"/>
            <p:cNvPicPr/>
            <p:nvPr/>
          </p:nvPicPr>
          <p:blipFill>
            <a:blip r:embed="rId3"/>
            <a:stretch/>
          </p:blipFill>
          <p:spPr>
            <a:xfrm>
              <a:off x="2326511" y="581220"/>
              <a:ext cx="7040520" cy="260460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0" name="Text 1"/>
            <p:cNvSpPr/>
            <p:nvPr/>
          </p:nvSpPr>
          <p:spPr>
            <a:xfrm>
              <a:off x="2326511" y="3262224"/>
              <a:ext cx="7040520" cy="219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850" b="0" i="1" u="none" strike="noStrike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Figure 4 (FuzPred): pDO blue · MBM green · region tracks · AlphaFold model</a:t>
              </a:r>
              <a:endParaRPr lang="en-US" sz="85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1" name="Text 2"/>
          <p:cNvSpPr/>
          <p:nvPr/>
        </p:nvSpPr>
        <p:spPr>
          <a:xfrm>
            <a:off x="540774" y="4460725"/>
            <a:ext cx="3611876" cy="2170548"/>
          </a:xfrm>
          <a:prstGeom prst="roundRect">
            <a:avLst>
              <a:gd name="adj" fmla="val 1724"/>
            </a:avLst>
          </a:prstGeom>
          <a:solidFill>
            <a:srgbClr val="DCEFDD"/>
          </a:solidFill>
          <a:ln w="1524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direct test of ‘fuzzy’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FuzPred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</a:t>
            </a: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Fuxreiter's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lab) predicts, per residue, whether a region folds on binding (</a:t>
            </a:r>
            <a:r>
              <a:rPr lang="en-US" sz="11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0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or stays fuzzy, and how many binding modes it can adopt (MBM).</a:t>
            </a: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median </a:t>
            </a:r>
            <a:r>
              <a:rPr lang="en-US" sz="1200" b="1" u="none" strike="noStrike" dirty="0" err="1">
                <a:solidFill>
                  <a:srgbClr val="1A7A34"/>
                </a:solidFill>
                <a:effectLst/>
                <a:uFillTx/>
                <a:latin typeface="Calibri"/>
              </a:rPr>
              <a:t>pDO</a:t>
            </a: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 0.40   ·   68% multi-mode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63% context-dependent   ·   only 25% fold-on-binding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50" b="1" u="none" strike="noStrike" dirty="0">
              <a:solidFill>
                <a:srgbClr val="B9770E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→ Sororin binds predominantly fuzzy &amp; multi-mode = a fuzzy hub, confirmed by her own method.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8036175" y="4454733"/>
            <a:ext cx="3611876" cy="2170548"/>
          </a:xfrm>
          <a:prstGeom prst="roundRect">
            <a:avLst>
              <a:gd name="adj" fmla="val 1493"/>
            </a:avLst>
          </a:prstGeom>
          <a:solidFill>
            <a:srgbClr val="F7F7F7"/>
          </a:solidFill>
          <a:ln w="12700">
            <a:solidFill>
              <a:srgbClr val="5A6B7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What each determinant does when it binds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FGF motif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0.34, MBM 0.70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→ stays fuzzy, multi-mode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Ser209 (ERK2)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0.33, MBM 0.80  </a:t>
            </a: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→ stays fuzzy, multi-mode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KEN box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0.87 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→ folds on binding (degron grabbed by a folded machine)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C-terminal domain —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0.66  </a:t>
            </a:r>
            <a:r>
              <a:rPr lang="en-US" sz="115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→ folds (the one folded element)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→ most sites bind fuzzy; only the KEN degron and the folded domain fold.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4288473" y="4457729"/>
            <a:ext cx="3611876" cy="2176540"/>
          </a:xfrm>
          <a:prstGeom prst="roundRect">
            <a:avLst>
              <a:gd name="adj" fmla="val 1493"/>
            </a:avLst>
          </a:prstGeom>
          <a:solidFill>
            <a:srgbClr val="F0E8F4"/>
          </a:solidFill>
          <a:ln w="1270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7080" tIns="127080" rIns="127080" bIns="1270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IUPred</a:t>
            </a: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vs </a:t>
            </a:r>
            <a:r>
              <a:rPr lang="en-US" sz="130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FuzPred</a:t>
            </a: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— two different questions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IUPred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asks:  </a:t>
            </a: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is this region disordered on its own (free)?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FuzPred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</a:t>
            </a:r>
            <a:r>
              <a:rPr lang="en-US" sz="1150" b="1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) asks:  </a:t>
            </a:r>
            <a:r>
              <a:rPr lang="en-US" sz="1150" b="0" i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when it binds, does it fold?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So the KEN box is disordered when free (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IUPred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0.64) but folds when bound (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pDO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0.87) — a disorder-to-order (fold-upon-binding) element. No contradiction.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50" b="1" u="none" strike="noStrike" dirty="0">
              <a:solidFill>
                <a:srgbClr val="762A83"/>
              </a:solidFill>
              <a:effectLst/>
              <a:uFillTx/>
              <a:latin typeface="Calibri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→ disorder = the free state; </a:t>
            </a:r>
            <a:r>
              <a:rPr lang="en-US" sz="1150" b="1" u="none" strike="noStrike" dirty="0" err="1">
                <a:solidFill>
                  <a:srgbClr val="762A83"/>
                </a:solidFill>
                <a:effectLst/>
                <a:uFillTx/>
                <a:latin typeface="Calibri"/>
              </a:rPr>
              <a:t>FuzPred</a:t>
            </a: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 = the binding mode. Sororin's disordered regions aren't all alike: most stay fuzzy, the KEN degron folds.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  <p:bldP spid="1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09800"/>
            <a:ext cx="11612520" cy="411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C3E50"/>
                </a:solidFill>
                <a:effectLst/>
                <a:uFillTx/>
                <a:latin typeface="Cambria"/>
                <a:ea typeface="Cambria"/>
              </a:rPr>
              <a:t>Result 3: regulation runs on the disordered chain — the switches flank the handles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1416864" y="668560"/>
            <a:ext cx="5531760" cy="273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7 proline-directed (S/T-P) phospho-sites  —  candidate CDK1 / ERK targets (Table 4)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0" name="Table 0"/>
          <p:cNvGraphicFramePr/>
          <p:nvPr>
            <p:extLst>
              <p:ext uri="{D42A27DB-BD31-4B8C-83A1-F6EECF244321}">
                <p14:modId xmlns:p14="http://schemas.microsoft.com/office/powerpoint/2010/main" val="1750642304"/>
              </p:ext>
            </p:extLst>
          </p:nvPr>
        </p:nvGraphicFramePr>
        <p:xfrm>
          <a:off x="951864" y="1059980"/>
          <a:ext cx="6461761" cy="3293800"/>
        </p:xfrm>
        <a:graphic>
          <a:graphicData uri="http://schemas.openxmlformats.org/drawingml/2006/table">
            <a:tbl>
              <a:tblPr/>
              <a:tblGrid>
                <a:gridCol w="12282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0785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235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0209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Site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S/T-P</a:t>
                      </a:r>
                      <a:endParaRPr lang="en-US" sz="105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Region</a:t>
                      </a:r>
                      <a:endParaRPr lang="en-US" sz="10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Role / kinase</a:t>
                      </a:r>
                      <a:endParaRPr lang="en-US" sz="105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2C3E5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1–48  (N-term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Ser75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Ser79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ERK/MAPK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Thr111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Thr115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72–142  (central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Thr159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linker (pre-FGF)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CDK1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CEBD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725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1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Ser209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SP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u="none" strike="noStrike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199–222  (C-term IDR)</a:t>
                      </a:r>
                      <a:endParaRPr lang="en-US" sz="10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050" b="0" i="1" u="none" strike="noStrike" dirty="0">
                          <a:solidFill>
                            <a:srgbClr val="2C3E5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ERK2 · lung cancer</a:t>
                      </a:r>
                      <a:endParaRPr lang="en-US" sz="105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ctr">
                    <a:lnL w="6480">
                      <a:solidFill>
                        <a:srgbClr val="CFCFCF"/>
                      </a:solidFill>
                      <a:prstDash val="solid"/>
                    </a:lnL>
                    <a:lnR w="6480">
                      <a:solidFill>
                        <a:srgbClr val="CFCFCF"/>
                      </a:solidFill>
                      <a:prstDash val="solid"/>
                    </a:lnR>
                    <a:lnT w="6480">
                      <a:solidFill>
                        <a:srgbClr val="CFCFCF"/>
                      </a:solidFill>
                      <a:prstDash val="solid"/>
                    </a:lnT>
                    <a:lnB w="6480">
                      <a:solidFill>
                        <a:srgbClr val="CFCFCF"/>
                      </a:solidFill>
                      <a:prstDash val="solid"/>
                    </a:lnB>
                    <a:solidFill>
                      <a:srgbClr val="F7DBD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Text 2"/>
          <p:cNvSpPr/>
          <p:nvPr/>
        </p:nvSpPr>
        <p:spPr>
          <a:xfrm>
            <a:off x="951864" y="4471240"/>
            <a:ext cx="6461760" cy="639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6 of 7 sit in the disordered regions;  </a:t>
            </a:r>
            <a:r>
              <a:rPr lang="en-US" sz="1050" b="1" u="none" strike="noStrike" dirty="0">
                <a:solidFill>
                  <a:srgbClr val="B9770E"/>
                </a:solidFill>
                <a:effectLst/>
                <a:uFillTx/>
                <a:latin typeface="Calibri"/>
                <a:ea typeface="Calibri"/>
              </a:rPr>
              <a:t>Thr159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is the one exception (the pre-FGF linker).  None is in the folded C-terminal domain.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3"/>
          <p:cNvSpPr/>
          <p:nvPr/>
        </p:nvSpPr>
        <p:spPr>
          <a:xfrm>
            <a:off x="8006080" y="1056860"/>
            <a:ext cx="3586120" cy="1122680"/>
          </a:xfrm>
          <a:prstGeom prst="roundRect">
            <a:avLst>
              <a:gd name="adj" fmla="val 3226"/>
            </a:avLst>
          </a:prstGeom>
          <a:solidFill>
            <a:srgbClr val="DCE7F3"/>
          </a:solidFill>
          <a:ln w="1397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2166AC"/>
                </a:solidFill>
                <a:effectLst/>
                <a:uFillTx/>
                <a:latin typeface="Calibri"/>
              </a:rPr>
              <a:t>The switches flank the handles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phospho-sites sit right next to the motifs they control:  central cluster (Ser75–Thr115) surrounds the KEN box · Thr159 abuts the FGF motif · Ser209 sits in the C-terminal IDR.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4"/>
          <p:cNvSpPr/>
          <p:nvPr/>
        </p:nvSpPr>
        <p:spPr>
          <a:xfrm>
            <a:off x="8006080" y="2421020"/>
            <a:ext cx="3586120" cy="1965600"/>
          </a:xfrm>
          <a:prstGeom prst="roundRect">
            <a:avLst>
              <a:gd name="adj" fmla="val 2326"/>
            </a:avLst>
          </a:prstGeom>
          <a:solidFill>
            <a:srgbClr val="FCEBD0"/>
          </a:solidFill>
          <a:ln w="13970">
            <a:solidFill>
              <a:srgbClr val="B9770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B9770E"/>
                </a:solidFill>
                <a:effectLst/>
                <a:uFillTx/>
                <a:latin typeface="Calibri"/>
              </a:rPr>
              <a:t>Why it matters — fuzzy switching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The FGF handle is a short motif floating in a disordered, heavily-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phosphorylatable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stretch. So CDK1 (assisted by Aurora B) switches the Sororin–PDS5 grip </a:t>
            </a:r>
            <a:r>
              <a:rPr lang="en-US" sz="1150" b="1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OFF just by tagging the nearby chain — no need to disrupt a folded domain.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 That charge-based, no-fold switch is only possible because the region is disordered = a fuzzy complex.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5"/>
          <p:cNvSpPr/>
          <p:nvPr/>
        </p:nvSpPr>
        <p:spPr>
          <a:xfrm>
            <a:off x="5994612" y="4986660"/>
            <a:ext cx="5851800" cy="1122320"/>
          </a:xfrm>
          <a:prstGeom prst="roundRect">
            <a:avLst>
              <a:gd name="adj" fmla="val 2174"/>
            </a:avLst>
          </a:prstGeom>
          <a:solidFill>
            <a:srgbClr val="F0E8F4"/>
          </a:solidFill>
          <a:ln w="1397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Same disordered scaffold in cancer</a:t>
            </a:r>
            <a:endParaRPr lang="en-US" sz="13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ERK2 → Ser209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(lung) — one of the most exposed positions;  </a:t>
            </a: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SPOP degron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(prostate) — a short motif that works only in accessible, disordered sequence.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762A83"/>
                </a:solidFill>
                <a:effectLst/>
                <a:uFillTx/>
                <a:latin typeface="Calibri"/>
              </a:rPr>
              <a:t>→ mitotic inactivation, oncogenic ERK phosphorylation and SPOP turnover are all concentrated on the disordered regions.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6"/>
          <p:cNvSpPr/>
          <p:nvPr/>
        </p:nvSpPr>
        <p:spPr>
          <a:xfrm>
            <a:off x="375920" y="4986660"/>
            <a:ext cx="5531760" cy="1122320"/>
          </a:xfrm>
          <a:prstGeom prst="roundRect">
            <a:avLst>
              <a:gd name="adj" fmla="val 2381"/>
            </a:avLst>
          </a:prstGeom>
          <a:solidFill>
            <a:srgbClr val="DCEFDD"/>
          </a:solidFill>
          <a:ln w="1397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14480" tIns="114480" rIns="114480" bIns="11448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 dirty="0">
                <a:solidFill>
                  <a:srgbClr val="1A7A34"/>
                </a:solidFill>
                <a:effectLst/>
                <a:uFillTx/>
                <a:latin typeface="Calibri"/>
              </a:rPr>
              <a:t>The mitotic switch this drives:  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CDK1 (+ Aurora B) phosphorylates Sororin  →  it lets go of PDS5  →  WAPL takes the seat  →  </a:t>
            </a:r>
            <a:r>
              <a:rPr lang="en-US" sz="115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</a:rPr>
              <a:t>cohesin</a:t>
            </a:r>
            <a:r>
              <a:rPr lang="en-US" sz="11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 ring opens  →  sisters separate.</a:t>
            </a:r>
            <a:endParaRPr lang="en-US" sz="11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i="1" u="none" strike="noStrike" dirty="0">
                <a:solidFill>
                  <a:srgbClr val="5A6B7B"/>
                </a:solidFill>
                <a:effectLst/>
                <a:uFillTx/>
                <a:latin typeface="Calibri"/>
              </a:rPr>
              <a:t>Reversible: a phosphatase can strip the tag back off (unlike degron destruction, which is permanent).</a:t>
            </a:r>
            <a:endParaRPr lang="en-US" sz="10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ELM crosscheck footer"/>
          <p:cNvSpPr/>
          <p:nvPr/>
        </p:nvSpPr>
        <p:spPr>
          <a:xfrm>
            <a:off x="342412" y="6226860"/>
            <a:ext cx="11504000" cy="515000"/>
          </a:xfrm>
          <a:prstGeom prst="roundRect">
            <a:avLst>
              <a:gd name="adj" fmla="val 4200"/>
            </a:avLst>
          </a:prstGeom>
          <a:solidFill>
            <a:srgbClr val="E7F1F3"/>
          </a:solidFill>
          <a:ln w="13970">
            <a:solidFill>
              <a:srgbClr val="2E809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0440" tIns="54000" rIns="100440" bIns="36000" anchor="ctr">
            <a:noAutofit/>
          </a:bodyPr>
          <a:lstStyle/>
          <a:p>
            <a:pPr defTabSz="914400">
              <a:lnSpc>
                <a:spcPct val="102000"/>
              </a:lnSpc>
              <a:tabLst>
                <a:tab pos="0" algn="l"/>
              </a:tabLst>
            </a:pPr>
            <a:r>
              <a:rPr lang="en-US" sz="1050" b="1" u="none" strike="noStrike" dirty="0">
                <a:solidFill>
                  <a:srgbClr val="1F6F7A"/>
                </a:solidFill>
                <a:effectLst/>
                <a:uFillTx/>
                <a:latin typeface="Calibri"/>
              </a:rPr>
              <a:t>Cross-check — short linear motifs (paper §3.4):  </a:t>
            </a:r>
            <a:r>
              <a:rPr lang="en-US" sz="1050" b="0" u="none" strike="noStrike" dirty="0">
                <a:solidFill>
                  <a:srgbClr val="2C3E50"/>
                </a:solidFill>
                <a:effectLst/>
                <a:uFillTx/>
                <a:latin typeface="Calibri"/>
              </a:rPr>
              <a:t>an independent ELM scan of the raw sequence recovers this very same CDK1 cluster — nine proline-directed (S/T-P) motifs — and re-finds the KEN box, so the phospho-sites are confirmed by a second, pattern-based method (it also flags candidate SPOP degrons).</a:t>
            </a:r>
            <a:endParaRPr lang="en-US" sz="1050" b="0" dirty="0">
              <a:solidFill>
                <a:srgbClr val="000000"/>
              </a:solidFill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1" grpId="0"/>
      <p:bldP spid="12" grpId="0" animBg="1"/>
      <p:bldP spid="13" grpId="0" animBg="1"/>
      <p:bldP spid="14" grpId="0" animBg="1"/>
      <p:bldP spid="15" grpId="0" animBg="1"/>
      <p:bldP spid="40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91440"/>
            <a:ext cx="11639880" cy="502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Result 4 - robustness: two more methods, one architecture (the disorder is not an artifact of analysis method)</a:t>
            </a: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20040" y="713160"/>
            <a:ext cx="3401280" cy="1481040"/>
          </a:xfrm>
          <a:prstGeom prst="roundRect">
            <a:avLst>
              <a:gd name="adj" fmla="val 3704"/>
            </a:avLst>
          </a:prstGeom>
          <a:solidFill>
            <a:srgbClr val="DBE9F5"/>
          </a:solidFill>
          <a:ln w="1905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IUPred2 + ANCHOR2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85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disorder predictor - our §3.2 baseline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61.5%</a:t>
            </a:r>
            <a:endParaRPr lang="en-US" sz="3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of residues disordered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675960" y="1033200"/>
            <a:ext cx="566640" cy="822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0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≈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within 2.4%</a:t>
            </a:r>
            <a:endParaRPr lang="en-US" sz="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4233600" y="713160"/>
            <a:ext cx="3401280" cy="1481040"/>
          </a:xfrm>
          <a:prstGeom prst="roundRect">
            <a:avLst>
              <a:gd name="adj" fmla="val 3704"/>
            </a:avLst>
          </a:prstGeom>
          <a:solidFill>
            <a:srgbClr val="E3F2F4"/>
          </a:solidFill>
          <a:ln w="19050">
            <a:solidFill>
              <a:srgbClr val="2E809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DISOPRED3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85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second disorder predictor - different algorithm</a:t>
            </a:r>
            <a:endParaRPr lang="en-US" sz="8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30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63.9%</a:t>
            </a:r>
            <a:endParaRPr lang="en-US" sz="3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9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of residues disordered</a:t>
            </a:r>
            <a:endParaRPr lang="en-US" sz="9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8138160" y="713160"/>
            <a:ext cx="3730320" cy="1481040"/>
          </a:xfrm>
          <a:prstGeom prst="roundRect">
            <a:avLst>
              <a:gd name="adj" fmla="val 3704"/>
            </a:avLst>
          </a:prstGeom>
          <a:solidFill>
            <a:srgbClr val="F1E7F3"/>
          </a:solidFill>
          <a:ln w="19050">
            <a:solidFill>
              <a:srgbClr val="8E5AA0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PSIPRED 4.0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850" b="0" i="1" u="none" strike="noStrike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secondary structure - a different axis (helix / strand / coil)</a:t>
            </a:r>
            <a:endParaRPr lang="en-US" sz="8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2600" b="1" u="none" strike="noStrike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78.2% coil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98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18.7% helix  ·  3.2% strand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320040" y="2286000"/>
            <a:ext cx="11548440" cy="840960"/>
          </a:xfrm>
          <a:prstGeom prst="roundRect">
            <a:avLst>
              <a:gd name="adj" fmla="val 5435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All three converge on one ordered element  →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C-terminal Sororin domain (230-252): 83% ordered secondary structure, 70% helix, 0% disordered.  </a:t>
            </a:r>
            <a:r>
              <a:rPr lang="en-US" sz="125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rest of the chain is coil and disordered.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E2C5F58E-9504-622B-C70F-B7F63185FB1D}"/>
              </a:ext>
            </a:extLst>
          </p:cNvPr>
          <p:cNvGrpSpPr/>
          <p:nvPr/>
        </p:nvGrpSpPr>
        <p:grpSpPr>
          <a:xfrm>
            <a:off x="320040" y="3291840"/>
            <a:ext cx="6858000" cy="3035880"/>
            <a:chOff x="320040" y="3291840"/>
            <a:chExt cx="6858000" cy="3035880"/>
          </a:xfrm>
        </p:grpSpPr>
        <p:sp>
          <p:nvSpPr>
            <p:cNvPr id="14" name="Text 6"/>
            <p:cNvSpPr/>
            <p:nvPr/>
          </p:nvSpPr>
          <p:spPr>
            <a:xfrm>
              <a:off x="320040" y="3291840"/>
              <a:ext cx="6857640" cy="255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000" b="1" u="none" strike="noStrike" dirty="0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PSIPRED secondary structure &amp; DISOPRED3 disorder, per region (Table 6)</a:t>
              </a:r>
              <a:endParaRPr lang="en-US" sz="10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graphicFrame>
          <p:nvGraphicFramePr>
            <p:cNvPr id="15" name="Table 0"/>
            <p:cNvGraphicFramePr/>
            <p:nvPr>
              <p:extLst>
                <p:ext uri="{D42A27DB-BD31-4B8C-83A1-F6EECF244321}">
                  <p14:modId xmlns:p14="http://schemas.microsoft.com/office/powerpoint/2010/main" val="3623137487"/>
                </p:ext>
              </p:extLst>
            </p:nvPr>
          </p:nvGraphicFramePr>
          <p:xfrm>
            <a:off x="320040" y="3584520"/>
            <a:ext cx="6858000" cy="2743200"/>
          </p:xfrm>
          <a:graphic>
            <a:graphicData uri="http://schemas.openxmlformats.org/drawingml/2006/table">
              <a:tbl>
                <a:tblPr/>
                <a:tblGrid>
                  <a:gridCol w="2331720">
                    <a:extLst>
                      <a:ext uri="{9D8B030D-6E8A-4147-A177-3AD203B41FA5}">
                        <a16:colId xmlns:a16="http://schemas.microsoft.com/office/drawing/2014/main" val="20000"/>
                      </a:ext>
                    </a:extLst>
                  </a:gridCol>
                  <a:gridCol w="1051560">
                    <a:extLst>
                      <a:ext uri="{9D8B030D-6E8A-4147-A177-3AD203B41FA5}">
                        <a16:colId xmlns:a16="http://schemas.microsoft.com/office/drawing/2014/main" val="20001"/>
                      </a:ext>
                    </a:extLst>
                  </a:gridCol>
                  <a:gridCol w="868680">
                    <a:extLst>
                      <a:ext uri="{9D8B030D-6E8A-4147-A177-3AD203B41FA5}">
                        <a16:colId xmlns:a16="http://schemas.microsoft.com/office/drawing/2014/main" val="20002"/>
                      </a:ext>
                    </a:extLst>
                  </a:gridCol>
                  <a:gridCol w="868680">
                    <a:extLst>
                      <a:ext uri="{9D8B030D-6E8A-4147-A177-3AD203B41FA5}">
                        <a16:colId xmlns:a16="http://schemas.microsoft.com/office/drawing/2014/main" val="20003"/>
                      </a:ext>
                    </a:extLst>
                  </a:gridCol>
                  <a:gridCol w="868680">
                    <a:extLst>
                      <a:ext uri="{9D8B030D-6E8A-4147-A177-3AD203B41FA5}">
                        <a16:colId xmlns:a16="http://schemas.microsoft.com/office/drawing/2014/main" val="20004"/>
                      </a:ext>
                    </a:extLst>
                  </a:gridCol>
                  <a:gridCol w="868680">
                    <a:extLst>
                      <a:ext uri="{9D8B030D-6E8A-4147-A177-3AD203B41FA5}">
                        <a16:colId xmlns:a16="http://schemas.microsoft.com/office/drawing/2014/main" val="20005"/>
                      </a:ext>
                    </a:extLst>
                  </a:gridCol>
                </a:tblGrid>
                <a:tr h="274320"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Region</a:t>
                        </a:r>
                        <a:endPara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Residues</a:t>
                        </a:r>
                        <a:endPara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% helix</a:t>
                        </a:r>
                        <a:endPara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% strand</a:t>
                        </a:r>
                        <a:endPara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% coil</a:t>
                        </a:r>
                        <a:endPara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FFFFFF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% dis.</a:t>
                        </a:r>
                        <a:endParaRPr lang="en-US" sz="900" b="0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2C3E50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0"/>
                    </a:ext>
                  </a:extLst>
                </a:tr>
                <a:tr h="27432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N-terminal IDR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1-48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1"/>
                    </a:ext>
                  </a:extLst>
                </a:tr>
                <a:tr h="27432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Central IDR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 dirty="0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72-142</a:t>
                        </a:r>
                        <a:endParaRPr lang="en-US" sz="9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21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79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85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2"/>
                    </a:ext>
                  </a:extLst>
                </a:tr>
                <a:tr h="27432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C-terminal IDR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199-222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92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46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3"/>
                    </a:ext>
                  </a:extLst>
                </a:tr>
                <a:tr h="27432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KEN box (APC/C)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88-90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4"/>
                    </a:ext>
                  </a:extLst>
                </a:tr>
                <a:tr h="27432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MAPK docking (ERK2)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77-84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12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88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5"/>
                    </a:ext>
                  </a:extLst>
                </a:tr>
                <a:tr h="27432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SPOP degron 1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122-126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6"/>
                    </a:ext>
                  </a:extLst>
                </a:tr>
                <a:tr h="27432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FGF motif (PDS5)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166-168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B23A1E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FBE4DC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7"/>
                    </a:ext>
                  </a:extLst>
                </a:tr>
                <a:tr h="27432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PLK1 motif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201-207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100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C3E50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noFill/>
                    </a:tcPr>
                  </a:tc>
                  <a:extLst>
                    <a:ext uri="{0D108BD9-81ED-4DB2-BD59-A6C34878D82A}">
                      <a16:rowId xmlns:a16="http://schemas.microsoft.com/office/drawing/2014/main" val="10008"/>
                    </a:ext>
                  </a:extLst>
                </a:tr>
                <a:tr h="274320">
                  <a:tc>
                    <a:txBody>
                      <a:bodyPr/>
                      <a:lstStyle/>
                      <a:p>
                        <a:pPr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 dirty="0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Sororin domain</a:t>
                        </a:r>
                        <a:endParaRPr lang="en-US" sz="9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230-252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70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0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13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17</a:t>
                        </a:r>
                        <a:endParaRPr lang="en-US" sz="9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tc>
                    <a:txBody>
                      <a:bodyPr/>
                      <a:lstStyle/>
                      <a:p>
                        <a:pPr algn="ctr" defTabSz="914400">
                          <a:lnSpc>
                            <a:spcPct val="100000"/>
                          </a:lnSpc>
                          <a:tabLst>
                            <a:tab pos="0" algn="l"/>
                          </a:tabLst>
                        </a:pPr>
                        <a:r>
                          <a:rPr lang="en-US" sz="900" b="1" u="none" strike="noStrike" dirty="0">
                            <a:solidFill>
                              <a:srgbClr val="2166AC"/>
                            </a:solidFill>
                            <a:effectLst/>
                            <a:uFillTx/>
                            <a:latin typeface="Calibri"/>
                            <a:ea typeface="Calibri"/>
                          </a:rPr>
                          <a:t>0</a:t>
                        </a:r>
                        <a:endParaRPr lang="en-US" sz="9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Arial"/>
                        </a:endParaRPr>
                      </a:p>
                    </a:txBody>
                    <a:tcPr anchor="ctr">
                      <a:lnL w="6480">
                        <a:solidFill>
                          <a:srgbClr val="CBD5DD"/>
                        </a:solidFill>
                        <a:prstDash val="solid"/>
                      </a:lnL>
                      <a:lnR w="6480">
                        <a:solidFill>
                          <a:srgbClr val="CBD5DD"/>
                        </a:solidFill>
                        <a:prstDash val="solid"/>
                      </a:lnR>
                      <a:lnT w="6480">
                        <a:solidFill>
                          <a:srgbClr val="CBD5DD"/>
                        </a:solidFill>
                        <a:prstDash val="solid"/>
                      </a:lnT>
                      <a:lnB w="6480">
                        <a:solidFill>
                          <a:srgbClr val="CBD5DD"/>
                        </a:solidFill>
                        <a:prstDash val="solid"/>
                      </a:lnB>
                      <a:solidFill>
                        <a:srgbClr val="D6E4F5"/>
                      </a:solidFill>
                    </a:tcPr>
                  </a:tc>
                  <a:extLst>
                    <a:ext uri="{0D108BD9-81ED-4DB2-BD59-A6C34878D82A}">
                      <a16:rowId xmlns:a16="http://schemas.microsoft.com/office/drawing/2014/main" val="10009"/>
                    </a:ext>
                  </a:extLst>
                </a:tr>
              </a:tbl>
            </a:graphicData>
          </a:graphic>
        </p:graphicFrame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0722C7F3-63D2-BB09-5532-8366BB652B30}"/>
              </a:ext>
            </a:extLst>
          </p:cNvPr>
          <p:cNvGrpSpPr/>
          <p:nvPr/>
        </p:nvGrpSpPr>
        <p:grpSpPr>
          <a:xfrm>
            <a:off x="7315200" y="3246120"/>
            <a:ext cx="4571640" cy="2459700"/>
            <a:chOff x="7315200" y="3246120"/>
            <a:chExt cx="4571640" cy="2459700"/>
          </a:xfrm>
        </p:grpSpPr>
        <p:sp>
          <p:nvSpPr>
            <p:cNvPr id="16" name="Text 7"/>
            <p:cNvSpPr/>
            <p:nvPr/>
          </p:nvSpPr>
          <p:spPr>
            <a:xfrm>
              <a:off x="7315200" y="3246120"/>
              <a:ext cx="4571640" cy="237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1100" b="1" u="none" strike="noStrike">
                  <a:solidFill>
                    <a:srgbClr val="2C3E50"/>
                  </a:solidFill>
                  <a:effectLst/>
                  <a:uFillTx/>
                  <a:latin typeface="Calibri"/>
                  <a:ea typeface="Calibri"/>
                </a:rPr>
                <a:t>What PSIPRED labels — helix / strand / coil</a:t>
              </a:r>
              <a:endParaRPr lang="en-US" sz="11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pic>
          <p:nvPicPr>
            <p:cNvPr id="17" name="Image 0" descr="/tmp/helix_illus.png"/>
            <p:cNvPicPr>
              <a:picLocks noChangeAspect="1"/>
            </p:cNvPicPr>
            <p:nvPr/>
          </p:nvPicPr>
          <p:blipFill>
            <a:blip r:embed="rId2"/>
            <a:stretch/>
          </p:blipFill>
          <p:spPr>
            <a:xfrm>
              <a:off x="7945026" y="3547440"/>
              <a:ext cx="3487661" cy="203556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18" name="Text 8"/>
            <p:cNvSpPr/>
            <p:nvPr/>
          </p:nvSpPr>
          <p:spPr>
            <a:xfrm>
              <a:off x="7945025" y="5583000"/>
              <a:ext cx="3487661" cy="122820"/>
            </a:xfrm>
            <a:prstGeom prst="rect">
              <a:avLst/>
            </a:prstGeom>
            <a:noFill/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90000" tIns="45000" rIns="90000" bIns="45000" anchor="ctr">
              <a:noAutofit/>
            </a:bodyPr>
            <a:lstStyle/>
            <a:p>
              <a:pPr algn="ctr" defTabSz="914400">
                <a:lnSpc>
                  <a:spcPct val="100000"/>
                </a:lnSpc>
                <a:tabLst>
                  <a:tab pos="0" algn="l"/>
                </a:tabLst>
              </a:pPr>
              <a:r>
                <a:rPr lang="en-US" sz="700" b="0" i="1" u="none" strike="noStrike" dirty="0">
                  <a:solidFill>
                    <a:srgbClr val="5A6B7B"/>
                  </a:solidFill>
                  <a:effectLst/>
                  <a:uFillTx/>
                  <a:latin typeface="Calibri"/>
                  <a:ea typeface="Calibri"/>
                </a:rPr>
                <a:t>Illustration: Molecules 2024, DOI 10.3390/molecules30010128</a:t>
              </a:r>
              <a:endParaRPr lang="en-US" sz="700" b="0" u="none" strike="noStrike" dirty="0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9" name="Text 9"/>
          <p:cNvSpPr/>
          <p:nvPr/>
        </p:nvSpPr>
        <p:spPr>
          <a:xfrm>
            <a:off x="7577328" y="5803896"/>
            <a:ext cx="4059936" cy="770784"/>
          </a:xfrm>
          <a:prstGeom prst="roundRect">
            <a:avLst>
              <a:gd name="adj" fmla="val 5556"/>
            </a:avLst>
          </a:prstGeom>
          <a:solidFill>
            <a:srgbClr val="FBEFD6"/>
          </a:solidFill>
          <a:ln w="19050">
            <a:solidFill>
              <a:srgbClr val="D19A2E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98000"/>
              </a:lnSpc>
              <a:tabLst>
                <a:tab pos="0" algn="l"/>
              </a:tabLst>
            </a:pPr>
            <a:r>
              <a:rPr lang="en-US" sz="900" b="1" u="none" strike="noStrike" dirty="0">
                <a:solidFill>
                  <a:srgbClr val="B8760A"/>
                </a:solidFill>
                <a:effectLst/>
                <a:uFillTx/>
                <a:latin typeface="Calibri"/>
                <a:ea typeface="Calibri"/>
              </a:rPr>
              <a:t>coil ≠ disordered.  </a:t>
            </a:r>
            <a:r>
              <a:rPr lang="en-US" sz="9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“Coil” only means not helix/strand — a coil can still be ordered. Two different axes (shape vs. disorder) agreeing is what makes the result method-independent. Telling exception: the </a:t>
            </a:r>
            <a:r>
              <a:rPr lang="en-US" sz="900" b="1" u="none" strike="noStrike" dirty="0">
                <a:solidFill>
                  <a:srgbClr val="B23A1E"/>
                </a:solidFill>
                <a:effectLst/>
                <a:uFillTx/>
                <a:latin typeface="Calibri"/>
                <a:ea typeface="Calibri"/>
              </a:rPr>
              <a:t>FGF motif is 100% coil yet 0% disorder</a:t>
            </a:r>
            <a:r>
              <a:rPr lang="en-US" sz="9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— a local ordered dip (a SLiM).</a:t>
            </a:r>
            <a:endParaRPr lang="en-US" sz="9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4" dur="10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4" dur="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/>
      <p:bldP spid="11" grpId="0" animBg="1"/>
      <p:bldP spid="12" grpId="0" animBg="1"/>
      <p:bldP spid="13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0"/>
          <p:cNvSpPr/>
          <p:nvPr/>
        </p:nvSpPr>
        <p:spPr>
          <a:xfrm>
            <a:off x="274320" y="109800"/>
            <a:ext cx="116398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Conclusion: Sororin is a fuzzy cohesin hub — a switchboard built on disorder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1"/>
          <p:cNvSpPr/>
          <p:nvPr/>
        </p:nvSpPr>
        <p:spPr>
          <a:xfrm>
            <a:off x="320040" y="658440"/>
            <a:ext cx="11548440" cy="840960"/>
          </a:xfrm>
          <a:prstGeom prst="roundRect">
            <a:avLst>
              <a:gd name="adj" fmla="val 5435"/>
            </a:avLst>
          </a:prstGeom>
          <a:solidFill>
            <a:srgbClr val="2C3E5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 dirty="0">
                <a:solidFill>
                  <a:srgbClr val="D6E3EE"/>
                </a:solidFill>
                <a:effectLst/>
                <a:uFillTx/>
                <a:latin typeface="Calibri"/>
                <a:ea typeface="Calibri"/>
              </a:rPr>
              <a:t>Does Sororin engage its partners through folded domains or through disorder?   </a:t>
            </a:r>
            <a:r>
              <a:rPr lang="en-US" sz="125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→  It is built on disorder.  </a:t>
            </a:r>
            <a:r>
              <a:rPr lang="en-US" sz="1250" b="0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Where a partner-specific claim can be made at all, it is a short linear motif embedded in that disorder — not disorder in the abstract — that explains the edge.</a:t>
            </a:r>
            <a:endParaRPr lang="en-US" sz="125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320040" y="1627560"/>
            <a:ext cx="2788560" cy="2084400"/>
          </a:xfrm>
          <a:prstGeom prst="roundRect">
            <a:avLst>
              <a:gd name="adj" fmla="val 2193"/>
            </a:avLst>
          </a:prstGeom>
          <a:solidFill>
            <a:srgbClr val="E3F2F4"/>
          </a:solidFill>
          <a:ln w="19050">
            <a:solidFill>
              <a:srgbClr val="1F6F7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r>
              <a:rPr lang="en-US" sz="11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Result 1 · Network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 small, high-confidence hub of a dense </a:t>
            </a:r>
            <a:r>
              <a:rPr lang="en-US" sz="1000" b="0" u="none" strike="noStrike" dirty="0" err="1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cohesin</a:t>
            </a:r>
            <a:r>
              <a:rPr lang="en-US" sz="10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 module (density 0.89) — and itself ~62% intrinsically disordered.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3"/>
          <p:cNvSpPr/>
          <p:nvPr/>
        </p:nvSpPr>
        <p:spPr>
          <a:xfrm>
            <a:off x="3246120" y="1627560"/>
            <a:ext cx="2788560" cy="2084400"/>
          </a:xfrm>
          <a:prstGeom prst="roundRect">
            <a:avLst>
              <a:gd name="adj" fmla="val 2193"/>
            </a:avLst>
          </a:prstGeom>
          <a:solidFill>
            <a:srgbClr val="FBEAD9"/>
          </a:solidFill>
          <a:ln w="19050">
            <a:solidFill>
              <a:srgbClr val="C0601F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r>
              <a:rPr lang="en-US" sz="1100" b="1" u="none" strike="noStrike" dirty="0">
                <a:solidFill>
                  <a:srgbClr val="C0601F"/>
                </a:solidFill>
                <a:effectLst/>
                <a:uFillTx/>
                <a:latin typeface="Calibri"/>
                <a:ea typeface="Calibri"/>
              </a:rPr>
              <a:t>Result 2 · Disorder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APC/C (KEN), PDS5 (FGF) and ERK2 (Ser209) determinants all sit in disordered segments; only the short C-terminal domain is folded.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Text 4"/>
          <p:cNvSpPr/>
          <p:nvPr/>
        </p:nvSpPr>
        <p:spPr>
          <a:xfrm>
            <a:off x="6172200" y="1627560"/>
            <a:ext cx="2788560" cy="2084400"/>
          </a:xfrm>
          <a:prstGeom prst="roundRect">
            <a:avLst>
              <a:gd name="adj" fmla="val 2193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r>
              <a:rPr lang="en-US" sz="11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Result 3 · </a:t>
            </a:r>
            <a:r>
              <a:rPr lang="en-US" sz="1100" b="1" u="none" strike="noStrike" dirty="0" err="1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Phospho</a:t>
            </a: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Seven proline-directed phospho-sites lie outside the folded domain — in the disordered regions and linker flanking those determinants.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9098280" y="1627560"/>
            <a:ext cx="2788560" cy="2084400"/>
          </a:xfrm>
          <a:prstGeom prst="roundRect">
            <a:avLst>
              <a:gd name="adj" fmla="val 2193"/>
            </a:avLst>
          </a:prstGeom>
          <a:solidFill>
            <a:srgbClr val="F1E7F3"/>
          </a:solidFill>
          <a:ln w="1905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01520" tIns="101520" rIns="101520" bIns="101520" anchor="t">
            <a:noAutofit/>
          </a:bodyPr>
          <a:lstStyle/>
          <a:p>
            <a:r>
              <a:rPr lang="en-US" sz="1100" b="1" u="none" strike="noStrike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§3.4 · Linear motifs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ELM anchors 4 of 5 partners (APC/C, SPOP, ERK2, PLK1) to a specific short motif — predominantly, not exclusively, within disorder.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6"/>
          <p:cNvSpPr/>
          <p:nvPr/>
        </p:nvSpPr>
        <p:spPr>
          <a:xfrm>
            <a:off x="320040" y="3877200"/>
            <a:ext cx="11548440" cy="1371240"/>
          </a:xfrm>
          <a:prstGeom prst="roundRect">
            <a:avLst>
              <a:gd name="adj" fmla="val 3333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52280" tIns="152280" rIns="152280" bIns="152280" anchor="ctr">
            <a:noAutofit/>
          </a:bodyPr>
          <a:lstStyle/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The model — a fuzzy Cohesin hub.  </a:t>
            </a: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 mostly disordered chain displays a set of short linear motifs (KEN degron · FGF motif · two SPOP degrons · MAPK docking) interleaved with proline-directed phospho-sites, so kinases and ubiquitin ligases switch individual contacts on and off </a:t>
            </a:r>
            <a:r>
              <a:rPr lang="en-US" sz="120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without re</a:t>
            </a:r>
            <a:r>
              <a:rPr lang="en-US" sz="1200" b="1" dirty="0">
                <a:solidFill>
                  <a:srgbClr val="2C3E50"/>
                </a:solidFill>
                <a:latin typeface="Calibri"/>
                <a:ea typeface="Calibri"/>
              </a:rPr>
              <a:t>-</a:t>
            </a:r>
            <a:r>
              <a:rPr lang="en-US" sz="1200" b="1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modelling a folded core</a:t>
            </a: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.  The disorder is what makes Sororin an efficient, multiply-regulated switchboard for </a:t>
            </a:r>
            <a:r>
              <a:rPr lang="en-US" sz="1200" dirty="0">
                <a:solidFill>
                  <a:srgbClr val="2C3E50"/>
                </a:solidFill>
                <a:latin typeface="Calibri"/>
                <a:ea typeface="Calibri"/>
              </a:rPr>
              <a:t>C</a:t>
            </a: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ohesin.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7"/>
          <p:cNvSpPr/>
          <p:nvPr/>
        </p:nvSpPr>
        <p:spPr>
          <a:xfrm>
            <a:off x="320040" y="5440680"/>
            <a:ext cx="11548440" cy="776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Consistent with known biology:  </a:t>
            </a:r>
            <a:r>
              <a:rPr lang="en-US" sz="1000" b="0" i="1" u="none" strike="noStrike" dirty="0">
                <a:solidFill>
                  <a:srgbClr val="5A6B7B"/>
                </a:solidFill>
                <a:effectLst/>
                <a:uFillTx/>
                <a:latin typeface="Calibri"/>
                <a:ea typeface="Calibri"/>
              </a:rPr>
              <a:t>Cdk1/Aurora B release Sororin from PDS5 and activate WAPL (Nishiyama 2013);  the PDS5B–FGF contact is a short linear motif (Ouyang 2016);  the C-terminal domain is required for cohesion (Wu 2011).</a:t>
            </a:r>
            <a:endParaRPr lang="en-US" sz="1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13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14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1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1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1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500"/>
                                        <p:tgtEl>
                                          <p:spTgt spid="1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build="allAtOnce" animBg="1"/>
      <p:bldP spid="13" grpId="0" build="allAtOnce" animBg="1"/>
      <p:bldP spid="14" grpId="0" build="allAtOnce" animBg="1"/>
      <p:bldP spid="15" grpId="0" build="allAtOnce" animBg="1"/>
      <p:bldP spid="16" grpId="0" animBg="1"/>
      <p:bldP spid="17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0"/>
          <p:cNvSpPr/>
          <p:nvPr/>
        </p:nvSpPr>
        <p:spPr>
          <a:xfrm>
            <a:off x="274320" y="137160"/>
            <a:ext cx="11639880" cy="4568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Future directions — testing the predictions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" name="Text 1"/>
          <p:cNvSpPr/>
          <p:nvPr/>
        </p:nvSpPr>
        <p:spPr>
          <a:xfrm>
            <a:off x="307031" y="660173"/>
            <a:ext cx="11548440" cy="351333"/>
          </a:xfrm>
          <a:prstGeom prst="roundRect">
            <a:avLst>
              <a:gd name="adj" fmla="val 5000"/>
            </a:avLst>
          </a:prstGeom>
          <a:solidFill>
            <a:srgbClr val="2C3E5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1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This is a computational study — everything here is a prediction.  </a:t>
            </a:r>
            <a:r>
              <a:rPr lang="en-US" sz="1350" b="0" u="none" strike="noStrike" dirty="0">
                <a:solidFill>
                  <a:srgbClr val="FFFFFF"/>
                </a:solidFill>
                <a:effectLst/>
                <a:uFillTx/>
                <a:latin typeface="Calibri"/>
                <a:ea typeface="Calibri"/>
              </a:rPr>
              <a:t>The natural next step is to test those predictions in the lab, rather than only predicting them.</a:t>
            </a:r>
            <a:endParaRPr lang="en-US" sz="1350" b="0" u="none" strike="noStrike" dirty="0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" name="Text 2"/>
          <p:cNvSpPr/>
          <p:nvPr/>
        </p:nvSpPr>
        <p:spPr>
          <a:xfrm>
            <a:off x="320039" y="1142668"/>
            <a:ext cx="3140915" cy="5197172"/>
          </a:xfrm>
          <a:prstGeom prst="roundRect">
            <a:avLst>
              <a:gd name="adj" fmla="val 1493"/>
            </a:avLst>
          </a:prstGeom>
          <a:solidFill>
            <a:srgbClr val="DBE9F5"/>
          </a:solidFill>
          <a:ln w="19050">
            <a:solidFill>
              <a:srgbClr val="2166A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77840" tIns="177840" rIns="177840" bIns="177840" anchor="t">
            <a:noAutofit/>
          </a:bodyPr>
          <a:lstStyle/>
          <a:p>
            <a:r>
              <a:rPr lang="en-US" sz="1400" b="1" u="none" strike="noStrike" dirty="0">
                <a:solidFill>
                  <a:srgbClr val="2166AC"/>
                </a:solidFill>
                <a:effectLst/>
                <a:uFillTx/>
                <a:latin typeface="Calibri"/>
                <a:ea typeface="Calibri"/>
              </a:rPr>
              <a:t>1 · See it directly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Solve the real 3-D structure of Sororin bound to its partner PDS5, to confirm with your own eyes that it stays disordered when it binds — instead of only predicting it.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" name="Text 3"/>
          <p:cNvSpPr/>
          <p:nvPr/>
        </p:nvSpPr>
        <p:spPr>
          <a:xfrm>
            <a:off x="3549445" y="1142668"/>
            <a:ext cx="5063613" cy="5197172"/>
          </a:xfrm>
          <a:prstGeom prst="roundRect">
            <a:avLst>
              <a:gd name="adj" fmla="val 1493"/>
            </a:avLst>
          </a:prstGeom>
          <a:solidFill>
            <a:srgbClr val="F1E7F3"/>
          </a:solidFill>
          <a:ln w="19050">
            <a:solidFill>
              <a:srgbClr val="762A83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77840" tIns="177840" rIns="177840" bIns="177840" anchor="t">
            <a:noAutofit/>
          </a:bodyPr>
          <a:lstStyle/>
          <a:p>
            <a:r>
              <a:rPr lang="en-US" sz="1400" b="1" u="none" strike="noStrike" dirty="0">
                <a:solidFill>
                  <a:srgbClr val="762A83"/>
                </a:solidFill>
                <a:effectLst/>
                <a:uFillTx/>
                <a:latin typeface="Calibri"/>
                <a:ea typeface="Calibri"/>
              </a:rPr>
              <a:t>2 · Test the new binding sites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Low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two predicted SPOP sites (residues 122–126 and 155–159) are the novel finding. Break them by mutation and check whether Sororin then survives longer — if it does, the sites are real.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4"/>
          <p:cNvSpPr/>
          <p:nvPr/>
        </p:nvSpPr>
        <p:spPr>
          <a:xfrm>
            <a:off x="8727566" y="1142668"/>
            <a:ext cx="3140914" cy="5200122"/>
          </a:xfrm>
          <a:prstGeom prst="roundRect">
            <a:avLst>
              <a:gd name="adj" fmla="val 1493"/>
            </a:avLst>
          </a:prstGeom>
          <a:solidFill>
            <a:srgbClr val="E3F2F4"/>
          </a:solidFill>
          <a:ln w="19050">
            <a:solidFill>
              <a:srgbClr val="1F6F7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77840" tIns="177840" rIns="177840" bIns="177840" anchor="t">
            <a:noAutofit/>
          </a:bodyPr>
          <a:lstStyle/>
          <a:p>
            <a:r>
              <a:rPr lang="en-US" sz="1400" b="1" u="none" strike="noStrike" dirty="0">
                <a:solidFill>
                  <a:srgbClr val="1F6F7A"/>
                </a:solidFill>
                <a:effectLst/>
                <a:uFillTx/>
                <a:latin typeface="Calibri"/>
                <a:ea typeface="Calibri"/>
              </a:rPr>
              <a:t>3 · Back the predictions up</a:t>
            </a:r>
            <a:endParaRPr lang="en-US" sz="1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Apart from the KEN box, the motifs found here are predictions, not confirmed results — they remain hypotheses still to be tested experimentally.</a:t>
            </a:r>
            <a:endParaRPr lang="en-US" sz="1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Text 5"/>
          <p:cNvSpPr/>
          <p:nvPr/>
        </p:nvSpPr>
        <p:spPr>
          <a:xfrm>
            <a:off x="320040" y="6473952"/>
            <a:ext cx="11548440" cy="246888"/>
          </a:xfrm>
          <a:prstGeom prst="roundRect">
            <a:avLst>
              <a:gd name="adj" fmla="val 5882"/>
            </a:avLst>
          </a:prstGeom>
          <a:solidFill>
            <a:srgbClr val="DCEFDD"/>
          </a:solidFill>
          <a:ln w="19050">
            <a:solidFill>
              <a:srgbClr val="1A7A34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 dirty="0">
                <a:solidFill>
                  <a:srgbClr val="1A7A34"/>
                </a:solidFill>
                <a:effectLst/>
                <a:uFillTx/>
                <a:latin typeface="Calibri"/>
                <a:ea typeface="Calibri"/>
              </a:rPr>
              <a:t>In one sentence:  </a:t>
            </a:r>
            <a:r>
              <a:rPr lang="en-US" sz="1250" b="0" u="none" strike="noStrike" dirty="0">
                <a:solidFill>
                  <a:srgbClr val="2C3E50"/>
                </a:solidFill>
                <a:effectLst/>
                <a:uFillTx/>
                <a:latin typeface="Calibri"/>
                <a:ea typeface="Calibri"/>
              </a:rPr>
              <a:t>the study is computational, so the honest next step is experimental confirmation of what it predicts.</a:t>
            </a:r>
            <a:endParaRPr lang="en-US" sz="12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3A6D024-7B1D-3A68-A427-AB791000971D}"/>
              </a:ext>
            </a:extLst>
          </p:cNvPr>
          <p:cNvGrpSpPr/>
          <p:nvPr/>
        </p:nvGrpSpPr>
        <p:grpSpPr>
          <a:xfrm>
            <a:off x="507179" y="2724685"/>
            <a:ext cx="2766633" cy="2822348"/>
            <a:chOff x="841117" y="3429000"/>
            <a:chExt cx="2766633" cy="2822348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83A1B7D-83BB-047B-330B-A1D2FCED5FE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02059" y="3429000"/>
              <a:ext cx="1984641" cy="2453016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B4F3CB91-6A71-065C-D91E-03596C9C49CF}"/>
                </a:ext>
              </a:extLst>
            </p:cNvPr>
            <p:cNvSpPr txBox="1"/>
            <p:nvPr/>
          </p:nvSpPr>
          <p:spPr>
            <a:xfrm>
              <a:off x="841117" y="5882016"/>
              <a:ext cx="2766633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900" dirty="0"/>
                <a:t>A 900 MHz Nuclear Magnetic Resonance instrument with a 21.1 T magnet at HWB-NMR, Birmingham, UK</a:t>
              </a:r>
            </a:p>
          </p:txBody>
        </p:sp>
      </p:grpSp>
      <p:pic>
        <p:nvPicPr>
          <p:cNvPr id="15" name="Picture 14">
            <a:extLst>
              <a:ext uri="{FF2B5EF4-FFF2-40B4-BE49-F238E27FC236}">
                <a16:creationId xmlns:a16="http://schemas.microsoft.com/office/drawing/2014/main" id="{AB6C2DEC-1592-EF2F-8FB8-4ED921284831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12752" y="2320413"/>
            <a:ext cx="4536998" cy="3630893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95666895-1DA2-AF11-4157-E0F33107E149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35387" y="2938619"/>
            <a:ext cx="2725271" cy="19456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3400">
        <p14:reveal/>
      </p:transition>
    </mc:Choice>
    <mc:Fallback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0" grpId="0" animBg="1"/>
      <p:bldP spid="11" grpId="0" animBg="1"/>
      <p:bldP spid="12" grpId="0" animBg="1"/>
      <p:bldP spid="13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189</TotalTime>
  <Words>3363</Words>
  <Application>Microsoft Office PowerPoint</Application>
  <PresentationFormat>Custom</PresentationFormat>
  <Paragraphs>368</Paragraphs>
  <Slides>15</Slides>
  <Notes>6</Notes>
  <HiddenSlides>0</HiddenSlides>
  <MMClips>0</MMClips>
  <ScaleCrop>false</ScaleCrop>
  <HeadingPairs>
    <vt:vector size="8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4" baseType="lpstr">
      <vt:lpstr>Arial</vt:lpstr>
      <vt:lpstr>Calibri</vt:lpstr>
      <vt:lpstr>Cambria</vt:lpstr>
      <vt:lpstr>Cambria Math</vt:lpstr>
      <vt:lpstr>Symbol</vt:lpstr>
      <vt:lpstr>Times New Roman</vt:lpstr>
      <vt:lpstr>Wingdings</vt:lpstr>
      <vt:lpstr>Office Theme</vt:lpstr>
      <vt:lpstr>Equation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dc:description/>
  <cp:lastModifiedBy>Amirhossein Rezaei</cp:lastModifiedBy>
  <cp:revision>71</cp:revision>
  <dcterms:created xsi:type="dcterms:W3CDTF">2026-07-24T12:17:33Z</dcterms:created>
  <dcterms:modified xsi:type="dcterms:W3CDTF">2026-07-25T20:38:44Z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5</vt:r8>
  </property>
  <property fmtid="{D5CDD505-2E9C-101B-9397-08002B2CF9AE}" pid="3" name="PresentationFormat">
    <vt:lpwstr>On-screen Show (16:9)</vt:lpwstr>
  </property>
  <property fmtid="{D5CDD505-2E9C-101B-9397-08002B2CF9AE}" pid="4" name="Slides">
    <vt:r8>5</vt:r8>
  </property>
</Properties>
</file>