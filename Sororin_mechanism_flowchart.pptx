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0" r:id="rId10"/>
    <p:sldId id="265" r:id="rId11"/>
    <p:sldId id="266" r:id="rId12"/>
  </p:sldIdLst>
  <p:sldSz cx="12188825" cy="6858000"/>
  <p:notesSz cx="6858000" cy="121888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29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D1FE1BC-EA02-44F1-8101-5AC57865442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03EB6C-B8A1-4EB8-A8AF-B11F07E4CF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6EDF5A-A12A-48B9-86FB-6F1EA0273D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686CE0-4F00-4C38-AD55-CC235F7477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93C1F8-4F2E-4897-B279-CE7531E03D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30D3AF-C09A-44A7-B29E-A9AE035C13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ED1FE1BC-EA02-44F1-8101-5AC578654424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00299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wmf"/><Relationship Id="rId4" Type="http://schemas.openxmlformats.org/officeDocument/2006/relationships/oleObject" Target="../embeddings/oleObject1.bin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/tmp/assets/af_crop.png"/>
          <p:cNvPicPr/>
          <p:nvPr/>
        </p:nvPicPr>
        <p:blipFill>
          <a:blip r:embed="rId3"/>
          <a:stretch/>
        </p:blipFill>
        <p:spPr>
          <a:xfrm>
            <a:off x="9119880" y="1554660"/>
            <a:ext cx="27669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0"/>
          <p:cNvSpPr/>
          <p:nvPr/>
        </p:nvSpPr>
        <p:spPr>
          <a:xfrm>
            <a:off x="731520" y="1828800"/>
            <a:ext cx="850356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How Sororin controls sister-chromatid cohesion</a:t>
            </a:r>
            <a:endParaRPr lang="en-US" sz="3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749880" y="338328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 floppy (intrinsically disordered) protein switched on and off by phosphate tags and degrons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749880" y="42976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Sororin (CDCA5)  •  UniProt Q96FF9  •  252 residues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3"/>
          <p:cNvSpPr/>
          <p:nvPr/>
        </p:nvSpPr>
        <p:spPr>
          <a:xfrm>
            <a:off x="8949060" y="539514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 AlphaFold model: mostly extended, unfolded chain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setup: a competition for the PDS5 seat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1455102" y="5214724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 sister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chromatids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3FAB1EF-1C19-0989-E8CE-01132739EC81}"/>
              </a:ext>
            </a:extLst>
          </p:cNvPr>
          <p:cNvGrpSpPr/>
          <p:nvPr/>
        </p:nvGrpSpPr>
        <p:grpSpPr>
          <a:xfrm>
            <a:off x="683513" y="3010368"/>
            <a:ext cx="2080678" cy="539170"/>
            <a:chOff x="364666" y="3017700"/>
            <a:chExt cx="2080678" cy="539170"/>
          </a:xfrm>
        </p:grpSpPr>
        <p:sp>
          <p:nvSpPr>
            <p:cNvPr id="19" name="Text 4"/>
            <p:cNvSpPr/>
            <p:nvPr/>
          </p:nvSpPr>
          <p:spPr>
            <a:xfrm>
              <a:off x="616593" y="3017700"/>
              <a:ext cx="1569778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1" dirty="0">
                  <a:solidFill>
                    <a:srgbClr val="2166AC"/>
                  </a:solidFill>
                  <a:latin typeface="Calibri"/>
                  <a:ea typeface="Calibri"/>
                </a:rPr>
                <a:t>C</a:t>
              </a:r>
              <a:r>
                <a:rPr lang="en-US" sz="1200" b="1" u="none" strike="noStrike" dirty="0">
                  <a:solidFill>
                    <a:srgbClr val="2166AC"/>
                  </a:solidFill>
                  <a:effectLst/>
                  <a:uFillTx/>
                  <a:latin typeface="Calibri"/>
                  <a:ea typeface="Calibri"/>
                </a:rPr>
                <a:t>ohesin ring</a:t>
              </a:r>
              <a:endPara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Text 6"/>
            <p:cNvSpPr/>
            <p:nvPr/>
          </p:nvSpPr>
          <p:spPr>
            <a:xfrm>
              <a:off x="364666" y="3282910"/>
              <a:ext cx="2080678" cy="27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SMC1A · SMC3 · RAD21 · STAG1/2</a:t>
              </a:r>
              <a:endParaRPr lang="en-US" sz="9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Text 9"/>
          <p:cNvSpPr/>
          <p:nvPr/>
        </p:nvSpPr>
        <p:spPr>
          <a:xfrm>
            <a:off x="3535182" y="3491658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the docking 'seat'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533638" y="3002044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compete for the seat</a:t>
            </a:r>
            <a:endParaRPr lang="en-US" sz="11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a_arrG"/>
          <p:cNvSpPr/>
          <p:nvPr/>
        </p:nvSpPr>
        <p:spPr>
          <a:xfrm flipV="1">
            <a:off x="4487918" y="2316244"/>
            <a:ext cx="1737360" cy="914400"/>
          </a:xfrm>
          <a:prstGeom prst="line">
            <a:avLst/>
          </a:prstGeom>
          <a:ln w="25400">
            <a:solidFill>
              <a:srgbClr val="1A7A3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a_arrRd"/>
          <p:cNvSpPr/>
          <p:nvPr/>
        </p:nvSpPr>
        <p:spPr>
          <a:xfrm>
            <a:off x="4487918" y="3230644"/>
            <a:ext cx="1737360" cy="914400"/>
          </a:xfrm>
          <a:prstGeom prst="line">
            <a:avLst/>
          </a:prstGeom>
          <a:ln w="25400">
            <a:solidFill>
              <a:srgbClr val="B2182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a_sororin"/>
          <p:cNvSpPr/>
          <p:nvPr/>
        </p:nvSpPr>
        <p:spPr>
          <a:xfrm>
            <a:off x="6362438" y="167616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 — the lock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grabs PDS5 via its FGF motif (aa 166–168) → blocks WAPL → ring stays CLOSED → cohesion protected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a_wapl"/>
          <p:cNvSpPr/>
          <p:nvPr/>
        </p:nvSpPr>
        <p:spPr>
          <a:xfrm>
            <a:off x="6362438" y="345924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WAPL  — the release factor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when Sororin is switched off, WAPL takes the seat → opens the ring → </a:t>
            </a:r>
            <a:r>
              <a:rPr lang="en-US" sz="1200" dirty="0">
                <a:solidFill>
                  <a:srgbClr val="7B1616"/>
                </a:solidFill>
                <a:latin typeface="Calibri"/>
              </a:rPr>
              <a:t>C</a:t>
            </a: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ohesin falls off → sisters can separate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5"/>
          <p:cNvSpPr/>
          <p:nvPr/>
        </p:nvSpPr>
        <p:spPr>
          <a:xfrm>
            <a:off x="1097280" y="598932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Whoever wins the PDS5 seat decides: Sororin on = glued;  WAPL on = released.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370A15-82E0-0A4A-F593-15E6E3A240CA}"/>
              </a:ext>
            </a:extLst>
          </p:cNvPr>
          <p:cNvGrpSpPr/>
          <p:nvPr/>
        </p:nvGrpSpPr>
        <p:grpSpPr>
          <a:xfrm>
            <a:off x="2460582" y="1470004"/>
            <a:ext cx="2215750" cy="3835980"/>
            <a:chOff x="2460582" y="1470004"/>
            <a:chExt cx="2215750" cy="3835980"/>
          </a:xfrm>
        </p:grpSpPr>
        <p:sp>
          <p:nvSpPr>
            <p:cNvPr id="4" name="Block Arc 3">
              <a:extLst>
                <a:ext uri="{FF2B5EF4-FFF2-40B4-BE49-F238E27FC236}">
                  <a16:creationId xmlns:a16="http://schemas.microsoft.com/office/drawing/2014/main" id="{440F22A2-2C24-C862-E220-79561A526FF9}"/>
                </a:ext>
              </a:extLst>
            </p:cNvPr>
            <p:cNvSpPr/>
            <p:nvPr/>
          </p:nvSpPr>
          <p:spPr>
            <a:xfrm>
              <a:off x="2557256" y="2883366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Shape 3"/>
            <p:cNvSpPr/>
            <p:nvPr/>
          </p:nvSpPr>
          <p:spPr>
            <a:xfrm>
              <a:off x="3451642" y="1470004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22F9B4A-359C-EA97-64C9-CE13763C264E}"/>
                </a:ext>
              </a:extLst>
            </p:cNvPr>
            <p:cNvGrpSpPr/>
            <p:nvPr/>
          </p:nvGrpSpPr>
          <p:grpSpPr>
            <a:xfrm>
              <a:off x="3762292" y="2948940"/>
              <a:ext cx="914040" cy="550961"/>
              <a:chOff x="4149007" y="2971620"/>
              <a:chExt cx="914040" cy="550961"/>
            </a:xfrm>
          </p:grpSpPr>
          <p:sp>
            <p:nvSpPr>
              <p:cNvPr id="22" name="Shape 7"/>
              <p:cNvSpPr>
                <a:spLocks noChangeAspect="1"/>
              </p:cNvSpPr>
              <p:nvPr/>
            </p:nvSpPr>
            <p:spPr>
              <a:xfrm>
                <a:off x="4335563" y="2973941"/>
                <a:ext cx="548640" cy="548640"/>
              </a:xfrm>
              <a:prstGeom prst="ellipse">
                <a:avLst/>
              </a:prstGeom>
              <a:solidFill>
                <a:srgbClr val="5A6B7B"/>
              </a:solidFill>
              <a:ln w="12700">
                <a:solidFill>
                  <a:srgbClr val="2C3E5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Text 8"/>
              <p:cNvSpPr/>
              <p:nvPr/>
            </p:nvSpPr>
            <p:spPr>
              <a:xfrm>
                <a:off x="4149007" y="2971620"/>
                <a:ext cx="914040" cy="502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100" b="1" i="1" strike="noStrike" dirty="0">
                    <a:solidFill>
                      <a:srgbClr val="FFFFFF"/>
                    </a:solidFill>
                    <a:effectLst/>
                    <a:uFillTx/>
                    <a:latin typeface="Calibri"/>
                    <a:ea typeface="Calibri"/>
                  </a:rPr>
                  <a:t>PDS5</a:t>
                </a:r>
                <a:endParaRPr lang="en-US" sz="1100" b="0" i="1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" name="Shape 3">
              <a:extLst>
                <a:ext uri="{FF2B5EF4-FFF2-40B4-BE49-F238E27FC236}">
                  <a16:creationId xmlns:a16="http://schemas.microsoft.com/office/drawing/2014/main" id="{34649F7D-F99B-01BB-61CF-BBD0559AFB4F}"/>
                </a:ext>
              </a:extLst>
            </p:cNvPr>
            <p:cNvSpPr/>
            <p:nvPr/>
          </p:nvSpPr>
          <p:spPr>
            <a:xfrm flipH="1">
              <a:off x="2460582" y="1485897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Block Arc 4">
              <a:extLst>
                <a:ext uri="{FF2B5EF4-FFF2-40B4-BE49-F238E27FC236}">
                  <a16:creationId xmlns:a16="http://schemas.microsoft.com/office/drawing/2014/main" id="{6A1F7EEC-A387-3307-85C0-D8BE43D91FCF}"/>
                </a:ext>
              </a:extLst>
            </p:cNvPr>
            <p:cNvSpPr/>
            <p:nvPr/>
          </p:nvSpPr>
          <p:spPr>
            <a:xfrm flipV="1">
              <a:off x="2557256" y="2871611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0" grpId="0"/>
      <p:bldP spid="24" grpId="0"/>
      <p:bldP spid="25" grpId="0"/>
      <p:bldP spid="26" grpId="0" animBg="1"/>
      <p:bldP spid="27" grpId="0" animBg="1"/>
      <p:bldP spid="28" grpId="0" animBg="1"/>
      <p:bldP spid="29" grpId="0" animBg="1"/>
      <p:bldP spid="3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365760" y="164520"/>
            <a:ext cx="11429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real structure: Sororin locks the ring; phosphorylation lets WAPL in</a:t>
            </a: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a_realimg" descr="/tmp/assets/cohesin_real.png"/>
          <p:cNvPicPr/>
          <p:nvPr/>
        </p:nvPicPr>
        <p:blipFill>
          <a:blip r:embed="rId3"/>
          <a:stretch/>
        </p:blipFill>
        <p:spPr>
          <a:xfrm>
            <a:off x="1234440" y="960120"/>
            <a:ext cx="9692280" cy="49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a_cap"/>
          <p:cNvSpPr/>
          <p:nvPr/>
        </p:nvSpPr>
        <p:spPr>
          <a:xfrm>
            <a:off x="548640" y="594360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LEFT: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 (green) docks on Pds5 → </a:t>
            </a:r>
            <a:r>
              <a:rPr lang="en-US" sz="130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ring CLOSED, sisters glued.    </a:t>
            </a: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  <a:ea typeface="Calibri"/>
              </a:rPr>
              <a:t>RIGHT: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mitotic phosphorylation (red ✱) displaces Sororin → WAPL opens the ring.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"/>
          <p:cNvSpPr/>
          <p:nvPr/>
        </p:nvSpPr>
        <p:spPr>
          <a:xfrm>
            <a:off x="548640" y="6473880"/>
            <a:ext cx="11063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8A97A3"/>
                </a:solidFill>
                <a:effectLst/>
                <a:uFillTx/>
                <a:latin typeface="Calibri"/>
                <a:ea typeface="Calibri"/>
              </a:rPr>
              <a:t>Image: Nature Communications, Fig. 9 (see 'PPT images/ref.txt' for full citation) — used for study purposes.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457200" y="16452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mechanism, step by step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a_cohesin"/>
          <p:cNvSpPr/>
          <p:nvPr/>
        </p:nvSpPr>
        <p:spPr>
          <a:xfrm>
            <a:off x="3108960" y="777240"/>
            <a:ext cx="5943240" cy="658080"/>
          </a:xfrm>
          <a:prstGeom prst="roundRect">
            <a:avLst>
              <a:gd name="adj" fmla="val 11111"/>
            </a:avLst>
          </a:prstGeom>
          <a:solidFill>
            <a:srgbClr val="2166AC"/>
          </a:solidFill>
          <a:ln w="0">
            <a:solidFill>
              <a:srgbClr val="2166AC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Cohesin ring traps the two sister chromatids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E8F0F8"/>
                </a:solidFill>
                <a:effectLst/>
                <a:uFillTx/>
                <a:latin typeface="Calibri"/>
              </a:rPr>
              <a:t>SMC1A · SMC3 · RAD21 · STAG1/2  +  PDS5 (docking subunit)</a:t>
            </a:r>
            <a:endParaRPr lang="en-US" sz="11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a_arrAB"/>
          <p:cNvSpPr/>
          <p:nvPr/>
        </p:nvSpPr>
        <p:spPr>
          <a:xfrm>
            <a:off x="6094440" y="1463040"/>
            <a:ext cx="360" cy="18288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a_sororin"/>
          <p:cNvSpPr/>
          <p:nvPr/>
        </p:nvSpPr>
        <p:spPr>
          <a:xfrm>
            <a:off x="2743200" y="1673280"/>
            <a:ext cx="6674760" cy="749520"/>
          </a:xfrm>
          <a:prstGeom prst="roundRect">
            <a:avLst>
              <a:gd name="adj" fmla="val 9756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binds PDS5 via its FGF motif (aa 166–168)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→ blocks WAPL → ring stays CLOSED → cohesion protected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a_label"/>
          <p:cNvSpPr/>
          <p:nvPr/>
        </p:nvSpPr>
        <p:spPr>
          <a:xfrm>
            <a:off x="2743200" y="2487240"/>
            <a:ext cx="6674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Two ways to switch Sororin OFF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a_arrL"/>
          <p:cNvSpPr/>
          <p:nvPr/>
        </p:nvSpPr>
        <p:spPr>
          <a:xfrm>
            <a:off x="324612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a_arrR"/>
          <p:cNvSpPr/>
          <p:nvPr/>
        </p:nvSpPr>
        <p:spPr>
          <a:xfrm>
            <a:off x="894276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a_switch1"/>
          <p:cNvSpPr/>
          <p:nvPr/>
        </p:nvSpPr>
        <p:spPr>
          <a:xfrm>
            <a:off x="45720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①  PHOSPHORYLATION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temporary · 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Kinases CDK1 (on schedule) &amp; ERK2/MAPK1 add PO₄ to 7 proline-directed sites (Ser/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Thr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–Pro):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Ser21, Ser75, Ser79, Thr111, Thr115, Thr159, Ser209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negative charge disrupts the FGF–PDS5 grip → Sororin displaced (a phosphatase can remove it)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 drives lung cancer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a_switch2"/>
          <p:cNvSpPr/>
          <p:nvPr/>
        </p:nvSpPr>
        <p:spPr>
          <a:xfrm>
            <a:off x="624528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②  DEGRADATION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permanent · irreversible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Degrons (short 'destroy-me' motifs) are read by shredding machines: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(aa 88–90) → APC/C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SPOP degron → SPOP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add ubiquitin tag → proteasome destroys the whole Sororin protein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loss → Sororin piles up (prostate cancer)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a_arrCL"/>
          <p:cNvSpPr/>
          <p:nvPr/>
        </p:nvSpPr>
        <p:spPr>
          <a:xfrm>
            <a:off x="324612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a_arrCR"/>
          <p:cNvSpPr/>
          <p:nvPr/>
        </p:nvSpPr>
        <p:spPr>
          <a:xfrm>
            <a:off x="894276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a_wapl"/>
          <p:cNvSpPr/>
          <p:nvPr/>
        </p:nvSpPr>
        <p:spPr>
          <a:xfrm>
            <a:off x="2743200" y="4983480"/>
            <a:ext cx="6674760" cy="566640"/>
          </a:xfrm>
          <a:prstGeom prst="roundRect">
            <a:avLst>
              <a:gd name="adj" fmla="val 12903"/>
            </a:avLst>
          </a:prstGeom>
          <a:solidFill>
            <a:srgbClr val="B2182B"/>
          </a:solidFill>
          <a:ln w="0">
            <a:solidFill>
              <a:srgbClr val="B2182B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Sororin OFF  →  WAPL binds PDS5  →  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C</a:t>
            </a: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ohesin ring OPENS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a_arrCD"/>
          <p:cNvSpPr/>
          <p:nvPr/>
        </p:nvSpPr>
        <p:spPr>
          <a:xfrm>
            <a:off x="6094440" y="5550120"/>
            <a:ext cx="360" cy="1555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a_sep"/>
          <p:cNvSpPr/>
          <p:nvPr/>
        </p:nvSpPr>
        <p:spPr>
          <a:xfrm>
            <a:off x="3566160" y="5733360"/>
            <a:ext cx="5028840" cy="456840"/>
          </a:xfrm>
          <a:prstGeom prst="roundRect">
            <a:avLst>
              <a:gd name="adj" fmla="val 16000"/>
            </a:avLst>
          </a:prstGeom>
          <a:solidFill>
            <a:srgbClr val="2C3E50"/>
          </a:solidFill>
          <a:ln w="0">
            <a:solidFill>
              <a:srgbClr val="2C3E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Sister chromatids separate  (mitosis / anaphase)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a_key"/>
          <p:cNvSpPr/>
          <p:nvPr/>
        </p:nvSpPr>
        <p:spPr>
          <a:xfrm>
            <a:off x="457200" y="6327720"/>
            <a:ext cx="11274120" cy="438480"/>
          </a:xfrm>
          <a:prstGeom prst="roundRect">
            <a:avLst>
              <a:gd name="adj" fmla="val 10417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KEY INSIGHT —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switch element (FGF motif, KEN box, SPOP degron, all 7 phospho-sites) sits in an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intrinsically DISORDERED region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(61.5% of Sororin; only the C-terminal domain aa 230–252 is folded). Floppy chain + short motifs = easy to switch  →  Sororin is a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“fuzzy hub.”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1: Sororin sits in a dense </a:t>
            </a:r>
            <a:r>
              <a:rPr lang="en-US" sz="2400" b="1" dirty="0">
                <a:solidFill>
                  <a:srgbClr val="2C3E50"/>
                </a:solidFill>
                <a:latin typeface="Cambria"/>
                <a:ea typeface="Cambria"/>
              </a:rPr>
              <a:t>C</a:t>
            </a: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ohesin network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Image 0" descr="/tmp/assets/fig1_net.png"/>
          <p:cNvPicPr/>
          <p:nvPr/>
        </p:nvPicPr>
        <p:blipFill>
          <a:blip r:embed="rId2"/>
          <a:stretch/>
        </p:blipFill>
        <p:spPr>
          <a:xfrm>
            <a:off x="320040" y="822960"/>
            <a:ext cx="46263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 1"/>
          <p:cNvSpPr/>
          <p:nvPr/>
        </p:nvSpPr>
        <p:spPr>
          <a:xfrm>
            <a:off x="320040" y="455364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Figure 1 — STRING interaction network (dashed red = literature-curated ERK2/SPOP).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5623560" y="822960"/>
            <a:ext cx="6217560" cy="776880"/>
          </a:xfrm>
          <a:prstGeom prst="roundRect">
            <a:avLst>
              <a:gd name="adj" fmla="val 5882"/>
            </a:avLst>
          </a:prstGeom>
          <a:solidFill>
            <a:srgbClr val="DCE7F3"/>
          </a:solidFill>
          <a:ln w="1270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16 nodes  ·  107 edges  ·  density 0.89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Sororin degree = 15 of 15  (a hub)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" name="Table 0"/>
          <p:cNvGraphicFramePr/>
          <p:nvPr/>
        </p:nvGraphicFramePr>
        <p:xfrm>
          <a:off x="5623560" y="1737360"/>
          <a:ext cx="6217920" cy="23622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</a:t>
                      </a:r>
                      <a:endParaRPr lang="en-US" sz="9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Functional class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STRING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regulator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WAPL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(release)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SMC3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RAD21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(kleisin)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0.988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kinase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0.979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CDC20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activator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ESPL1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Separase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240">
                <a:tc gridSpan="3"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i="1" u="none" strike="noStrike">
                          <a:solidFill>
                            <a:srgbClr val="5A6B7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( … 15 high-confidence partners total 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/ SPOP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literature edges (dashed)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—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5" name="a_interp"/>
          <p:cNvSpPr/>
          <p:nvPr/>
        </p:nvSpPr>
        <p:spPr>
          <a:xfrm>
            <a:off x="320040" y="5106383"/>
            <a:ext cx="11521080" cy="56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Sororin's high-confidence partners form one tight cluster —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machine. Density of 89% of all possible links are present; Sororin touches all 15 others (degree 15/15 = a hub), with its strongest edges to exactly the expected partners (PDS5A, WAPL,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core, CDK1).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→ the network indicates Sororin is the central hub of a tightly-coupled physical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a_caveat"/>
          <p:cNvSpPr/>
          <p:nvPr/>
        </p:nvSpPr>
        <p:spPr>
          <a:xfrm>
            <a:off x="320040" y="5760720"/>
            <a:ext cx="1152108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Honest point: 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density is high partly 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because I curated the 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proteins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.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o, density describes the module, </a:t>
            </a:r>
            <a:r>
              <a:rPr lang="en-US" sz="1100" b="0" u="sng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it doesn't prove it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. I’m bringing more evidence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from the enrichment (next slide) and the high-confidence scores.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320040" y="6419160"/>
            <a:ext cx="115210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(sequence)  →  STRING API (network)  →  networkx (metrics, code)  →  Cytoscape + stringApp (independent check + enrichment, desktop)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D48BAF7-251C-4B63-101B-6EA48F3A5BA4}"/>
              </a:ext>
            </a:extLst>
          </p:cNvPr>
          <p:cNvSpPr/>
          <p:nvPr/>
        </p:nvSpPr>
        <p:spPr>
          <a:xfrm>
            <a:off x="5623560" y="4469272"/>
            <a:ext cx="6245225" cy="488416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loading (NIPBL·MAU2) → the ring (SMC1A/3 · RAD21 · STAG) → maintain/release (PDS5 · WAPL · </a:t>
            </a:r>
            <a:r>
              <a:rPr lang="en-US" sz="1100" b="1" dirty="0"/>
              <a:t>Sororin</a:t>
            </a:r>
            <a:r>
              <a:rPr lang="en-US" sz="1100" dirty="0"/>
              <a:t>) → mitotic control (CDK1 · PLK1 · AURKB) → destruction &amp; cut (APC/C·CDC20 · separase ESPL1).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05B4F6-CB06-6714-C53B-12E126DE3AF4}"/>
              </a:ext>
            </a:extLst>
          </p:cNvPr>
          <p:cNvSpPr/>
          <p:nvPr/>
        </p:nvSpPr>
        <p:spPr>
          <a:xfrm>
            <a:off x="7579360" y="4220168"/>
            <a:ext cx="2372360" cy="187272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i="1" dirty="0"/>
              <a:t>Complete Cohesin regulatory pathway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17" grpId="0"/>
      <p:bldP spid="2" grpId="0" animBg="1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Confirmed independently: Cytoscape + functional enrichment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tmp/assets/fig2_cyto.png"/>
          <p:cNvPicPr/>
          <p:nvPr/>
        </p:nvPicPr>
        <p:blipFill>
          <a:blip r:embed="rId2"/>
          <a:stretch/>
        </p:blipFill>
        <p:spPr>
          <a:xfrm>
            <a:off x="320040" y="868680"/>
            <a:ext cx="5028840" cy="186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320040" y="283464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Figure 2 — the same module rebuilt in Cytoscape (stringApp): 16 nodes, 107 edges, density 0.892, clustering coefficient 0.925, one connected component. Same result, second tool.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320040" y="3931920"/>
            <a:ext cx="5028840" cy="548280"/>
          </a:xfrm>
          <a:prstGeom prst="roundRect">
            <a:avLst>
              <a:gd name="adj" fmla="val 8333"/>
            </a:avLst>
          </a:prstGeom>
          <a:solidFill>
            <a:srgbClr val="1A7A34"/>
          </a:solidFill>
          <a:ln w="0">
            <a:solidFill>
              <a:srgbClr val="1A7A3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STRING PPI enrichment:  p &lt; 10</a:t>
            </a:r>
            <a:r>
              <a:rPr lang="en-US" sz="900" b="1" u="none" strike="noStrike" baseline="30000">
                <a:solidFill>
                  <a:srgbClr val="FFFFFF"/>
                </a:solidFill>
                <a:effectLst/>
                <a:uFillTx/>
                <a:latin typeface="Calibri"/>
              </a:rPr>
              <a:t>−16</a:t>
            </a:r>
            <a:r>
              <a:rPr lang="en-US" sz="1200" b="0" u="none" strike="noStrike">
                <a:solidFill>
                  <a:srgbClr val="F2F2F2"/>
                </a:solidFill>
                <a:effectLst/>
                <a:uFillTx/>
                <a:latin typeface="Calibri"/>
              </a:rPr>
              <a:t>   — far more connected than random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" name="Table 0"/>
          <p:cNvGraphicFramePr/>
          <p:nvPr>
            <p:extLst>
              <p:ext uri="{D42A27DB-BD31-4B8C-83A1-F6EECF244321}">
                <p14:modId xmlns:p14="http://schemas.microsoft.com/office/powerpoint/2010/main" val="716754159"/>
              </p:ext>
            </p:extLst>
          </p:nvPr>
        </p:nvGraphicFramePr>
        <p:xfrm>
          <a:off x="5559425" y="1152540"/>
          <a:ext cx="6309360" cy="19008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Source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Enriched term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FDR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cohesion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1.4e-24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segregation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2.3e-24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cell cycle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1.2e-18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Component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Chromosomal region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7.0e-15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KEGG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Cell cycle (hsa04110)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6.1e-14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Resolution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1.7e-23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Establishment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4.4e-22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3"/>
          <p:cNvSpPr/>
          <p:nvPr/>
        </p:nvSpPr>
        <p:spPr>
          <a:xfrm>
            <a:off x="5559425" y="3164220"/>
            <a:ext cx="6309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Table 2 — representative enriched terms (all point to cohesion / cell cycle).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a_enrtext"/>
          <p:cNvSpPr/>
          <p:nvPr/>
        </p:nvSpPr>
        <p:spPr>
          <a:xfrm>
            <a:off x="5532120" y="3703140"/>
            <a:ext cx="6400440" cy="86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Enrichment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tests whether my 16 proteins are over-represented for a function vs. a random set — they are, overwhelmingly. The top terms (sister-chromatid cohesion, cell cycle) return at FDR ≈ 10</a:t>
            </a:r>
            <a:r>
              <a:rPr lang="en-US" sz="800" b="0" u="none" strike="noStrike" baseline="30000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−24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.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→ this demonstrates the module is genuinely the cohesion machinery, not an arbitrary selection.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FDR = significance corrected for testing many terms; the lower it is, the more reliable.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a_formula"/>
              <p:cNvSpPr/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solidFill>
                <a:srgbClr val="F4F0F7"/>
              </a:solidFill>
              <a:ln w="12700">
                <a:solidFill>
                  <a:srgbClr val="762A83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4480" tIns="114480" rIns="114480" bIns="11448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000" b="1" u="none" strike="noStrike" dirty="0">
                    <a:solidFill>
                      <a:srgbClr val="762A83"/>
                    </a:solidFill>
                    <a:effectLst/>
                    <a:uFillTx/>
                    <a:latin typeface="Calibri"/>
                  </a:rPr>
                  <a:t>how it is computed:  </a:t>
                </a:r>
                <a:endParaRPr lang="en-US" sz="10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Hypergeometric ('urn') test: </a:t>
                </a:r>
                <a14:m>
                  <m:oMath xmlns:m="http://schemas.openxmlformats.org/officeDocument/2006/math">
                    <m:r>
                      <a:rPr lang="en-US" sz="95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950" i="1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func>
                          <m:func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</m:d>
                          </m:e>
                        </m:func>
                      </m:sup>
                      <m:e>
                        <m:f>
                          <m:f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den>
                        </m:f>
                      </m:e>
                    </m:nary>
                    <m:r>
                      <a:rPr lang="en-US" sz="950" b="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 e.g. 12 of my 16 proteins are among the only 42 cohesion genes in the whole genome (N ≈ 19,000) → p = 8.6×10⁻²⁹.   Benjamini–Hochberg correction:  FDR = p × (M / rank),  M = number of terms tested.</a:t>
                </a:r>
                <a:endParaRPr lang="en-US" sz="95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mc:Choice>
        <mc:Fallback xmlns="">
          <p:sp>
            <p:nvSpPr>
              <p:cNvPr id="25" name="a_formul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blipFill>
                <a:blip r:embed="rId3"/>
                <a:stretch>
                  <a:fillRect b="-12500"/>
                </a:stretch>
              </a:blipFill>
              <a:ln w="12700">
                <a:solidFill>
                  <a:srgbClr val="762A83"/>
                </a:solidFill>
                <a:rou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C6AE693D-DB3C-C44E-E8D2-A8D3BFF68B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0535248"/>
              </p:ext>
            </p:extLst>
          </p:nvPr>
        </p:nvGraphicFramePr>
        <p:xfrm>
          <a:off x="4927600" y="2641600"/>
          <a:ext cx="914400" cy="198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198720" progId="Equation.DSMT4">
                  <p:embed/>
                </p:oleObj>
              </mc:Choice>
              <mc:Fallback>
                <p:oleObj name="Equation" r:id="rId4" imgW="914400" imgH="1987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927600" y="2641600"/>
                        <a:ext cx="914400" cy="198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320040" y="16452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Key terms (Result 1)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457200" y="10515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Node / edge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a protein / a STRING interaction between two proteins.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457200" y="19659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Degree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many interactions a protein has (Sororin: 15/15 = hub).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457200" y="28803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Density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fraction of all possible links present (0.89 = very tightly connected).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457200" y="37947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Clustering coefficient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interconnected a node's </a:t>
            </a:r>
            <a:r>
              <a:rPr lang="en-US" sz="12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neighbours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are (0.925).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5"/>
          <p:cNvSpPr/>
          <p:nvPr/>
        </p:nvSpPr>
        <p:spPr>
          <a:xfrm>
            <a:off x="457200" y="47091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Separase (ESPL1)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protease ('scissors') that cuts RAD21 to open the ring at anaphase.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6"/>
          <p:cNvSpPr/>
          <p:nvPr/>
        </p:nvSpPr>
        <p:spPr>
          <a:xfrm>
            <a:off x="6263640" y="10515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Substrate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molecule an enzyme acts on (Sororin is an APC/C substrate = its target).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6263640" y="1965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Oncogenic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cancer-promoting (ERK2 via overactivity; SPOP is a tumour suppressor whose loss is oncogenic → both 'cancer-relevant').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6263640" y="3108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PPI enrichment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statistical test: is the set more interconnected than random? (here p &lt; 10⁻¹⁶).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6263640" y="41148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KEGG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database of curated pathway maps (e.g. 'Cell cycle', hsa04110).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6263640" y="50292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FDR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false-discovery rate: significance corrected for testing many terms; lower = more reliable.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How we measure disorder  —  UniProt · IUPred2 · ANCHOR2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CEBD0"/>
          </a:solidFill>
          <a:ln w="1651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UniProt — the annotation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(the orange bands)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Curated, experimentally-supported disordered-region annotations. For Sororin: three IDRs (1–48, 72–142, 199–222) plus the folded C-terminal Sororin domain (230–252). These fixed blocks are the 'ground truth' shaded on the disorder map.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42062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7DBDB"/>
          </a:solidFill>
          <a:ln w="1651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B2182B"/>
                </a:solidFill>
                <a:effectLst/>
                <a:uFillTx/>
                <a:latin typeface="Calibri"/>
              </a:rPr>
              <a:t>IUPred2 — disorder prediction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red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A per-residue score from 0 to 1; &gt; 0.5 = predicted disordered. 61.5% of Sororin scores above 0.5. Sequence-only and energy-based — no structure or homology needed.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8092440" y="777240"/>
            <a:ext cx="3748680" cy="1828440"/>
          </a:xfrm>
          <a:prstGeom prst="roundRect">
            <a:avLst>
              <a:gd name="adj" fmla="val 2500"/>
            </a:avLst>
          </a:prstGeom>
          <a:solidFill>
            <a:srgbClr val="DCE7F3"/>
          </a:solidFill>
          <a:ln w="1651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166AC"/>
                </a:solidFill>
                <a:effectLst/>
                <a:uFillTx/>
                <a:latin typeface="Calibri"/>
              </a:rPr>
              <a:t>ANCHOR2 — disordered binding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blue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Flags disordered stretches that can still bind a partner (fold-upon-binding) — 'binding-competent disorder.' It marks where the floppy chain actually does its interacting, not just where it is floppy.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320040" y="2788920"/>
            <a:ext cx="580608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762A83"/>
                </a:solidFill>
                <a:effectLst/>
                <a:uFillTx/>
                <a:latin typeface="Calibri"/>
              </a:rPr>
              <a:t>how IUPred2 works (reference): 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For each residue it estimates the stabilising pairwise contact energy that residue could gain by folding into a compact structure, from a statistical 20×20 amino-acid energy matrix applied over the local sequence composition: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E(i)  ≈  Σ over pairs (a,b)  of  M(a,b) · cₐ · c_b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Residues that cannot gather enough stabilising energy to fold are predicted disordered (high score). It is a mean-field energy estimate from sequence — the physics-flavoured part.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6355080" y="2788920"/>
            <a:ext cx="548604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762A83"/>
                </a:solidFill>
                <a:effectLst/>
                <a:uFillTx/>
                <a:latin typeface="Calibri"/>
              </a:rPr>
              <a:t>how ANCHOR2 works (reference): 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It asks a second energy question: a residue that cannot fold on its own — could it gain enough favourable energy by binding a generic globular partner? If yes, it is flagged as a disordered binding region.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i="1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disordered on its own  +  energetically favourable to bind  →  binding-competent disorder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This is how a floppy region that looks 'structureless' is still identified as a functional interaction site (e.g. the KEN box, the phospho-cluster).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" y="5257800"/>
            <a:ext cx="1152108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100" b="0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REST API (region annotations, script 01)  →  IUPred2A reference implementation + energy matrices, downloaded and run locally (script 03)  →  per-residue disorder + binding profile  →  the disorder map.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Seeing it: Sororin is mostly disordered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FD8EA6D-D23F-825F-141B-CD8B7CDBCBAC}"/>
              </a:ext>
            </a:extLst>
          </p:cNvPr>
          <p:cNvGrpSpPr/>
          <p:nvPr/>
        </p:nvGrpSpPr>
        <p:grpSpPr>
          <a:xfrm>
            <a:off x="8321040" y="1083600"/>
            <a:ext cx="3382920" cy="4845960"/>
            <a:chOff x="548640" y="1234440"/>
            <a:chExt cx="3382920" cy="4845960"/>
          </a:xfrm>
        </p:grpSpPr>
        <p:pic>
          <p:nvPicPr>
            <p:cNvPr id="51" name="a_af" descr="/tmp/assets/af_crop.png"/>
            <p:cNvPicPr/>
            <p:nvPr/>
          </p:nvPicPr>
          <p:blipFill>
            <a:blip r:embed="rId3"/>
            <a:stretch/>
          </p:blipFill>
          <p:spPr>
            <a:xfrm>
              <a:off x="914400" y="1234440"/>
              <a:ext cx="2631960" cy="35658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2" name="Text 1"/>
            <p:cNvSpPr/>
            <p:nvPr/>
          </p:nvSpPr>
          <p:spPr>
            <a:xfrm>
              <a:off x="548640" y="4892040"/>
              <a:ext cx="3382920" cy="1188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0" u="none" strike="noStrike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AlphaFold 3D model — a floppy, extended chain with almost no fixed structure (one short helix = the folded C-terminus).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11E238E-9C79-74F0-97EE-7DDE6F755C51}"/>
              </a:ext>
            </a:extLst>
          </p:cNvPr>
          <p:cNvGrpSpPr/>
          <p:nvPr/>
        </p:nvGrpSpPr>
        <p:grpSpPr>
          <a:xfrm>
            <a:off x="548640" y="983160"/>
            <a:ext cx="7406280" cy="4891680"/>
            <a:chOff x="4297680" y="1371600"/>
            <a:chExt cx="7406280" cy="4891680"/>
          </a:xfrm>
        </p:grpSpPr>
        <p:pic>
          <p:nvPicPr>
            <p:cNvPr id="53" name="a_disorder" descr="/tmp/assets/disorder_crop.png"/>
            <p:cNvPicPr/>
            <p:nvPr/>
          </p:nvPicPr>
          <p:blipFill>
            <a:blip r:embed="rId4"/>
            <a:stretch/>
          </p:blipFill>
          <p:spPr>
            <a:xfrm>
              <a:off x="4297680" y="1371600"/>
              <a:ext cx="7406280" cy="4083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4" name="Text 2"/>
            <p:cNvSpPr/>
            <p:nvPr/>
          </p:nvSpPr>
          <p:spPr>
            <a:xfrm>
              <a:off x="4297680" y="5623560"/>
              <a:ext cx="7406280" cy="63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150" b="0" i="1" u="none" strike="noStrike" dirty="0" err="1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IUPred</a:t>
              </a:r>
              <a:r>
                <a:rPr lang="en-US" sz="1150" b="0" i="1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 disorder profile: 61.5% disordered (red curve above 0.5). Only the C-terminal domain (aa 230–252) folds; the KEN box, FGF motif and Ser209 all sit in disordered regions.</a:t>
              </a:r>
              <a:endParaRPr lang="en-US" sz="11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5" name="a_key"/>
          <p:cNvSpPr/>
          <p:nvPr/>
        </p:nvSpPr>
        <p:spPr>
          <a:xfrm>
            <a:off x="534960" y="6098040"/>
            <a:ext cx="11091240" cy="411120"/>
          </a:xfrm>
          <a:prstGeom prst="roundRect">
            <a:avLst>
              <a:gd name="adj" fmla="val 11111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binding handle and switch lives in these disordered regions  →  </a:t>
            </a: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Sororin is a “fuzzy hub.”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09800"/>
            <a:ext cx="115210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determinants sit in disorder — the numbers behind the map (Table 3)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16752" y="4998899"/>
            <a:ext cx="11155320" cy="1142640"/>
          </a:xfrm>
          <a:prstGeom prst="roundRect">
            <a:avLst>
              <a:gd name="adj" fmla="val 4800"/>
            </a:avLst>
          </a:prstGeom>
          <a:solidFill>
            <a:srgbClr val="FCEBD0"/>
          </a:solidFill>
          <a:ln w="1905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Superimposing the experimentally-defined interaction determinants onto the disorder profile revealed that they lie — almost without exception — in </a:t>
            </a:r>
            <a:r>
              <a:rPr lang="en-US" sz="1900" b="1" u="none" strike="noStrike" dirty="0">
                <a:solidFill>
                  <a:srgbClr val="B9770E"/>
                </a:solidFill>
                <a:effectLst/>
                <a:uFillTx/>
                <a:latin typeface="Cambria"/>
                <a:ea typeface="Cambria"/>
              </a:rPr>
              <a:t>disordered segments.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984274293"/>
              </p:ext>
            </p:extLst>
          </p:nvPr>
        </p:nvGraphicFramePr>
        <p:xfrm>
          <a:off x="502200" y="991632"/>
          <a:ext cx="11155680" cy="217476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Determinant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Residues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 / role</a:t>
                      </a:r>
                      <a:endParaRPr lang="en-US" sz="12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Mean IUPred2 (% dis.)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Structural context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N-terminal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loading / regulation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0.82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KEN box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88–90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(degradation)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0.64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Central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phospho-cluster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0.70  (90%)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FGF motif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166–168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PDS5A/B (cohesion)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0.47  (33%)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SLiM / ordered dip in IDR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 site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(phosphorylation)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0.71  (96%)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Sororin domain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230–252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association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0.31  (0%)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folded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502200" y="3337893"/>
            <a:ext cx="11155320" cy="7074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Only the C-terminal Sororin domain is folded (0.31, 0% disordered) — the </a:t>
            </a:r>
            <a:r>
              <a:rPr lang="en-US" sz="12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anchor. Every other determinant sits in disorder. 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apparent exception — the FGF motif (0.47) — is a short-ordered</a:t>
            </a:r>
            <a:r>
              <a:rPr lang="en-US" sz="125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 dip inside disorder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: the classic 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hort-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Li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near-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otif (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SLiM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) signature — it becomes structured locally only to grab PDS5, which </a:t>
            </a:r>
            <a:r>
              <a:rPr lang="en-US" sz="125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supports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the fuzzy-hub picture rather than contradicting it.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516752" y="4216825"/>
            <a:ext cx="11155320" cy="548280"/>
          </a:xfrm>
          <a:prstGeom prst="roundRect">
            <a:avLst>
              <a:gd name="adj" fmla="val 8333"/>
            </a:avLst>
          </a:prstGeom>
          <a:solidFill>
            <a:srgbClr val="F7F7F7"/>
          </a:solidFill>
          <a:ln w="9525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 </a:t>
            </a:r>
            <a:r>
              <a:rPr lang="en-US" sz="1400" dirty="0"/>
              <a:t>Sororin engages multiple partners through short linear motifs (SLiMs) embedded within intrinsically disordered regions </a:t>
            </a: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=  </a:t>
            </a:r>
            <a:r>
              <a:rPr lang="en-US" sz="14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a fuzzy interaction hub.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12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FuzPred — does each region fold, or stay fuzzy, when it binds?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147AA6C-DB40-3ECD-9047-56D82D6FB141}"/>
              </a:ext>
            </a:extLst>
          </p:cNvPr>
          <p:cNvGrpSpPr>
            <a:grpSpLocks noChangeAspect="1"/>
          </p:cNvGrpSpPr>
          <p:nvPr/>
        </p:nvGrpSpPr>
        <p:grpSpPr>
          <a:xfrm>
            <a:off x="1689725" y="625078"/>
            <a:ext cx="8809373" cy="3628898"/>
            <a:chOff x="2326511" y="581220"/>
            <a:chExt cx="7040520" cy="2900244"/>
          </a:xfrm>
        </p:grpSpPr>
        <p:pic>
          <p:nvPicPr>
            <p:cNvPr id="9" name="Image 0" descr="/tmp/assets/fuzfig_crop.png"/>
            <p:cNvPicPr/>
            <p:nvPr/>
          </p:nvPicPr>
          <p:blipFill>
            <a:blip r:embed="rId3"/>
            <a:stretch/>
          </p:blipFill>
          <p:spPr>
            <a:xfrm>
              <a:off x="2326511" y="581220"/>
              <a:ext cx="7040520" cy="2604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 1"/>
            <p:cNvSpPr/>
            <p:nvPr/>
          </p:nvSpPr>
          <p:spPr>
            <a:xfrm>
              <a:off x="2326511" y="3262224"/>
              <a:ext cx="704052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850" b="0" i="1" u="none" strike="noStrike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Figure 4 (FuzPred): pDO blue · MBM green · region tracks · AlphaFold model</a:t>
              </a:r>
              <a:endParaRPr lang="en-US" sz="8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" name="Text 2"/>
          <p:cNvSpPr/>
          <p:nvPr/>
        </p:nvSpPr>
        <p:spPr>
          <a:xfrm>
            <a:off x="540774" y="4460725"/>
            <a:ext cx="3611876" cy="2170548"/>
          </a:xfrm>
          <a:prstGeom prst="roundRect">
            <a:avLst>
              <a:gd name="adj" fmla="val 1724"/>
            </a:avLst>
          </a:prstGeom>
          <a:solidFill>
            <a:srgbClr val="DCEFDD"/>
          </a:solidFill>
          <a:ln w="1524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direct test of ‘fuzzy’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Fuxreiter's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lab) predicts, per residue, whether a region folds on binding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or stays fuzzy, and how many binding modes it can adopt (MBM).</a:t>
            </a: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median </a:t>
            </a:r>
            <a:r>
              <a:rPr lang="en-US" sz="1200" b="1" u="none" strike="noStrike" dirty="0" err="1">
                <a:solidFill>
                  <a:srgbClr val="1A7A34"/>
                </a:solidFill>
                <a:effectLst/>
                <a:uFillTx/>
                <a:latin typeface="Calibri"/>
              </a:rPr>
              <a:t>pDO</a:t>
            </a: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 0.40   ·   68% multi-mode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63% context-dependent   ·   only 25% fold-on-binding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B9770E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→ Sororin binds predominantly fuzzy &amp; multi-mode = a fuzzy hub, confirmed by her own method.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036175" y="4454733"/>
            <a:ext cx="3611876" cy="2170548"/>
          </a:xfrm>
          <a:prstGeom prst="roundRect">
            <a:avLst>
              <a:gd name="adj" fmla="val 1493"/>
            </a:avLst>
          </a:prstGeom>
          <a:solidFill>
            <a:srgbClr val="F7F7F7"/>
          </a:solidFill>
          <a:ln w="12700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What each determinant does when it binds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FGF motif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0.34, MBM 0.70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Ser209 (ERK2)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0.33, MBM 0.80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on binding (degron grabbed by a folded machine)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C-terminal domain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0.66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(the one folded element)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most sites bind fuzzy; only the KEN degron and the folded domain fold.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4288473" y="4457729"/>
            <a:ext cx="3611876" cy="2176540"/>
          </a:xfrm>
          <a:prstGeom prst="roundRect">
            <a:avLst>
              <a:gd name="adj" fmla="val 1493"/>
            </a:avLst>
          </a:prstGeom>
          <a:solidFill>
            <a:srgbClr val="F0E8F4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IUPred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vs </a:t>
            </a: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— two different questions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is this region disordered on its own (free)?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when it binds, does it fold?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So the KEN box is disordered when free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0.64) but folds when bound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0.87) — a disorder-to-order (fold-upon-binding) element. No contradiction.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762A83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→ disorder = the free state; </a:t>
            </a:r>
            <a:r>
              <a:rPr lang="en-US" sz="115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= the binding mode. Sororin's disordered regions aren't all alike: most stay fuzzy, the KEN degron folds.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126</TotalTime>
  <Words>2161</Words>
  <Application>Microsoft Office PowerPoint</Application>
  <PresentationFormat>Custom</PresentationFormat>
  <Paragraphs>212</Paragraphs>
  <Slides>11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Arial</vt:lpstr>
      <vt:lpstr>Calibri</vt:lpstr>
      <vt:lpstr>Cambria</vt:lpstr>
      <vt:lpstr>Cambria Math</vt:lpstr>
      <vt:lpstr>Symbol</vt:lpstr>
      <vt:lpstr>Times New Roman</vt:lpstr>
      <vt:lpstr>Wingdings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Amirhossein Rezaei</cp:lastModifiedBy>
  <cp:revision>51</cp:revision>
  <dcterms:created xsi:type="dcterms:W3CDTF">2026-07-24T12:17:33Z</dcterms:created>
  <dcterms:modified xsi:type="dcterms:W3CDTF">2026-07-25T16:20:08Z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5</vt:r8>
  </property>
  <property fmtid="{D5CDD505-2E9C-101B-9397-08002B2CF9AE}" pid="3" name="PresentationFormat">
    <vt:lpwstr>On-screen Show (16:9)</vt:lpwstr>
  </property>
  <property fmtid="{D5CDD505-2E9C-101B-9397-08002B2CF9AE}" pid="4" name="Slides">
    <vt:r8>5</vt:r8>
  </property>
</Properties>
</file>