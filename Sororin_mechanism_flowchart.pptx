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</p:sldIdLst>
  <p:sldSz cx="12188825" cy="6858000"/>
  <p:notesSz cx="6858000" cy="12188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89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D1FE1BC-EA02-44F1-8101-5AC57865442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03EB6C-B8A1-4EB8-A8AF-B11F07E4CF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6EDF5A-A12A-48B9-86FB-6F1EA0273D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686CE0-4F00-4C38-AD55-CC235F7477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93C1F8-4F2E-4897-B279-CE7531E03D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30D3AF-C09A-44A7-B29E-A9AE035C13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/tmp/assets/af_crop.png"/>
          <p:cNvPicPr/>
          <p:nvPr/>
        </p:nvPicPr>
        <p:blipFill>
          <a:blip r:embed="rId3"/>
          <a:stretch/>
        </p:blipFill>
        <p:spPr>
          <a:xfrm>
            <a:off x="9119880" y="1554660"/>
            <a:ext cx="2766960" cy="374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731520" y="1828800"/>
            <a:ext cx="850356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 dirty="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How Sororin controls sister-chromatid cohesion</a:t>
            </a:r>
            <a:endParaRPr lang="en-US" sz="3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749880" y="338328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 floppy (intrinsically disordered) protein switched on and off by phosphate tags and degrons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749880" y="42976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9FB0D8"/>
                </a:solidFill>
                <a:effectLst/>
                <a:uFillTx/>
                <a:latin typeface="Calibri"/>
                <a:ea typeface="Calibri"/>
              </a:rPr>
              <a:t>Sororin (CDCA5)  •  UniProt Q96FF9  •  252 residues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8949060" y="539514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 dirty="0">
                <a:solidFill>
                  <a:srgbClr val="9FB0D8"/>
                </a:solidFill>
                <a:effectLst/>
                <a:uFillTx/>
                <a:latin typeface="Calibri"/>
                <a:ea typeface="Calibri"/>
              </a:rPr>
              <a:t> AlphaFold model: mostly extended, unfolded chain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457200" y="18288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2C3E50"/>
                </a:solidFill>
                <a:effectLst/>
                <a:uFillTx/>
                <a:latin typeface="Cambria"/>
                <a:ea typeface="Cambria"/>
              </a:rPr>
              <a:t>The setup: a competition for the PDS5 seat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1455102" y="5214724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 dirty="0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2 sister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 dirty="0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chromatids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3FAB1EF-1C19-0989-E8CE-01132739EC81}"/>
              </a:ext>
            </a:extLst>
          </p:cNvPr>
          <p:cNvGrpSpPr/>
          <p:nvPr/>
        </p:nvGrpSpPr>
        <p:grpSpPr>
          <a:xfrm>
            <a:off x="683513" y="3010368"/>
            <a:ext cx="2080678" cy="539170"/>
            <a:chOff x="364666" y="3017700"/>
            <a:chExt cx="2080678" cy="539170"/>
          </a:xfrm>
        </p:grpSpPr>
        <p:sp>
          <p:nvSpPr>
            <p:cNvPr id="19" name="Text 4"/>
            <p:cNvSpPr/>
            <p:nvPr/>
          </p:nvSpPr>
          <p:spPr>
            <a:xfrm>
              <a:off x="616593" y="3017700"/>
              <a:ext cx="1569778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1" dirty="0">
                  <a:solidFill>
                    <a:srgbClr val="2166AC"/>
                  </a:solidFill>
                  <a:latin typeface="Calibri"/>
                  <a:ea typeface="Calibri"/>
                </a:rPr>
                <a:t>C</a:t>
              </a:r>
              <a:r>
                <a:rPr lang="en-US" sz="1200" b="1" u="none" strike="noStrike" dirty="0">
                  <a:solidFill>
                    <a:srgbClr val="2166AC"/>
                  </a:solidFill>
                  <a:effectLst/>
                  <a:uFillTx/>
                  <a:latin typeface="Calibri"/>
                  <a:ea typeface="Calibri"/>
                </a:rPr>
                <a:t>ohesin ring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Text 6"/>
            <p:cNvSpPr/>
            <p:nvPr/>
          </p:nvSpPr>
          <p:spPr>
            <a:xfrm>
              <a:off x="364666" y="3282910"/>
              <a:ext cx="2080678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0" u="none" strike="noStrike" dirty="0">
                  <a:solidFill>
                    <a:srgbClr val="5A6B7B"/>
                  </a:solidFill>
                  <a:effectLst/>
                  <a:uFillTx/>
                  <a:latin typeface="Calibri"/>
                  <a:ea typeface="Calibri"/>
                </a:rPr>
                <a:t>SMC1A · SMC3 · RAD21 · STAG1/2</a:t>
              </a:r>
              <a:endParaRPr lang="en-US" sz="9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Text 9"/>
          <p:cNvSpPr/>
          <p:nvPr/>
        </p:nvSpPr>
        <p:spPr>
          <a:xfrm>
            <a:off x="3535182" y="3491658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 dirty="0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the docking 'seat'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4533638" y="3002044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compete for the seat</a:t>
            </a:r>
            <a:endParaRPr lang="en-US" sz="1100" b="0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a_arrG"/>
          <p:cNvSpPr/>
          <p:nvPr/>
        </p:nvSpPr>
        <p:spPr>
          <a:xfrm flipV="1">
            <a:off x="4487918" y="2316244"/>
            <a:ext cx="1737360" cy="914400"/>
          </a:xfrm>
          <a:prstGeom prst="line">
            <a:avLst/>
          </a:prstGeom>
          <a:ln w="25400">
            <a:solidFill>
              <a:srgbClr val="1A7A3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a_arrRd"/>
          <p:cNvSpPr/>
          <p:nvPr/>
        </p:nvSpPr>
        <p:spPr>
          <a:xfrm>
            <a:off x="4487918" y="3230644"/>
            <a:ext cx="1737360" cy="914400"/>
          </a:xfrm>
          <a:prstGeom prst="line">
            <a:avLst/>
          </a:prstGeom>
          <a:ln w="25400">
            <a:solidFill>
              <a:srgbClr val="B2182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a_sororin"/>
          <p:cNvSpPr/>
          <p:nvPr/>
        </p:nvSpPr>
        <p:spPr>
          <a:xfrm>
            <a:off x="6362438" y="1676164"/>
            <a:ext cx="4663080" cy="1371240"/>
          </a:xfrm>
          <a:prstGeom prst="roundRect">
            <a:avLst>
              <a:gd name="adj" fmla="val 4000"/>
            </a:avLst>
          </a:prstGeom>
          <a:solidFill>
            <a:srgbClr val="DCEFDD"/>
          </a:solidFill>
          <a:ln w="19050">
            <a:solidFill>
              <a:srgbClr val="1A7A3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dirty="0">
                <a:solidFill>
                  <a:srgbClr val="1A7A34"/>
                </a:solidFill>
                <a:effectLst/>
                <a:uFillTx/>
                <a:latin typeface="Calibri"/>
              </a:rPr>
              <a:t>SORORIN  — the lock</a:t>
            </a:r>
            <a:endParaRPr lang="en-US" sz="1400" b="0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dirty="0">
                <a:solidFill>
                  <a:srgbClr val="1B5E20"/>
                </a:solidFill>
                <a:effectLst/>
                <a:uFillTx/>
                <a:latin typeface="Calibri"/>
              </a:rPr>
              <a:t>grabs PDS5 via its FGF motif (aa 166–168) → blocks WAPL → ring stays CLOSED → cohesion protected</a:t>
            </a:r>
            <a:endParaRPr lang="en-US" sz="1200" b="0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a_wapl"/>
          <p:cNvSpPr/>
          <p:nvPr/>
        </p:nvSpPr>
        <p:spPr>
          <a:xfrm>
            <a:off x="6362438" y="3459244"/>
            <a:ext cx="4663080" cy="1371240"/>
          </a:xfrm>
          <a:prstGeom prst="roundRect">
            <a:avLst>
              <a:gd name="adj" fmla="val 4000"/>
            </a:avLst>
          </a:prstGeom>
          <a:solidFill>
            <a:srgbClr val="F7DBDB"/>
          </a:solidFill>
          <a:ln w="19050">
            <a:solidFill>
              <a:srgbClr val="B218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1520" tIns="101520" rIns="101520" bIns="10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dirty="0">
                <a:solidFill>
                  <a:srgbClr val="B2182B"/>
                </a:solidFill>
                <a:effectLst/>
                <a:uFillTx/>
                <a:latin typeface="Calibri"/>
              </a:rPr>
              <a:t>WAPL  — the release factor</a:t>
            </a:r>
            <a:endParaRPr lang="en-US" sz="1400" b="0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dirty="0">
                <a:solidFill>
                  <a:srgbClr val="7B1616"/>
                </a:solidFill>
                <a:effectLst/>
                <a:uFillTx/>
                <a:latin typeface="Calibri"/>
              </a:rPr>
              <a:t>when Sororin is switched off, WAPL takes the seat → opens the ring → </a:t>
            </a:r>
            <a:r>
              <a:rPr lang="en-US" sz="1200" dirty="0">
                <a:solidFill>
                  <a:srgbClr val="7B1616"/>
                </a:solidFill>
                <a:latin typeface="Calibri"/>
              </a:rPr>
              <a:t>C</a:t>
            </a:r>
            <a:r>
              <a:rPr lang="en-US" sz="1200" b="0" strike="noStrike" dirty="0">
                <a:solidFill>
                  <a:srgbClr val="7B1616"/>
                </a:solidFill>
                <a:effectLst/>
                <a:uFillTx/>
                <a:latin typeface="Calibri"/>
              </a:rPr>
              <a:t>ohesin falls off → sisters can separate</a:t>
            </a:r>
            <a:endParaRPr lang="en-US" sz="1200" b="0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1097280" y="598932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u="none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Whoever wins the PDS5 seat decides: Sororin on = glued;  WAPL on = released.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D370A15-82E0-0A4A-F593-15E6E3A240CA}"/>
              </a:ext>
            </a:extLst>
          </p:cNvPr>
          <p:cNvGrpSpPr/>
          <p:nvPr/>
        </p:nvGrpSpPr>
        <p:grpSpPr>
          <a:xfrm>
            <a:off x="2460582" y="1470004"/>
            <a:ext cx="2215750" cy="3835980"/>
            <a:chOff x="2460582" y="1470004"/>
            <a:chExt cx="2215750" cy="3835980"/>
          </a:xfrm>
        </p:grpSpPr>
        <p:sp>
          <p:nvSpPr>
            <p:cNvPr id="4" name="Block Arc 3">
              <a:extLst>
                <a:ext uri="{FF2B5EF4-FFF2-40B4-BE49-F238E27FC236}">
                  <a16:creationId xmlns:a16="http://schemas.microsoft.com/office/drawing/2014/main" id="{440F22A2-2C24-C862-E220-79561A526FF9}"/>
                </a:ext>
              </a:extLst>
            </p:cNvPr>
            <p:cNvSpPr/>
            <p:nvPr/>
          </p:nvSpPr>
          <p:spPr>
            <a:xfrm>
              <a:off x="2557256" y="2883366"/>
              <a:ext cx="1620012" cy="822599"/>
            </a:xfrm>
            <a:prstGeom prst="blockArc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Shape 3"/>
            <p:cNvSpPr/>
            <p:nvPr/>
          </p:nvSpPr>
          <p:spPr>
            <a:xfrm>
              <a:off x="3451642" y="1470004"/>
              <a:ext cx="814880" cy="3820087"/>
            </a:xfrm>
            <a:custGeom>
              <a:avLst/>
              <a:gdLst>
                <a:gd name="csX0" fmla="*/ 0 w 383760"/>
                <a:gd name="csY0" fmla="*/ 164468 h 2559960"/>
                <a:gd name="csX1" fmla="*/ 164468 w 383760"/>
                <a:gd name="csY1" fmla="*/ 0 h 2559960"/>
                <a:gd name="csX2" fmla="*/ 219292 w 383760"/>
                <a:gd name="csY2" fmla="*/ 0 h 2559960"/>
                <a:gd name="csX3" fmla="*/ 383760 w 383760"/>
                <a:gd name="csY3" fmla="*/ 164468 h 2559960"/>
                <a:gd name="csX4" fmla="*/ 383760 w 383760"/>
                <a:gd name="csY4" fmla="*/ 2395492 h 2559960"/>
                <a:gd name="csX5" fmla="*/ 219292 w 383760"/>
                <a:gd name="csY5" fmla="*/ 2559960 h 2559960"/>
                <a:gd name="csX6" fmla="*/ 164468 w 383760"/>
                <a:gd name="csY6" fmla="*/ 2559960 h 2559960"/>
                <a:gd name="csX7" fmla="*/ 0 w 383760"/>
                <a:gd name="csY7" fmla="*/ 2395492 h 2559960"/>
                <a:gd name="csX8" fmla="*/ 0 w 383760"/>
                <a:gd name="csY8" fmla="*/ 164468 h 2559960"/>
                <a:gd name="csX0" fmla="*/ 0 w 671979"/>
                <a:gd name="csY0" fmla="*/ 903608 h 3299100"/>
                <a:gd name="csX1" fmla="*/ 164468 w 671979"/>
                <a:gd name="csY1" fmla="*/ 739140 h 3299100"/>
                <a:gd name="csX2" fmla="*/ 657442 w 671979"/>
                <a:gd name="csY2" fmla="*/ 0 h 3299100"/>
                <a:gd name="csX3" fmla="*/ 383760 w 671979"/>
                <a:gd name="csY3" fmla="*/ 903608 h 3299100"/>
                <a:gd name="csX4" fmla="*/ 383760 w 671979"/>
                <a:gd name="csY4" fmla="*/ 3134632 h 3299100"/>
                <a:gd name="csX5" fmla="*/ 219292 w 671979"/>
                <a:gd name="csY5" fmla="*/ 3299100 h 3299100"/>
                <a:gd name="csX6" fmla="*/ 164468 w 671979"/>
                <a:gd name="csY6" fmla="*/ 3299100 h 3299100"/>
                <a:gd name="csX7" fmla="*/ 0 w 671979"/>
                <a:gd name="csY7" fmla="*/ 3134632 h 3299100"/>
                <a:gd name="csX8" fmla="*/ 0 w 671979"/>
                <a:gd name="csY8" fmla="*/ 903608 h 3299100"/>
                <a:gd name="csX0" fmla="*/ 0 w 671979"/>
                <a:gd name="csY0" fmla="*/ 903608 h 3299100"/>
                <a:gd name="csX1" fmla="*/ 427358 w 671979"/>
                <a:gd name="csY1" fmla="*/ 57150 h 3299100"/>
                <a:gd name="csX2" fmla="*/ 657442 w 671979"/>
                <a:gd name="csY2" fmla="*/ 0 h 3299100"/>
                <a:gd name="csX3" fmla="*/ 383760 w 671979"/>
                <a:gd name="csY3" fmla="*/ 903608 h 3299100"/>
                <a:gd name="csX4" fmla="*/ 383760 w 671979"/>
                <a:gd name="csY4" fmla="*/ 3134632 h 3299100"/>
                <a:gd name="csX5" fmla="*/ 219292 w 671979"/>
                <a:gd name="csY5" fmla="*/ 3299100 h 3299100"/>
                <a:gd name="csX6" fmla="*/ 164468 w 671979"/>
                <a:gd name="csY6" fmla="*/ 3299100 h 3299100"/>
                <a:gd name="csX7" fmla="*/ 0 w 671979"/>
                <a:gd name="csY7" fmla="*/ 3134632 h 3299100"/>
                <a:gd name="csX8" fmla="*/ 0 w 671979"/>
                <a:gd name="csY8" fmla="*/ 903608 h 3299100"/>
                <a:gd name="csX0" fmla="*/ 0 w 671979"/>
                <a:gd name="csY0" fmla="*/ 904322 h 3299814"/>
                <a:gd name="csX1" fmla="*/ 427358 w 671979"/>
                <a:gd name="csY1" fmla="*/ 57864 h 3299814"/>
                <a:gd name="csX2" fmla="*/ 657442 w 671979"/>
                <a:gd name="csY2" fmla="*/ 714 h 3299814"/>
                <a:gd name="csX3" fmla="*/ 383760 w 671979"/>
                <a:gd name="csY3" fmla="*/ 904322 h 3299814"/>
                <a:gd name="csX4" fmla="*/ 383760 w 671979"/>
                <a:gd name="csY4" fmla="*/ 3135346 h 3299814"/>
                <a:gd name="csX5" fmla="*/ 219292 w 671979"/>
                <a:gd name="csY5" fmla="*/ 3299814 h 3299814"/>
                <a:gd name="csX6" fmla="*/ 164468 w 671979"/>
                <a:gd name="csY6" fmla="*/ 3299814 h 3299814"/>
                <a:gd name="csX7" fmla="*/ 0 w 671979"/>
                <a:gd name="csY7" fmla="*/ 3135346 h 3299814"/>
                <a:gd name="csX8" fmla="*/ 0 w 671979"/>
                <a:gd name="csY8" fmla="*/ 904322 h 3299814"/>
                <a:gd name="csX0" fmla="*/ 0 w 671979"/>
                <a:gd name="csY0" fmla="*/ 910357 h 3305849"/>
                <a:gd name="csX1" fmla="*/ 415928 w 671979"/>
                <a:gd name="csY1" fmla="*/ 44849 h 3305849"/>
                <a:gd name="csX2" fmla="*/ 657442 w 671979"/>
                <a:gd name="csY2" fmla="*/ 6749 h 3305849"/>
                <a:gd name="csX3" fmla="*/ 383760 w 671979"/>
                <a:gd name="csY3" fmla="*/ 910357 h 3305849"/>
                <a:gd name="csX4" fmla="*/ 383760 w 671979"/>
                <a:gd name="csY4" fmla="*/ 3141381 h 3305849"/>
                <a:gd name="csX5" fmla="*/ 219292 w 671979"/>
                <a:gd name="csY5" fmla="*/ 3305849 h 3305849"/>
                <a:gd name="csX6" fmla="*/ 164468 w 671979"/>
                <a:gd name="csY6" fmla="*/ 3305849 h 3305849"/>
                <a:gd name="csX7" fmla="*/ 0 w 671979"/>
                <a:gd name="csY7" fmla="*/ 3141381 h 3305849"/>
                <a:gd name="csX8" fmla="*/ 0 w 671979"/>
                <a:gd name="csY8" fmla="*/ 910357 h 3305849"/>
                <a:gd name="csX0" fmla="*/ 0 w 671979"/>
                <a:gd name="csY0" fmla="*/ 909048 h 3304540"/>
                <a:gd name="csX1" fmla="*/ 415928 w 671979"/>
                <a:gd name="csY1" fmla="*/ 43540 h 3304540"/>
                <a:gd name="csX2" fmla="*/ 657442 w 671979"/>
                <a:gd name="csY2" fmla="*/ 5440 h 3304540"/>
                <a:gd name="csX3" fmla="*/ 383760 w 671979"/>
                <a:gd name="csY3" fmla="*/ 909048 h 3304540"/>
                <a:gd name="csX4" fmla="*/ 383760 w 671979"/>
                <a:gd name="csY4" fmla="*/ 3140072 h 3304540"/>
                <a:gd name="csX5" fmla="*/ 219292 w 671979"/>
                <a:gd name="csY5" fmla="*/ 3304540 h 3304540"/>
                <a:gd name="csX6" fmla="*/ 164468 w 671979"/>
                <a:gd name="csY6" fmla="*/ 3304540 h 3304540"/>
                <a:gd name="csX7" fmla="*/ 0 w 671979"/>
                <a:gd name="csY7" fmla="*/ 3140072 h 3304540"/>
                <a:gd name="csX8" fmla="*/ 0 w 671979"/>
                <a:gd name="csY8" fmla="*/ 909048 h 3304540"/>
                <a:gd name="csX0" fmla="*/ 0 w 671979"/>
                <a:gd name="csY0" fmla="*/ 909048 h 3304540"/>
                <a:gd name="csX1" fmla="*/ 415928 w 671979"/>
                <a:gd name="csY1" fmla="*/ 43540 h 3304540"/>
                <a:gd name="csX2" fmla="*/ 657442 w 671979"/>
                <a:gd name="csY2" fmla="*/ 5440 h 3304540"/>
                <a:gd name="csX3" fmla="*/ 383760 w 671979"/>
                <a:gd name="csY3" fmla="*/ 909048 h 3304540"/>
                <a:gd name="csX4" fmla="*/ 383760 w 671979"/>
                <a:gd name="csY4" fmla="*/ 3140072 h 3304540"/>
                <a:gd name="csX5" fmla="*/ 219292 w 671979"/>
                <a:gd name="csY5" fmla="*/ 3304540 h 3304540"/>
                <a:gd name="csX6" fmla="*/ 164468 w 671979"/>
                <a:gd name="csY6" fmla="*/ 3304540 h 3304540"/>
                <a:gd name="csX7" fmla="*/ 0 w 671979"/>
                <a:gd name="csY7" fmla="*/ 3140072 h 3304540"/>
                <a:gd name="csX8" fmla="*/ 0 w 671979"/>
                <a:gd name="csY8" fmla="*/ 909048 h 3304540"/>
                <a:gd name="csX0" fmla="*/ 0 w 679455"/>
                <a:gd name="csY0" fmla="*/ 909048 h 3304540"/>
                <a:gd name="csX1" fmla="*/ 415928 w 679455"/>
                <a:gd name="csY1" fmla="*/ 43540 h 3304540"/>
                <a:gd name="csX2" fmla="*/ 657442 w 679455"/>
                <a:gd name="csY2" fmla="*/ 5440 h 3304540"/>
                <a:gd name="csX3" fmla="*/ 383760 w 679455"/>
                <a:gd name="csY3" fmla="*/ 909048 h 3304540"/>
                <a:gd name="csX4" fmla="*/ 383760 w 679455"/>
                <a:gd name="csY4" fmla="*/ 3140072 h 3304540"/>
                <a:gd name="csX5" fmla="*/ 219292 w 679455"/>
                <a:gd name="csY5" fmla="*/ 3304540 h 3304540"/>
                <a:gd name="csX6" fmla="*/ 164468 w 679455"/>
                <a:gd name="csY6" fmla="*/ 3304540 h 3304540"/>
                <a:gd name="csX7" fmla="*/ 0 w 679455"/>
                <a:gd name="csY7" fmla="*/ 3140072 h 3304540"/>
                <a:gd name="csX8" fmla="*/ 0 w 679455"/>
                <a:gd name="csY8" fmla="*/ 909048 h 3304540"/>
                <a:gd name="csX0" fmla="*/ 0 w 679455"/>
                <a:gd name="csY0" fmla="*/ 917903 h 3313395"/>
                <a:gd name="csX1" fmla="*/ 415928 w 679455"/>
                <a:gd name="csY1" fmla="*/ 52395 h 3313395"/>
                <a:gd name="csX2" fmla="*/ 657442 w 679455"/>
                <a:gd name="csY2" fmla="*/ 14295 h 3313395"/>
                <a:gd name="csX3" fmla="*/ 383760 w 679455"/>
                <a:gd name="csY3" fmla="*/ 917903 h 3313395"/>
                <a:gd name="csX4" fmla="*/ 383760 w 679455"/>
                <a:gd name="csY4" fmla="*/ 3148927 h 3313395"/>
                <a:gd name="csX5" fmla="*/ 219292 w 679455"/>
                <a:gd name="csY5" fmla="*/ 3313395 h 3313395"/>
                <a:gd name="csX6" fmla="*/ 164468 w 679455"/>
                <a:gd name="csY6" fmla="*/ 3313395 h 3313395"/>
                <a:gd name="csX7" fmla="*/ 0 w 679455"/>
                <a:gd name="csY7" fmla="*/ 3148927 h 3313395"/>
                <a:gd name="csX8" fmla="*/ 0 w 679455"/>
                <a:gd name="csY8" fmla="*/ 917903 h 3313395"/>
                <a:gd name="csX0" fmla="*/ 0 w 680976"/>
                <a:gd name="csY0" fmla="*/ 917903 h 3313395"/>
                <a:gd name="csX1" fmla="*/ 415928 w 680976"/>
                <a:gd name="csY1" fmla="*/ 52395 h 3313395"/>
                <a:gd name="csX2" fmla="*/ 657442 w 680976"/>
                <a:gd name="csY2" fmla="*/ 14295 h 3313395"/>
                <a:gd name="csX3" fmla="*/ 414240 w 680976"/>
                <a:gd name="csY3" fmla="*/ 969338 h 3313395"/>
                <a:gd name="csX4" fmla="*/ 383760 w 680976"/>
                <a:gd name="csY4" fmla="*/ 3148927 h 3313395"/>
                <a:gd name="csX5" fmla="*/ 219292 w 680976"/>
                <a:gd name="csY5" fmla="*/ 3313395 h 3313395"/>
                <a:gd name="csX6" fmla="*/ 164468 w 680976"/>
                <a:gd name="csY6" fmla="*/ 3313395 h 3313395"/>
                <a:gd name="csX7" fmla="*/ 0 w 680976"/>
                <a:gd name="csY7" fmla="*/ 3148927 h 3313395"/>
                <a:gd name="csX8" fmla="*/ 0 w 680976"/>
                <a:gd name="csY8" fmla="*/ 917903 h 3313395"/>
                <a:gd name="csX0" fmla="*/ 0 w 679609"/>
                <a:gd name="csY0" fmla="*/ 917903 h 3313395"/>
                <a:gd name="csX1" fmla="*/ 415928 w 679609"/>
                <a:gd name="csY1" fmla="*/ 52395 h 3313395"/>
                <a:gd name="csX2" fmla="*/ 657442 w 679609"/>
                <a:gd name="csY2" fmla="*/ 14295 h 3313395"/>
                <a:gd name="csX3" fmla="*/ 414240 w 679609"/>
                <a:gd name="csY3" fmla="*/ 969338 h 3313395"/>
                <a:gd name="csX4" fmla="*/ 383760 w 679609"/>
                <a:gd name="csY4" fmla="*/ 3148927 h 3313395"/>
                <a:gd name="csX5" fmla="*/ 219292 w 679609"/>
                <a:gd name="csY5" fmla="*/ 3313395 h 3313395"/>
                <a:gd name="csX6" fmla="*/ 164468 w 679609"/>
                <a:gd name="csY6" fmla="*/ 3313395 h 3313395"/>
                <a:gd name="csX7" fmla="*/ 0 w 679609"/>
                <a:gd name="csY7" fmla="*/ 3148927 h 3313395"/>
                <a:gd name="csX8" fmla="*/ 0 w 679609"/>
                <a:gd name="csY8" fmla="*/ 917903 h 3313395"/>
                <a:gd name="csX0" fmla="*/ 0 w 678091"/>
                <a:gd name="csY0" fmla="*/ 917903 h 3313395"/>
                <a:gd name="csX1" fmla="*/ 415928 w 678091"/>
                <a:gd name="csY1" fmla="*/ 52395 h 3313395"/>
                <a:gd name="csX2" fmla="*/ 657442 w 678091"/>
                <a:gd name="csY2" fmla="*/ 14295 h 3313395"/>
                <a:gd name="csX3" fmla="*/ 379950 w 678091"/>
                <a:gd name="csY3" fmla="*/ 1015058 h 3313395"/>
                <a:gd name="csX4" fmla="*/ 383760 w 678091"/>
                <a:gd name="csY4" fmla="*/ 3148927 h 3313395"/>
                <a:gd name="csX5" fmla="*/ 219292 w 678091"/>
                <a:gd name="csY5" fmla="*/ 3313395 h 3313395"/>
                <a:gd name="csX6" fmla="*/ 164468 w 678091"/>
                <a:gd name="csY6" fmla="*/ 3313395 h 3313395"/>
                <a:gd name="csX7" fmla="*/ 0 w 678091"/>
                <a:gd name="csY7" fmla="*/ 3148927 h 3313395"/>
                <a:gd name="csX8" fmla="*/ 0 w 678091"/>
                <a:gd name="csY8" fmla="*/ 917903 h 3313395"/>
                <a:gd name="csX0" fmla="*/ 0 w 678091"/>
                <a:gd name="csY0" fmla="*/ 917903 h 3313395"/>
                <a:gd name="csX1" fmla="*/ 415928 w 678091"/>
                <a:gd name="csY1" fmla="*/ 52395 h 3313395"/>
                <a:gd name="csX2" fmla="*/ 657442 w 678091"/>
                <a:gd name="csY2" fmla="*/ 14295 h 3313395"/>
                <a:gd name="csX3" fmla="*/ 379950 w 678091"/>
                <a:gd name="csY3" fmla="*/ 1015058 h 3313395"/>
                <a:gd name="csX4" fmla="*/ 383760 w 678091"/>
                <a:gd name="csY4" fmla="*/ 3148927 h 3313395"/>
                <a:gd name="csX5" fmla="*/ 219292 w 678091"/>
                <a:gd name="csY5" fmla="*/ 3313395 h 3313395"/>
                <a:gd name="csX6" fmla="*/ 164468 w 678091"/>
                <a:gd name="csY6" fmla="*/ 3313395 h 3313395"/>
                <a:gd name="csX7" fmla="*/ 0 w 678091"/>
                <a:gd name="csY7" fmla="*/ 3148927 h 3313395"/>
                <a:gd name="csX8" fmla="*/ 0 w 678091"/>
                <a:gd name="csY8" fmla="*/ 917903 h 3313395"/>
                <a:gd name="csX0" fmla="*/ 5926 w 684017"/>
                <a:gd name="csY0" fmla="*/ 917903 h 3313395"/>
                <a:gd name="csX1" fmla="*/ 421854 w 684017"/>
                <a:gd name="csY1" fmla="*/ 52395 h 3313395"/>
                <a:gd name="csX2" fmla="*/ 663368 w 684017"/>
                <a:gd name="csY2" fmla="*/ 14295 h 3313395"/>
                <a:gd name="csX3" fmla="*/ 385876 w 684017"/>
                <a:gd name="csY3" fmla="*/ 1015058 h 3313395"/>
                <a:gd name="csX4" fmla="*/ 389686 w 684017"/>
                <a:gd name="csY4" fmla="*/ 3148927 h 3313395"/>
                <a:gd name="csX5" fmla="*/ 225218 w 684017"/>
                <a:gd name="csY5" fmla="*/ 3313395 h 3313395"/>
                <a:gd name="csX6" fmla="*/ 170394 w 684017"/>
                <a:gd name="csY6" fmla="*/ 3313395 h 3313395"/>
                <a:gd name="csX7" fmla="*/ 5926 w 684017"/>
                <a:gd name="csY7" fmla="*/ 3148927 h 3313395"/>
                <a:gd name="csX8" fmla="*/ 5926 w 684017"/>
                <a:gd name="csY8" fmla="*/ 917903 h 3313395"/>
                <a:gd name="csX0" fmla="*/ 41910 w 678091"/>
                <a:gd name="csY0" fmla="*/ 967433 h 3313395"/>
                <a:gd name="csX1" fmla="*/ 415928 w 678091"/>
                <a:gd name="csY1" fmla="*/ 52395 h 3313395"/>
                <a:gd name="csX2" fmla="*/ 657442 w 678091"/>
                <a:gd name="csY2" fmla="*/ 14295 h 3313395"/>
                <a:gd name="csX3" fmla="*/ 379950 w 678091"/>
                <a:gd name="csY3" fmla="*/ 1015058 h 3313395"/>
                <a:gd name="csX4" fmla="*/ 383760 w 678091"/>
                <a:gd name="csY4" fmla="*/ 3148927 h 3313395"/>
                <a:gd name="csX5" fmla="*/ 219292 w 678091"/>
                <a:gd name="csY5" fmla="*/ 3313395 h 3313395"/>
                <a:gd name="csX6" fmla="*/ 164468 w 678091"/>
                <a:gd name="csY6" fmla="*/ 3313395 h 3313395"/>
                <a:gd name="csX7" fmla="*/ 0 w 678091"/>
                <a:gd name="csY7" fmla="*/ 3148927 h 3313395"/>
                <a:gd name="csX8" fmla="*/ 41910 w 678091"/>
                <a:gd name="csY8" fmla="*/ 967433 h 3313395"/>
                <a:gd name="csX0" fmla="*/ 41910 w 719996"/>
                <a:gd name="csY0" fmla="*/ 967433 h 3806155"/>
                <a:gd name="csX1" fmla="*/ 415928 w 719996"/>
                <a:gd name="csY1" fmla="*/ 52395 h 3806155"/>
                <a:gd name="csX2" fmla="*/ 657442 w 719996"/>
                <a:gd name="csY2" fmla="*/ 14295 h 3806155"/>
                <a:gd name="csX3" fmla="*/ 379950 w 719996"/>
                <a:gd name="csY3" fmla="*/ 1015058 h 3806155"/>
                <a:gd name="csX4" fmla="*/ 383760 w 719996"/>
                <a:gd name="csY4" fmla="*/ 3148927 h 3806155"/>
                <a:gd name="csX5" fmla="*/ 706972 w 719996"/>
                <a:gd name="csY5" fmla="*/ 3806155 h 3806155"/>
                <a:gd name="csX6" fmla="*/ 164468 w 719996"/>
                <a:gd name="csY6" fmla="*/ 3313395 h 3806155"/>
                <a:gd name="csX7" fmla="*/ 0 w 719996"/>
                <a:gd name="csY7" fmla="*/ 3148927 h 3806155"/>
                <a:gd name="csX8" fmla="*/ 41910 w 719996"/>
                <a:gd name="csY8" fmla="*/ 967433 h 3806155"/>
                <a:gd name="csX0" fmla="*/ 41910 w 719996"/>
                <a:gd name="csY0" fmla="*/ 967433 h 3806155"/>
                <a:gd name="csX1" fmla="*/ 415928 w 719996"/>
                <a:gd name="csY1" fmla="*/ 52395 h 3806155"/>
                <a:gd name="csX2" fmla="*/ 657442 w 719996"/>
                <a:gd name="csY2" fmla="*/ 14295 h 3806155"/>
                <a:gd name="csX3" fmla="*/ 379950 w 719996"/>
                <a:gd name="csY3" fmla="*/ 1015058 h 3806155"/>
                <a:gd name="csX4" fmla="*/ 383760 w 719996"/>
                <a:gd name="csY4" fmla="*/ 3148927 h 3806155"/>
                <a:gd name="csX5" fmla="*/ 706972 w 719996"/>
                <a:gd name="csY5" fmla="*/ 3806155 h 3806155"/>
                <a:gd name="csX6" fmla="*/ 311788 w 719996"/>
                <a:gd name="csY6" fmla="*/ 3536915 h 3806155"/>
                <a:gd name="csX7" fmla="*/ 0 w 719996"/>
                <a:gd name="csY7" fmla="*/ 3148927 h 3806155"/>
                <a:gd name="csX8" fmla="*/ 41910 w 719996"/>
                <a:gd name="csY8" fmla="*/ 967433 h 3806155"/>
                <a:gd name="csX0" fmla="*/ 41910 w 721380"/>
                <a:gd name="csY0" fmla="*/ 967433 h 3806155"/>
                <a:gd name="csX1" fmla="*/ 415928 w 721380"/>
                <a:gd name="csY1" fmla="*/ 52395 h 3806155"/>
                <a:gd name="csX2" fmla="*/ 657442 w 721380"/>
                <a:gd name="csY2" fmla="*/ 14295 h 3806155"/>
                <a:gd name="csX3" fmla="*/ 379950 w 721380"/>
                <a:gd name="csY3" fmla="*/ 1015058 h 3806155"/>
                <a:gd name="csX4" fmla="*/ 429480 w 721380"/>
                <a:gd name="csY4" fmla="*/ 3057487 h 3806155"/>
                <a:gd name="csX5" fmla="*/ 706972 w 721380"/>
                <a:gd name="csY5" fmla="*/ 3806155 h 3806155"/>
                <a:gd name="csX6" fmla="*/ 311788 w 721380"/>
                <a:gd name="csY6" fmla="*/ 3536915 h 3806155"/>
                <a:gd name="csX7" fmla="*/ 0 w 721380"/>
                <a:gd name="csY7" fmla="*/ 3148927 h 3806155"/>
                <a:gd name="csX8" fmla="*/ 41910 w 721380"/>
                <a:gd name="csY8" fmla="*/ 967433 h 3806155"/>
                <a:gd name="csX0" fmla="*/ 41910 w 721380"/>
                <a:gd name="csY0" fmla="*/ 967433 h 3806155"/>
                <a:gd name="csX1" fmla="*/ 415928 w 721380"/>
                <a:gd name="csY1" fmla="*/ 52395 h 3806155"/>
                <a:gd name="csX2" fmla="*/ 657442 w 721380"/>
                <a:gd name="csY2" fmla="*/ 14295 h 3806155"/>
                <a:gd name="csX3" fmla="*/ 379950 w 721380"/>
                <a:gd name="csY3" fmla="*/ 1015058 h 3806155"/>
                <a:gd name="csX4" fmla="*/ 429480 w 721380"/>
                <a:gd name="csY4" fmla="*/ 3057487 h 3806155"/>
                <a:gd name="csX5" fmla="*/ 706972 w 721380"/>
                <a:gd name="csY5" fmla="*/ 3806155 h 3806155"/>
                <a:gd name="csX6" fmla="*/ 291468 w 721380"/>
                <a:gd name="csY6" fmla="*/ 3608035 h 3806155"/>
                <a:gd name="csX7" fmla="*/ 0 w 721380"/>
                <a:gd name="csY7" fmla="*/ 3148927 h 3806155"/>
                <a:gd name="csX8" fmla="*/ 41910 w 721380"/>
                <a:gd name="csY8" fmla="*/ 967433 h 3806155"/>
                <a:gd name="csX0" fmla="*/ 41910 w 682244"/>
                <a:gd name="csY0" fmla="*/ 967433 h 3755355"/>
                <a:gd name="csX1" fmla="*/ 415928 w 682244"/>
                <a:gd name="csY1" fmla="*/ 52395 h 3755355"/>
                <a:gd name="csX2" fmla="*/ 657442 w 682244"/>
                <a:gd name="csY2" fmla="*/ 14295 h 3755355"/>
                <a:gd name="csX3" fmla="*/ 379950 w 682244"/>
                <a:gd name="csY3" fmla="*/ 1015058 h 3755355"/>
                <a:gd name="csX4" fmla="*/ 429480 w 682244"/>
                <a:gd name="csY4" fmla="*/ 3057487 h 3755355"/>
                <a:gd name="csX5" fmla="*/ 666332 w 682244"/>
                <a:gd name="csY5" fmla="*/ 3755355 h 3755355"/>
                <a:gd name="csX6" fmla="*/ 291468 w 682244"/>
                <a:gd name="csY6" fmla="*/ 3608035 h 3755355"/>
                <a:gd name="csX7" fmla="*/ 0 w 682244"/>
                <a:gd name="csY7" fmla="*/ 3148927 h 3755355"/>
                <a:gd name="csX8" fmla="*/ 41910 w 682244"/>
                <a:gd name="csY8" fmla="*/ 967433 h 3755355"/>
                <a:gd name="csX0" fmla="*/ 41910 w 682244"/>
                <a:gd name="csY0" fmla="*/ 967433 h 3758018"/>
                <a:gd name="csX1" fmla="*/ 415928 w 682244"/>
                <a:gd name="csY1" fmla="*/ 52395 h 3758018"/>
                <a:gd name="csX2" fmla="*/ 657442 w 682244"/>
                <a:gd name="csY2" fmla="*/ 14295 h 3758018"/>
                <a:gd name="csX3" fmla="*/ 379950 w 682244"/>
                <a:gd name="csY3" fmla="*/ 1015058 h 3758018"/>
                <a:gd name="csX4" fmla="*/ 429480 w 682244"/>
                <a:gd name="csY4" fmla="*/ 3057487 h 3758018"/>
                <a:gd name="csX5" fmla="*/ 666332 w 682244"/>
                <a:gd name="csY5" fmla="*/ 3755355 h 3758018"/>
                <a:gd name="csX6" fmla="*/ 291468 w 682244"/>
                <a:gd name="csY6" fmla="*/ 3608035 h 3758018"/>
                <a:gd name="csX7" fmla="*/ 0 w 682244"/>
                <a:gd name="csY7" fmla="*/ 3148927 h 3758018"/>
                <a:gd name="csX8" fmla="*/ 41910 w 682244"/>
                <a:gd name="csY8" fmla="*/ 967433 h 3758018"/>
                <a:gd name="csX0" fmla="*/ 41910 w 855055"/>
                <a:gd name="csY0" fmla="*/ 967433 h 3818160"/>
                <a:gd name="csX1" fmla="*/ 415928 w 855055"/>
                <a:gd name="csY1" fmla="*/ 52395 h 3818160"/>
                <a:gd name="csX2" fmla="*/ 657442 w 855055"/>
                <a:gd name="csY2" fmla="*/ 14295 h 3818160"/>
                <a:gd name="csX3" fmla="*/ 379950 w 855055"/>
                <a:gd name="csY3" fmla="*/ 1015058 h 3818160"/>
                <a:gd name="csX4" fmla="*/ 429480 w 855055"/>
                <a:gd name="csY4" fmla="*/ 3057487 h 3818160"/>
                <a:gd name="csX5" fmla="*/ 844132 w 855055"/>
                <a:gd name="csY5" fmla="*/ 3816315 h 3818160"/>
                <a:gd name="csX6" fmla="*/ 291468 w 855055"/>
                <a:gd name="csY6" fmla="*/ 3608035 h 3818160"/>
                <a:gd name="csX7" fmla="*/ 0 w 855055"/>
                <a:gd name="csY7" fmla="*/ 3148927 h 3818160"/>
                <a:gd name="csX8" fmla="*/ 41910 w 855055"/>
                <a:gd name="csY8" fmla="*/ 967433 h 3818160"/>
                <a:gd name="csX0" fmla="*/ 41910 w 855055"/>
                <a:gd name="csY0" fmla="*/ 967433 h 3817846"/>
                <a:gd name="csX1" fmla="*/ 415928 w 855055"/>
                <a:gd name="csY1" fmla="*/ 52395 h 3817846"/>
                <a:gd name="csX2" fmla="*/ 657442 w 855055"/>
                <a:gd name="csY2" fmla="*/ 14295 h 3817846"/>
                <a:gd name="csX3" fmla="*/ 379950 w 855055"/>
                <a:gd name="csY3" fmla="*/ 1015058 h 3817846"/>
                <a:gd name="csX4" fmla="*/ 429480 w 855055"/>
                <a:gd name="csY4" fmla="*/ 3057487 h 3817846"/>
                <a:gd name="csX5" fmla="*/ 844132 w 855055"/>
                <a:gd name="csY5" fmla="*/ 3816315 h 3817846"/>
                <a:gd name="csX6" fmla="*/ 433708 w 855055"/>
                <a:gd name="csY6" fmla="*/ 3567395 h 3817846"/>
                <a:gd name="csX7" fmla="*/ 0 w 855055"/>
                <a:gd name="csY7" fmla="*/ 3148927 h 3817846"/>
                <a:gd name="csX8" fmla="*/ 41910 w 855055"/>
                <a:gd name="csY8" fmla="*/ 967433 h 3817846"/>
                <a:gd name="csX0" fmla="*/ 1735 w 814880"/>
                <a:gd name="csY0" fmla="*/ 967433 h 3817846"/>
                <a:gd name="csX1" fmla="*/ 375753 w 814880"/>
                <a:gd name="csY1" fmla="*/ 52395 h 3817846"/>
                <a:gd name="csX2" fmla="*/ 617267 w 814880"/>
                <a:gd name="csY2" fmla="*/ 14295 h 3817846"/>
                <a:gd name="csX3" fmla="*/ 339775 w 814880"/>
                <a:gd name="csY3" fmla="*/ 1015058 h 3817846"/>
                <a:gd name="csX4" fmla="*/ 389305 w 814880"/>
                <a:gd name="csY4" fmla="*/ 3057487 h 3817846"/>
                <a:gd name="csX5" fmla="*/ 803957 w 814880"/>
                <a:gd name="csY5" fmla="*/ 3816315 h 3817846"/>
                <a:gd name="csX6" fmla="*/ 393533 w 814880"/>
                <a:gd name="csY6" fmla="*/ 3567395 h 3817846"/>
                <a:gd name="csX7" fmla="*/ 56345 w 814880"/>
                <a:gd name="csY7" fmla="*/ 3077807 h 3817846"/>
                <a:gd name="csX8" fmla="*/ 1735 w 814880"/>
                <a:gd name="csY8" fmla="*/ 967433 h 3817846"/>
                <a:gd name="csX0" fmla="*/ 1735 w 814880"/>
                <a:gd name="csY0" fmla="*/ 967433 h 3818070"/>
                <a:gd name="csX1" fmla="*/ 375753 w 814880"/>
                <a:gd name="csY1" fmla="*/ 52395 h 3818070"/>
                <a:gd name="csX2" fmla="*/ 617267 w 814880"/>
                <a:gd name="csY2" fmla="*/ 14295 h 3818070"/>
                <a:gd name="csX3" fmla="*/ 339775 w 814880"/>
                <a:gd name="csY3" fmla="*/ 1015058 h 3818070"/>
                <a:gd name="csX4" fmla="*/ 389305 w 814880"/>
                <a:gd name="csY4" fmla="*/ 3057487 h 3818070"/>
                <a:gd name="csX5" fmla="*/ 803957 w 814880"/>
                <a:gd name="csY5" fmla="*/ 3816315 h 3818070"/>
                <a:gd name="csX6" fmla="*/ 403693 w 814880"/>
                <a:gd name="csY6" fmla="*/ 3597875 h 3818070"/>
                <a:gd name="csX7" fmla="*/ 56345 w 814880"/>
                <a:gd name="csY7" fmla="*/ 3077807 h 3818070"/>
                <a:gd name="csX8" fmla="*/ 1735 w 814880"/>
                <a:gd name="csY8" fmla="*/ 967433 h 3818070"/>
                <a:gd name="csX0" fmla="*/ 1735 w 814880"/>
                <a:gd name="csY0" fmla="*/ 967433 h 3819483"/>
                <a:gd name="csX1" fmla="*/ 375753 w 814880"/>
                <a:gd name="csY1" fmla="*/ 52395 h 3819483"/>
                <a:gd name="csX2" fmla="*/ 617267 w 814880"/>
                <a:gd name="csY2" fmla="*/ 14295 h 3819483"/>
                <a:gd name="csX3" fmla="*/ 339775 w 814880"/>
                <a:gd name="csY3" fmla="*/ 1015058 h 3819483"/>
                <a:gd name="csX4" fmla="*/ 389305 w 814880"/>
                <a:gd name="csY4" fmla="*/ 3057487 h 3819483"/>
                <a:gd name="csX5" fmla="*/ 803957 w 814880"/>
                <a:gd name="csY5" fmla="*/ 3816315 h 3819483"/>
                <a:gd name="csX6" fmla="*/ 403693 w 814880"/>
                <a:gd name="csY6" fmla="*/ 3597875 h 3819483"/>
                <a:gd name="csX7" fmla="*/ 56345 w 814880"/>
                <a:gd name="csY7" fmla="*/ 3077807 h 3819483"/>
                <a:gd name="csX8" fmla="*/ 1735 w 814880"/>
                <a:gd name="csY8" fmla="*/ 967433 h 3819483"/>
                <a:gd name="csX0" fmla="*/ 1735 w 814880"/>
                <a:gd name="csY0" fmla="*/ 967433 h 3819483"/>
                <a:gd name="csX1" fmla="*/ 375753 w 814880"/>
                <a:gd name="csY1" fmla="*/ 52395 h 3819483"/>
                <a:gd name="csX2" fmla="*/ 617267 w 814880"/>
                <a:gd name="csY2" fmla="*/ 14295 h 3819483"/>
                <a:gd name="csX3" fmla="*/ 339775 w 814880"/>
                <a:gd name="csY3" fmla="*/ 1015058 h 3819483"/>
                <a:gd name="csX4" fmla="*/ 389305 w 814880"/>
                <a:gd name="csY4" fmla="*/ 3057487 h 3819483"/>
                <a:gd name="csX5" fmla="*/ 803957 w 814880"/>
                <a:gd name="csY5" fmla="*/ 3816315 h 3819483"/>
                <a:gd name="csX6" fmla="*/ 403693 w 814880"/>
                <a:gd name="csY6" fmla="*/ 3597875 h 3819483"/>
                <a:gd name="csX7" fmla="*/ 56345 w 814880"/>
                <a:gd name="csY7" fmla="*/ 3077807 h 3819483"/>
                <a:gd name="csX8" fmla="*/ 1735 w 814880"/>
                <a:gd name="csY8" fmla="*/ 967433 h 3819483"/>
                <a:gd name="csX0" fmla="*/ 1735 w 814880"/>
                <a:gd name="csY0" fmla="*/ 967433 h 3820087"/>
                <a:gd name="csX1" fmla="*/ 375753 w 814880"/>
                <a:gd name="csY1" fmla="*/ 52395 h 3820087"/>
                <a:gd name="csX2" fmla="*/ 617267 w 814880"/>
                <a:gd name="csY2" fmla="*/ 14295 h 3820087"/>
                <a:gd name="csX3" fmla="*/ 339775 w 814880"/>
                <a:gd name="csY3" fmla="*/ 1015058 h 3820087"/>
                <a:gd name="csX4" fmla="*/ 389305 w 814880"/>
                <a:gd name="csY4" fmla="*/ 3057487 h 3820087"/>
                <a:gd name="csX5" fmla="*/ 803957 w 814880"/>
                <a:gd name="csY5" fmla="*/ 3816315 h 3820087"/>
                <a:gd name="csX6" fmla="*/ 403693 w 814880"/>
                <a:gd name="csY6" fmla="*/ 3597875 h 3820087"/>
                <a:gd name="csX7" fmla="*/ 56345 w 814880"/>
                <a:gd name="csY7" fmla="*/ 3077807 h 3820087"/>
                <a:gd name="csX8" fmla="*/ 1735 w 814880"/>
                <a:gd name="csY8" fmla="*/ 967433 h 3820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14880" h="3820087">
                  <a:moveTo>
                    <a:pt x="1735" y="967433"/>
                  </a:moveTo>
                  <a:cubicBezTo>
                    <a:pt x="30310" y="762300"/>
                    <a:pt x="286825" y="136215"/>
                    <a:pt x="375753" y="52395"/>
                  </a:cubicBezTo>
                  <a:cubicBezTo>
                    <a:pt x="477848" y="-12375"/>
                    <a:pt x="499932" y="-6660"/>
                    <a:pt x="617267" y="14295"/>
                  </a:cubicBezTo>
                  <a:cubicBezTo>
                    <a:pt x="734770" y="46680"/>
                    <a:pt x="311200" y="800400"/>
                    <a:pt x="339775" y="1015058"/>
                  </a:cubicBezTo>
                  <a:lnTo>
                    <a:pt x="389305" y="3057487"/>
                  </a:lnTo>
                  <a:cubicBezTo>
                    <a:pt x="389305" y="3148320"/>
                    <a:pt x="894790" y="3816315"/>
                    <a:pt x="803957" y="3816315"/>
                  </a:cubicBezTo>
                  <a:cubicBezTo>
                    <a:pt x="648522" y="3838328"/>
                    <a:pt x="604848" y="3763822"/>
                    <a:pt x="403693" y="3597875"/>
                  </a:cubicBezTo>
                  <a:cubicBezTo>
                    <a:pt x="231580" y="3409915"/>
                    <a:pt x="56345" y="3168640"/>
                    <a:pt x="56345" y="3077807"/>
                  </a:cubicBezTo>
                  <a:cubicBezTo>
                    <a:pt x="56345" y="2334132"/>
                    <a:pt x="-11600" y="1674913"/>
                    <a:pt x="1735" y="967433"/>
                  </a:cubicBezTo>
                  <a:close/>
                </a:path>
              </a:pathLst>
            </a:custGeom>
            <a:solidFill>
              <a:srgbClr val="9DB4CE"/>
            </a:solidFill>
            <a:ln w="12700">
              <a:solidFill>
                <a:srgbClr val="2166AC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2F9B4A-359C-EA97-64C9-CE13763C264E}"/>
                </a:ext>
              </a:extLst>
            </p:cNvPr>
            <p:cNvGrpSpPr/>
            <p:nvPr/>
          </p:nvGrpSpPr>
          <p:grpSpPr>
            <a:xfrm>
              <a:off x="3762292" y="2948940"/>
              <a:ext cx="914040" cy="550961"/>
              <a:chOff x="4149007" y="2971620"/>
              <a:chExt cx="914040" cy="550961"/>
            </a:xfrm>
          </p:grpSpPr>
          <p:sp>
            <p:nvSpPr>
              <p:cNvPr id="22" name="Shape 7"/>
              <p:cNvSpPr>
                <a:spLocks noChangeAspect="1"/>
              </p:cNvSpPr>
              <p:nvPr/>
            </p:nvSpPr>
            <p:spPr>
              <a:xfrm>
                <a:off x="4335563" y="2973941"/>
                <a:ext cx="548640" cy="548640"/>
              </a:xfrm>
              <a:prstGeom prst="ellipse">
                <a:avLst/>
              </a:prstGeom>
              <a:solidFill>
                <a:srgbClr val="5A6B7B"/>
              </a:solidFill>
              <a:ln w="12700">
                <a:solidFill>
                  <a:srgbClr val="2C3E5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Text 8"/>
              <p:cNvSpPr/>
              <p:nvPr/>
            </p:nvSpPr>
            <p:spPr>
              <a:xfrm>
                <a:off x="4149007" y="2971620"/>
                <a:ext cx="914040" cy="502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100" b="1" i="1" strike="noStrike" dirty="0">
                    <a:solidFill>
                      <a:srgbClr val="FFFFFF"/>
                    </a:solidFill>
                    <a:effectLst/>
                    <a:uFillTx/>
                    <a:latin typeface="Calibri"/>
                    <a:ea typeface="Calibri"/>
                  </a:rPr>
                  <a:t>PDS5</a:t>
                </a:r>
                <a:endParaRPr lang="en-US" sz="1100" b="0" i="1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" name="Shape 3">
              <a:extLst>
                <a:ext uri="{FF2B5EF4-FFF2-40B4-BE49-F238E27FC236}">
                  <a16:creationId xmlns:a16="http://schemas.microsoft.com/office/drawing/2014/main" id="{34649F7D-F99B-01BB-61CF-BBD0559AFB4F}"/>
                </a:ext>
              </a:extLst>
            </p:cNvPr>
            <p:cNvSpPr/>
            <p:nvPr/>
          </p:nvSpPr>
          <p:spPr>
            <a:xfrm flipH="1">
              <a:off x="2460582" y="1485897"/>
              <a:ext cx="814880" cy="3820087"/>
            </a:xfrm>
            <a:custGeom>
              <a:avLst/>
              <a:gdLst>
                <a:gd name="csX0" fmla="*/ 0 w 383760"/>
                <a:gd name="csY0" fmla="*/ 164468 h 2559960"/>
                <a:gd name="csX1" fmla="*/ 164468 w 383760"/>
                <a:gd name="csY1" fmla="*/ 0 h 2559960"/>
                <a:gd name="csX2" fmla="*/ 219292 w 383760"/>
                <a:gd name="csY2" fmla="*/ 0 h 2559960"/>
                <a:gd name="csX3" fmla="*/ 383760 w 383760"/>
                <a:gd name="csY3" fmla="*/ 164468 h 2559960"/>
                <a:gd name="csX4" fmla="*/ 383760 w 383760"/>
                <a:gd name="csY4" fmla="*/ 2395492 h 2559960"/>
                <a:gd name="csX5" fmla="*/ 219292 w 383760"/>
                <a:gd name="csY5" fmla="*/ 2559960 h 2559960"/>
                <a:gd name="csX6" fmla="*/ 164468 w 383760"/>
                <a:gd name="csY6" fmla="*/ 2559960 h 2559960"/>
                <a:gd name="csX7" fmla="*/ 0 w 383760"/>
                <a:gd name="csY7" fmla="*/ 2395492 h 2559960"/>
                <a:gd name="csX8" fmla="*/ 0 w 383760"/>
                <a:gd name="csY8" fmla="*/ 164468 h 2559960"/>
                <a:gd name="csX0" fmla="*/ 0 w 671979"/>
                <a:gd name="csY0" fmla="*/ 903608 h 3299100"/>
                <a:gd name="csX1" fmla="*/ 164468 w 671979"/>
                <a:gd name="csY1" fmla="*/ 739140 h 3299100"/>
                <a:gd name="csX2" fmla="*/ 657442 w 671979"/>
                <a:gd name="csY2" fmla="*/ 0 h 3299100"/>
                <a:gd name="csX3" fmla="*/ 383760 w 671979"/>
                <a:gd name="csY3" fmla="*/ 903608 h 3299100"/>
                <a:gd name="csX4" fmla="*/ 383760 w 671979"/>
                <a:gd name="csY4" fmla="*/ 3134632 h 3299100"/>
                <a:gd name="csX5" fmla="*/ 219292 w 671979"/>
                <a:gd name="csY5" fmla="*/ 3299100 h 3299100"/>
                <a:gd name="csX6" fmla="*/ 164468 w 671979"/>
                <a:gd name="csY6" fmla="*/ 3299100 h 3299100"/>
                <a:gd name="csX7" fmla="*/ 0 w 671979"/>
                <a:gd name="csY7" fmla="*/ 3134632 h 3299100"/>
                <a:gd name="csX8" fmla="*/ 0 w 671979"/>
                <a:gd name="csY8" fmla="*/ 903608 h 3299100"/>
                <a:gd name="csX0" fmla="*/ 0 w 671979"/>
                <a:gd name="csY0" fmla="*/ 903608 h 3299100"/>
                <a:gd name="csX1" fmla="*/ 427358 w 671979"/>
                <a:gd name="csY1" fmla="*/ 57150 h 3299100"/>
                <a:gd name="csX2" fmla="*/ 657442 w 671979"/>
                <a:gd name="csY2" fmla="*/ 0 h 3299100"/>
                <a:gd name="csX3" fmla="*/ 383760 w 671979"/>
                <a:gd name="csY3" fmla="*/ 903608 h 3299100"/>
                <a:gd name="csX4" fmla="*/ 383760 w 671979"/>
                <a:gd name="csY4" fmla="*/ 3134632 h 3299100"/>
                <a:gd name="csX5" fmla="*/ 219292 w 671979"/>
                <a:gd name="csY5" fmla="*/ 3299100 h 3299100"/>
                <a:gd name="csX6" fmla="*/ 164468 w 671979"/>
                <a:gd name="csY6" fmla="*/ 3299100 h 3299100"/>
                <a:gd name="csX7" fmla="*/ 0 w 671979"/>
                <a:gd name="csY7" fmla="*/ 3134632 h 3299100"/>
                <a:gd name="csX8" fmla="*/ 0 w 671979"/>
                <a:gd name="csY8" fmla="*/ 903608 h 3299100"/>
                <a:gd name="csX0" fmla="*/ 0 w 671979"/>
                <a:gd name="csY0" fmla="*/ 904322 h 3299814"/>
                <a:gd name="csX1" fmla="*/ 427358 w 671979"/>
                <a:gd name="csY1" fmla="*/ 57864 h 3299814"/>
                <a:gd name="csX2" fmla="*/ 657442 w 671979"/>
                <a:gd name="csY2" fmla="*/ 714 h 3299814"/>
                <a:gd name="csX3" fmla="*/ 383760 w 671979"/>
                <a:gd name="csY3" fmla="*/ 904322 h 3299814"/>
                <a:gd name="csX4" fmla="*/ 383760 w 671979"/>
                <a:gd name="csY4" fmla="*/ 3135346 h 3299814"/>
                <a:gd name="csX5" fmla="*/ 219292 w 671979"/>
                <a:gd name="csY5" fmla="*/ 3299814 h 3299814"/>
                <a:gd name="csX6" fmla="*/ 164468 w 671979"/>
                <a:gd name="csY6" fmla="*/ 3299814 h 3299814"/>
                <a:gd name="csX7" fmla="*/ 0 w 671979"/>
                <a:gd name="csY7" fmla="*/ 3135346 h 3299814"/>
                <a:gd name="csX8" fmla="*/ 0 w 671979"/>
                <a:gd name="csY8" fmla="*/ 904322 h 3299814"/>
                <a:gd name="csX0" fmla="*/ 0 w 671979"/>
                <a:gd name="csY0" fmla="*/ 910357 h 3305849"/>
                <a:gd name="csX1" fmla="*/ 415928 w 671979"/>
                <a:gd name="csY1" fmla="*/ 44849 h 3305849"/>
                <a:gd name="csX2" fmla="*/ 657442 w 671979"/>
                <a:gd name="csY2" fmla="*/ 6749 h 3305849"/>
                <a:gd name="csX3" fmla="*/ 383760 w 671979"/>
                <a:gd name="csY3" fmla="*/ 910357 h 3305849"/>
                <a:gd name="csX4" fmla="*/ 383760 w 671979"/>
                <a:gd name="csY4" fmla="*/ 3141381 h 3305849"/>
                <a:gd name="csX5" fmla="*/ 219292 w 671979"/>
                <a:gd name="csY5" fmla="*/ 3305849 h 3305849"/>
                <a:gd name="csX6" fmla="*/ 164468 w 671979"/>
                <a:gd name="csY6" fmla="*/ 3305849 h 3305849"/>
                <a:gd name="csX7" fmla="*/ 0 w 671979"/>
                <a:gd name="csY7" fmla="*/ 3141381 h 3305849"/>
                <a:gd name="csX8" fmla="*/ 0 w 671979"/>
                <a:gd name="csY8" fmla="*/ 910357 h 3305849"/>
                <a:gd name="csX0" fmla="*/ 0 w 671979"/>
                <a:gd name="csY0" fmla="*/ 909048 h 3304540"/>
                <a:gd name="csX1" fmla="*/ 415928 w 671979"/>
                <a:gd name="csY1" fmla="*/ 43540 h 3304540"/>
                <a:gd name="csX2" fmla="*/ 657442 w 671979"/>
                <a:gd name="csY2" fmla="*/ 5440 h 3304540"/>
                <a:gd name="csX3" fmla="*/ 383760 w 671979"/>
                <a:gd name="csY3" fmla="*/ 909048 h 3304540"/>
                <a:gd name="csX4" fmla="*/ 383760 w 671979"/>
                <a:gd name="csY4" fmla="*/ 3140072 h 3304540"/>
                <a:gd name="csX5" fmla="*/ 219292 w 671979"/>
                <a:gd name="csY5" fmla="*/ 3304540 h 3304540"/>
                <a:gd name="csX6" fmla="*/ 164468 w 671979"/>
                <a:gd name="csY6" fmla="*/ 3304540 h 3304540"/>
                <a:gd name="csX7" fmla="*/ 0 w 671979"/>
                <a:gd name="csY7" fmla="*/ 3140072 h 3304540"/>
                <a:gd name="csX8" fmla="*/ 0 w 671979"/>
                <a:gd name="csY8" fmla="*/ 909048 h 3304540"/>
                <a:gd name="csX0" fmla="*/ 0 w 671979"/>
                <a:gd name="csY0" fmla="*/ 909048 h 3304540"/>
                <a:gd name="csX1" fmla="*/ 415928 w 671979"/>
                <a:gd name="csY1" fmla="*/ 43540 h 3304540"/>
                <a:gd name="csX2" fmla="*/ 657442 w 671979"/>
                <a:gd name="csY2" fmla="*/ 5440 h 3304540"/>
                <a:gd name="csX3" fmla="*/ 383760 w 671979"/>
                <a:gd name="csY3" fmla="*/ 909048 h 3304540"/>
                <a:gd name="csX4" fmla="*/ 383760 w 671979"/>
                <a:gd name="csY4" fmla="*/ 3140072 h 3304540"/>
                <a:gd name="csX5" fmla="*/ 219292 w 671979"/>
                <a:gd name="csY5" fmla="*/ 3304540 h 3304540"/>
                <a:gd name="csX6" fmla="*/ 164468 w 671979"/>
                <a:gd name="csY6" fmla="*/ 3304540 h 3304540"/>
                <a:gd name="csX7" fmla="*/ 0 w 671979"/>
                <a:gd name="csY7" fmla="*/ 3140072 h 3304540"/>
                <a:gd name="csX8" fmla="*/ 0 w 671979"/>
                <a:gd name="csY8" fmla="*/ 909048 h 3304540"/>
                <a:gd name="csX0" fmla="*/ 0 w 679455"/>
                <a:gd name="csY0" fmla="*/ 909048 h 3304540"/>
                <a:gd name="csX1" fmla="*/ 415928 w 679455"/>
                <a:gd name="csY1" fmla="*/ 43540 h 3304540"/>
                <a:gd name="csX2" fmla="*/ 657442 w 679455"/>
                <a:gd name="csY2" fmla="*/ 5440 h 3304540"/>
                <a:gd name="csX3" fmla="*/ 383760 w 679455"/>
                <a:gd name="csY3" fmla="*/ 909048 h 3304540"/>
                <a:gd name="csX4" fmla="*/ 383760 w 679455"/>
                <a:gd name="csY4" fmla="*/ 3140072 h 3304540"/>
                <a:gd name="csX5" fmla="*/ 219292 w 679455"/>
                <a:gd name="csY5" fmla="*/ 3304540 h 3304540"/>
                <a:gd name="csX6" fmla="*/ 164468 w 679455"/>
                <a:gd name="csY6" fmla="*/ 3304540 h 3304540"/>
                <a:gd name="csX7" fmla="*/ 0 w 679455"/>
                <a:gd name="csY7" fmla="*/ 3140072 h 3304540"/>
                <a:gd name="csX8" fmla="*/ 0 w 679455"/>
                <a:gd name="csY8" fmla="*/ 909048 h 3304540"/>
                <a:gd name="csX0" fmla="*/ 0 w 679455"/>
                <a:gd name="csY0" fmla="*/ 917903 h 3313395"/>
                <a:gd name="csX1" fmla="*/ 415928 w 679455"/>
                <a:gd name="csY1" fmla="*/ 52395 h 3313395"/>
                <a:gd name="csX2" fmla="*/ 657442 w 679455"/>
                <a:gd name="csY2" fmla="*/ 14295 h 3313395"/>
                <a:gd name="csX3" fmla="*/ 383760 w 679455"/>
                <a:gd name="csY3" fmla="*/ 917903 h 3313395"/>
                <a:gd name="csX4" fmla="*/ 383760 w 679455"/>
                <a:gd name="csY4" fmla="*/ 3148927 h 3313395"/>
                <a:gd name="csX5" fmla="*/ 219292 w 679455"/>
                <a:gd name="csY5" fmla="*/ 3313395 h 3313395"/>
                <a:gd name="csX6" fmla="*/ 164468 w 679455"/>
                <a:gd name="csY6" fmla="*/ 3313395 h 3313395"/>
                <a:gd name="csX7" fmla="*/ 0 w 679455"/>
                <a:gd name="csY7" fmla="*/ 3148927 h 3313395"/>
                <a:gd name="csX8" fmla="*/ 0 w 679455"/>
                <a:gd name="csY8" fmla="*/ 917903 h 3313395"/>
                <a:gd name="csX0" fmla="*/ 0 w 680976"/>
                <a:gd name="csY0" fmla="*/ 917903 h 3313395"/>
                <a:gd name="csX1" fmla="*/ 415928 w 680976"/>
                <a:gd name="csY1" fmla="*/ 52395 h 3313395"/>
                <a:gd name="csX2" fmla="*/ 657442 w 680976"/>
                <a:gd name="csY2" fmla="*/ 14295 h 3313395"/>
                <a:gd name="csX3" fmla="*/ 414240 w 680976"/>
                <a:gd name="csY3" fmla="*/ 969338 h 3313395"/>
                <a:gd name="csX4" fmla="*/ 383760 w 680976"/>
                <a:gd name="csY4" fmla="*/ 3148927 h 3313395"/>
                <a:gd name="csX5" fmla="*/ 219292 w 680976"/>
                <a:gd name="csY5" fmla="*/ 3313395 h 3313395"/>
                <a:gd name="csX6" fmla="*/ 164468 w 680976"/>
                <a:gd name="csY6" fmla="*/ 3313395 h 3313395"/>
                <a:gd name="csX7" fmla="*/ 0 w 680976"/>
                <a:gd name="csY7" fmla="*/ 3148927 h 3313395"/>
                <a:gd name="csX8" fmla="*/ 0 w 680976"/>
                <a:gd name="csY8" fmla="*/ 917903 h 3313395"/>
                <a:gd name="csX0" fmla="*/ 0 w 679609"/>
                <a:gd name="csY0" fmla="*/ 917903 h 3313395"/>
                <a:gd name="csX1" fmla="*/ 415928 w 679609"/>
                <a:gd name="csY1" fmla="*/ 52395 h 3313395"/>
                <a:gd name="csX2" fmla="*/ 657442 w 679609"/>
                <a:gd name="csY2" fmla="*/ 14295 h 3313395"/>
                <a:gd name="csX3" fmla="*/ 414240 w 679609"/>
                <a:gd name="csY3" fmla="*/ 969338 h 3313395"/>
                <a:gd name="csX4" fmla="*/ 383760 w 679609"/>
                <a:gd name="csY4" fmla="*/ 3148927 h 3313395"/>
                <a:gd name="csX5" fmla="*/ 219292 w 679609"/>
                <a:gd name="csY5" fmla="*/ 3313395 h 3313395"/>
                <a:gd name="csX6" fmla="*/ 164468 w 679609"/>
                <a:gd name="csY6" fmla="*/ 3313395 h 3313395"/>
                <a:gd name="csX7" fmla="*/ 0 w 679609"/>
                <a:gd name="csY7" fmla="*/ 3148927 h 3313395"/>
                <a:gd name="csX8" fmla="*/ 0 w 679609"/>
                <a:gd name="csY8" fmla="*/ 917903 h 3313395"/>
                <a:gd name="csX0" fmla="*/ 0 w 678091"/>
                <a:gd name="csY0" fmla="*/ 917903 h 3313395"/>
                <a:gd name="csX1" fmla="*/ 415928 w 678091"/>
                <a:gd name="csY1" fmla="*/ 52395 h 3313395"/>
                <a:gd name="csX2" fmla="*/ 657442 w 678091"/>
                <a:gd name="csY2" fmla="*/ 14295 h 3313395"/>
                <a:gd name="csX3" fmla="*/ 379950 w 678091"/>
                <a:gd name="csY3" fmla="*/ 1015058 h 3313395"/>
                <a:gd name="csX4" fmla="*/ 383760 w 678091"/>
                <a:gd name="csY4" fmla="*/ 3148927 h 3313395"/>
                <a:gd name="csX5" fmla="*/ 219292 w 678091"/>
                <a:gd name="csY5" fmla="*/ 3313395 h 3313395"/>
                <a:gd name="csX6" fmla="*/ 164468 w 678091"/>
                <a:gd name="csY6" fmla="*/ 3313395 h 3313395"/>
                <a:gd name="csX7" fmla="*/ 0 w 678091"/>
                <a:gd name="csY7" fmla="*/ 3148927 h 3313395"/>
                <a:gd name="csX8" fmla="*/ 0 w 678091"/>
                <a:gd name="csY8" fmla="*/ 917903 h 3313395"/>
                <a:gd name="csX0" fmla="*/ 0 w 678091"/>
                <a:gd name="csY0" fmla="*/ 917903 h 3313395"/>
                <a:gd name="csX1" fmla="*/ 415928 w 678091"/>
                <a:gd name="csY1" fmla="*/ 52395 h 3313395"/>
                <a:gd name="csX2" fmla="*/ 657442 w 678091"/>
                <a:gd name="csY2" fmla="*/ 14295 h 3313395"/>
                <a:gd name="csX3" fmla="*/ 379950 w 678091"/>
                <a:gd name="csY3" fmla="*/ 1015058 h 3313395"/>
                <a:gd name="csX4" fmla="*/ 383760 w 678091"/>
                <a:gd name="csY4" fmla="*/ 3148927 h 3313395"/>
                <a:gd name="csX5" fmla="*/ 219292 w 678091"/>
                <a:gd name="csY5" fmla="*/ 3313395 h 3313395"/>
                <a:gd name="csX6" fmla="*/ 164468 w 678091"/>
                <a:gd name="csY6" fmla="*/ 3313395 h 3313395"/>
                <a:gd name="csX7" fmla="*/ 0 w 678091"/>
                <a:gd name="csY7" fmla="*/ 3148927 h 3313395"/>
                <a:gd name="csX8" fmla="*/ 0 w 678091"/>
                <a:gd name="csY8" fmla="*/ 917903 h 3313395"/>
                <a:gd name="csX0" fmla="*/ 5926 w 684017"/>
                <a:gd name="csY0" fmla="*/ 917903 h 3313395"/>
                <a:gd name="csX1" fmla="*/ 421854 w 684017"/>
                <a:gd name="csY1" fmla="*/ 52395 h 3313395"/>
                <a:gd name="csX2" fmla="*/ 663368 w 684017"/>
                <a:gd name="csY2" fmla="*/ 14295 h 3313395"/>
                <a:gd name="csX3" fmla="*/ 385876 w 684017"/>
                <a:gd name="csY3" fmla="*/ 1015058 h 3313395"/>
                <a:gd name="csX4" fmla="*/ 389686 w 684017"/>
                <a:gd name="csY4" fmla="*/ 3148927 h 3313395"/>
                <a:gd name="csX5" fmla="*/ 225218 w 684017"/>
                <a:gd name="csY5" fmla="*/ 3313395 h 3313395"/>
                <a:gd name="csX6" fmla="*/ 170394 w 684017"/>
                <a:gd name="csY6" fmla="*/ 3313395 h 3313395"/>
                <a:gd name="csX7" fmla="*/ 5926 w 684017"/>
                <a:gd name="csY7" fmla="*/ 3148927 h 3313395"/>
                <a:gd name="csX8" fmla="*/ 5926 w 684017"/>
                <a:gd name="csY8" fmla="*/ 917903 h 3313395"/>
                <a:gd name="csX0" fmla="*/ 41910 w 678091"/>
                <a:gd name="csY0" fmla="*/ 967433 h 3313395"/>
                <a:gd name="csX1" fmla="*/ 415928 w 678091"/>
                <a:gd name="csY1" fmla="*/ 52395 h 3313395"/>
                <a:gd name="csX2" fmla="*/ 657442 w 678091"/>
                <a:gd name="csY2" fmla="*/ 14295 h 3313395"/>
                <a:gd name="csX3" fmla="*/ 379950 w 678091"/>
                <a:gd name="csY3" fmla="*/ 1015058 h 3313395"/>
                <a:gd name="csX4" fmla="*/ 383760 w 678091"/>
                <a:gd name="csY4" fmla="*/ 3148927 h 3313395"/>
                <a:gd name="csX5" fmla="*/ 219292 w 678091"/>
                <a:gd name="csY5" fmla="*/ 3313395 h 3313395"/>
                <a:gd name="csX6" fmla="*/ 164468 w 678091"/>
                <a:gd name="csY6" fmla="*/ 3313395 h 3313395"/>
                <a:gd name="csX7" fmla="*/ 0 w 678091"/>
                <a:gd name="csY7" fmla="*/ 3148927 h 3313395"/>
                <a:gd name="csX8" fmla="*/ 41910 w 678091"/>
                <a:gd name="csY8" fmla="*/ 967433 h 3313395"/>
                <a:gd name="csX0" fmla="*/ 41910 w 719996"/>
                <a:gd name="csY0" fmla="*/ 967433 h 3806155"/>
                <a:gd name="csX1" fmla="*/ 415928 w 719996"/>
                <a:gd name="csY1" fmla="*/ 52395 h 3806155"/>
                <a:gd name="csX2" fmla="*/ 657442 w 719996"/>
                <a:gd name="csY2" fmla="*/ 14295 h 3806155"/>
                <a:gd name="csX3" fmla="*/ 379950 w 719996"/>
                <a:gd name="csY3" fmla="*/ 1015058 h 3806155"/>
                <a:gd name="csX4" fmla="*/ 383760 w 719996"/>
                <a:gd name="csY4" fmla="*/ 3148927 h 3806155"/>
                <a:gd name="csX5" fmla="*/ 706972 w 719996"/>
                <a:gd name="csY5" fmla="*/ 3806155 h 3806155"/>
                <a:gd name="csX6" fmla="*/ 164468 w 719996"/>
                <a:gd name="csY6" fmla="*/ 3313395 h 3806155"/>
                <a:gd name="csX7" fmla="*/ 0 w 719996"/>
                <a:gd name="csY7" fmla="*/ 3148927 h 3806155"/>
                <a:gd name="csX8" fmla="*/ 41910 w 719996"/>
                <a:gd name="csY8" fmla="*/ 967433 h 3806155"/>
                <a:gd name="csX0" fmla="*/ 41910 w 719996"/>
                <a:gd name="csY0" fmla="*/ 967433 h 3806155"/>
                <a:gd name="csX1" fmla="*/ 415928 w 719996"/>
                <a:gd name="csY1" fmla="*/ 52395 h 3806155"/>
                <a:gd name="csX2" fmla="*/ 657442 w 719996"/>
                <a:gd name="csY2" fmla="*/ 14295 h 3806155"/>
                <a:gd name="csX3" fmla="*/ 379950 w 719996"/>
                <a:gd name="csY3" fmla="*/ 1015058 h 3806155"/>
                <a:gd name="csX4" fmla="*/ 383760 w 719996"/>
                <a:gd name="csY4" fmla="*/ 3148927 h 3806155"/>
                <a:gd name="csX5" fmla="*/ 706972 w 719996"/>
                <a:gd name="csY5" fmla="*/ 3806155 h 3806155"/>
                <a:gd name="csX6" fmla="*/ 311788 w 719996"/>
                <a:gd name="csY6" fmla="*/ 3536915 h 3806155"/>
                <a:gd name="csX7" fmla="*/ 0 w 719996"/>
                <a:gd name="csY7" fmla="*/ 3148927 h 3806155"/>
                <a:gd name="csX8" fmla="*/ 41910 w 719996"/>
                <a:gd name="csY8" fmla="*/ 967433 h 3806155"/>
                <a:gd name="csX0" fmla="*/ 41910 w 721380"/>
                <a:gd name="csY0" fmla="*/ 967433 h 3806155"/>
                <a:gd name="csX1" fmla="*/ 415928 w 721380"/>
                <a:gd name="csY1" fmla="*/ 52395 h 3806155"/>
                <a:gd name="csX2" fmla="*/ 657442 w 721380"/>
                <a:gd name="csY2" fmla="*/ 14295 h 3806155"/>
                <a:gd name="csX3" fmla="*/ 379950 w 721380"/>
                <a:gd name="csY3" fmla="*/ 1015058 h 3806155"/>
                <a:gd name="csX4" fmla="*/ 429480 w 721380"/>
                <a:gd name="csY4" fmla="*/ 3057487 h 3806155"/>
                <a:gd name="csX5" fmla="*/ 706972 w 721380"/>
                <a:gd name="csY5" fmla="*/ 3806155 h 3806155"/>
                <a:gd name="csX6" fmla="*/ 311788 w 721380"/>
                <a:gd name="csY6" fmla="*/ 3536915 h 3806155"/>
                <a:gd name="csX7" fmla="*/ 0 w 721380"/>
                <a:gd name="csY7" fmla="*/ 3148927 h 3806155"/>
                <a:gd name="csX8" fmla="*/ 41910 w 721380"/>
                <a:gd name="csY8" fmla="*/ 967433 h 3806155"/>
                <a:gd name="csX0" fmla="*/ 41910 w 721380"/>
                <a:gd name="csY0" fmla="*/ 967433 h 3806155"/>
                <a:gd name="csX1" fmla="*/ 415928 w 721380"/>
                <a:gd name="csY1" fmla="*/ 52395 h 3806155"/>
                <a:gd name="csX2" fmla="*/ 657442 w 721380"/>
                <a:gd name="csY2" fmla="*/ 14295 h 3806155"/>
                <a:gd name="csX3" fmla="*/ 379950 w 721380"/>
                <a:gd name="csY3" fmla="*/ 1015058 h 3806155"/>
                <a:gd name="csX4" fmla="*/ 429480 w 721380"/>
                <a:gd name="csY4" fmla="*/ 3057487 h 3806155"/>
                <a:gd name="csX5" fmla="*/ 706972 w 721380"/>
                <a:gd name="csY5" fmla="*/ 3806155 h 3806155"/>
                <a:gd name="csX6" fmla="*/ 291468 w 721380"/>
                <a:gd name="csY6" fmla="*/ 3608035 h 3806155"/>
                <a:gd name="csX7" fmla="*/ 0 w 721380"/>
                <a:gd name="csY7" fmla="*/ 3148927 h 3806155"/>
                <a:gd name="csX8" fmla="*/ 41910 w 721380"/>
                <a:gd name="csY8" fmla="*/ 967433 h 3806155"/>
                <a:gd name="csX0" fmla="*/ 41910 w 682244"/>
                <a:gd name="csY0" fmla="*/ 967433 h 3755355"/>
                <a:gd name="csX1" fmla="*/ 415928 w 682244"/>
                <a:gd name="csY1" fmla="*/ 52395 h 3755355"/>
                <a:gd name="csX2" fmla="*/ 657442 w 682244"/>
                <a:gd name="csY2" fmla="*/ 14295 h 3755355"/>
                <a:gd name="csX3" fmla="*/ 379950 w 682244"/>
                <a:gd name="csY3" fmla="*/ 1015058 h 3755355"/>
                <a:gd name="csX4" fmla="*/ 429480 w 682244"/>
                <a:gd name="csY4" fmla="*/ 3057487 h 3755355"/>
                <a:gd name="csX5" fmla="*/ 666332 w 682244"/>
                <a:gd name="csY5" fmla="*/ 3755355 h 3755355"/>
                <a:gd name="csX6" fmla="*/ 291468 w 682244"/>
                <a:gd name="csY6" fmla="*/ 3608035 h 3755355"/>
                <a:gd name="csX7" fmla="*/ 0 w 682244"/>
                <a:gd name="csY7" fmla="*/ 3148927 h 3755355"/>
                <a:gd name="csX8" fmla="*/ 41910 w 682244"/>
                <a:gd name="csY8" fmla="*/ 967433 h 3755355"/>
                <a:gd name="csX0" fmla="*/ 41910 w 682244"/>
                <a:gd name="csY0" fmla="*/ 967433 h 3758018"/>
                <a:gd name="csX1" fmla="*/ 415928 w 682244"/>
                <a:gd name="csY1" fmla="*/ 52395 h 3758018"/>
                <a:gd name="csX2" fmla="*/ 657442 w 682244"/>
                <a:gd name="csY2" fmla="*/ 14295 h 3758018"/>
                <a:gd name="csX3" fmla="*/ 379950 w 682244"/>
                <a:gd name="csY3" fmla="*/ 1015058 h 3758018"/>
                <a:gd name="csX4" fmla="*/ 429480 w 682244"/>
                <a:gd name="csY4" fmla="*/ 3057487 h 3758018"/>
                <a:gd name="csX5" fmla="*/ 666332 w 682244"/>
                <a:gd name="csY5" fmla="*/ 3755355 h 3758018"/>
                <a:gd name="csX6" fmla="*/ 291468 w 682244"/>
                <a:gd name="csY6" fmla="*/ 3608035 h 3758018"/>
                <a:gd name="csX7" fmla="*/ 0 w 682244"/>
                <a:gd name="csY7" fmla="*/ 3148927 h 3758018"/>
                <a:gd name="csX8" fmla="*/ 41910 w 682244"/>
                <a:gd name="csY8" fmla="*/ 967433 h 3758018"/>
                <a:gd name="csX0" fmla="*/ 41910 w 855055"/>
                <a:gd name="csY0" fmla="*/ 967433 h 3818160"/>
                <a:gd name="csX1" fmla="*/ 415928 w 855055"/>
                <a:gd name="csY1" fmla="*/ 52395 h 3818160"/>
                <a:gd name="csX2" fmla="*/ 657442 w 855055"/>
                <a:gd name="csY2" fmla="*/ 14295 h 3818160"/>
                <a:gd name="csX3" fmla="*/ 379950 w 855055"/>
                <a:gd name="csY3" fmla="*/ 1015058 h 3818160"/>
                <a:gd name="csX4" fmla="*/ 429480 w 855055"/>
                <a:gd name="csY4" fmla="*/ 3057487 h 3818160"/>
                <a:gd name="csX5" fmla="*/ 844132 w 855055"/>
                <a:gd name="csY5" fmla="*/ 3816315 h 3818160"/>
                <a:gd name="csX6" fmla="*/ 291468 w 855055"/>
                <a:gd name="csY6" fmla="*/ 3608035 h 3818160"/>
                <a:gd name="csX7" fmla="*/ 0 w 855055"/>
                <a:gd name="csY7" fmla="*/ 3148927 h 3818160"/>
                <a:gd name="csX8" fmla="*/ 41910 w 855055"/>
                <a:gd name="csY8" fmla="*/ 967433 h 3818160"/>
                <a:gd name="csX0" fmla="*/ 41910 w 855055"/>
                <a:gd name="csY0" fmla="*/ 967433 h 3817846"/>
                <a:gd name="csX1" fmla="*/ 415928 w 855055"/>
                <a:gd name="csY1" fmla="*/ 52395 h 3817846"/>
                <a:gd name="csX2" fmla="*/ 657442 w 855055"/>
                <a:gd name="csY2" fmla="*/ 14295 h 3817846"/>
                <a:gd name="csX3" fmla="*/ 379950 w 855055"/>
                <a:gd name="csY3" fmla="*/ 1015058 h 3817846"/>
                <a:gd name="csX4" fmla="*/ 429480 w 855055"/>
                <a:gd name="csY4" fmla="*/ 3057487 h 3817846"/>
                <a:gd name="csX5" fmla="*/ 844132 w 855055"/>
                <a:gd name="csY5" fmla="*/ 3816315 h 3817846"/>
                <a:gd name="csX6" fmla="*/ 433708 w 855055"/>
                <a:gd name="csY6" fmla="*/ 3567395 h 3817846"/>
                <a:gd name="csX7" fmla="*/ 0 w 855055"/>
                <a:gd name="csY7" fmla="*/ 3148927 h 3817846"/>
                <a:gd name="csX8" fmla="*/ 41910 w 855055"/>
                <a:gd name="csY8" fmla="*/ 967433 h 3817846"/>
                <a:gd name="csX0" fmla="*/ 1735 w 814880"/>
                <a:gd name="csY0" fmla="*/ 967433 h 3817846"/>
                <a:gd name="csX1" fmla="*/ 375753 w 814880"/>
                <a:gd name="csY1" fmla="*/ 52395 h 3817846"/>
                <a:gd name="csX2" fmla="*/ 617267 w 814880"/>
                <a:gd name="csY2" fmla="*/ 14295 h 3817846"/>
                <a:gd name="csX3" fmla="*/ 339775 w 814880"/>
                <a:gd name="csY3" fmla="*/ 1015058 h 3817846"/>
                <a:gd name="csX4" fmla="*/ 389305 w 814880"/>
                <a:gd name="csY4" fmla="*/ 3057487 h 3817846"/>
                <a:gd name="csX5" fmla="*/ 803957 w 814880"/>
                <a:gd name="csY5" fmla="*/ 3816315 h 3817846"/>
                <a:gd name="csX6" fmla="*/ 393533 w 814880"/>
                <a:gd name="csY6" fmla="*/ 3567395 h 3817846"/>
                <a:gd name="csX7" fmla="*/ 56345 w 814880"/>
                <a:gd name="csY7" fmla="*/ 3077807 h 3817846"/>
                <a:gd name="csX8" fmla="*/ 1735 w 814880"/>
                <a:gd name="csY8" fmla="*/ 967433 h 3817846"/>
                <a:gd name="csX0" fmla="*/ 1735 w 814880"/>
                <a:gd name="csY0" fmla="*/ 967433 h 3818070"/>
                <a:gd name="csX1" fmla="*/ 375753 w 814880"/>
                <a:gd name="csY1" fmla="*/ 52395 h 3818070"/>
                <a:gd name="csX2" fmla="*/ 617267 w 814880"/>
                <a:gd name="csY2" fmla="*/ 14295 h 3818070"/>
                <a:gd name="csX3" fmla="*/ 339775 w 814880"/>
                <a:gd name="csY3" fmla="*/ 1015058 h 3818070"/>
                <a:gd name="csX4" fmla="*/ 389305 w 814880"/>
                <a:gd name="csY4" fmla="*/ 3057487 h 3818070"/>
                <a:gd name="csX5" fmla="*/ 803957 w 814880"/>
                <a:gd name="csY5" fmla="*/ 3816315 h 3818070"/>
                <a:gd name="csX6" fmla="*/ 403693 w 814880"/>
                <a:gd name="csY6" fmla="*/ 3597875 h 3818070"/>
                <a:gd name="csX7" fmla="*/ 56345 w 814880"/>
                <a:gd name="csY7" fmla="*/ 3077807 h 3818070"/>
                <a:gd name="csX8" fmla="*/ 1735 w 814880"/>
                <a:gd name="csY8" fmla="*/ 967433 h 3818070"/>
                <a:gd name="csX0" fmla="*/ 1735 w 814880"/>
                <a:gd name="csY0" fmla="*/ 967433 h 3819483"/>
                <a:gd name="csX1" fmla="*/ 375753 w 814880"/>
                <a:gd name="csY1" fmla="*/ 52395 h 3819483"/>
                <a:gd name="csX2" fmla="*/ 617267 w 814880"/>
                <a:gd name="csY2" fmla="*/ 14295 h 3819483"/>
                <a:gd name="csX3" fmla="*/ 339775 w 814880"/>
                <a:gd name="csY3" fmla="*/ 1015058 h 3819483"/>
                <a:gd name="csX4" fmla="*/ 389305 w 814880"/>
                <a:gd name="csY4" fmla="*/ 3057487 h 3819483"/>
                <a:gd name="csX5" fmla="*/ 803957 w 814880"/>
                <a:gd name="csY5" fmla="*/ 3816315 h 3819483"/>
                <a:gd name="csX6" fmla="*/ 403693 w 814880"/>
                <a:gd name="csY6" fmla="*/ 3597875 h 3819483"/>
                <a:gd name="csX7" fmla="*/ 56345 w 814880"/>
                <a:gd name="csY7" fmla="*/ 3077807 h 3819483"/>
                <a:gd name="csX8" fmla="*/ 1735 w 814880"/>
                <a:gd name="csY8" fmla="*/ 967433 h 3819483"/>
                <a:gd name="csX0" fmla="*/ 1735 w 814880"/>
                <a:gd name="csY0" fmla="*/ 967433 h 3819483"/>
                <a:gd name="csX1" fmla="*/ 375753 w 814880"/>
                <a:gd name="csY1" fmla="*/ 52395 h 3819483"/>
                <a:gd name="csX2" fmla="*/ 617267 w 814880"/>
                <a:gd name="csY2" fmla="*/ 14295 h 3819483"/>
                <a:gd name="csX3" fmla="*/ 339775 w 814880"/>
                <a:gd name="csY3" fmla="*/ 1015058 h 3819483"/>
                <a:gd name="csX4" fmla="*/ 389305 w 814880"/>
                <a:gd name="csY4" fmla="*/ 3057487 h 3819483"/>
                <a:gd name="csX5" fmla="*/ 803957 w 814880"/>
                <a:gd name="csY5" fmla="*/ 3816315 h 3819483"/>
                <a:gd name="csX6" fmla="*/ 403693 w 814880"/>
                <a:gd name="csY6" fmla="*/ 3597875 h 3819483"/>
                <a:gd name="csX7" fmla="*/ 56345 w 814880"/>
                <a:gd name="csY7" fmla="*/ 3077807 h 3819483"/>
                <a:gd name="csX8" fmla="*/ 1735 w 814880"/>
                <a:gd name="csY8" fmla="*/ 967433 h 3819483"/>
                <a:gd name="csX0" fmla="*/ 1735 w 814880"/>
                <a:gd name="csY0" fmla="*/ 967433 h 3820087"/>
                <a:gd name="csX1" fmla="*/ 375753 w 814880"/>
                <a:gd name="csY1" fmla="*/ 52395 h 3820087"/>
                <a:gd name="csX2" fmla="*/ 617267 w 814880"/>
                <a:gd name="csY2" fmla="*/ 14295 h 3820087"/>
                <a:gd name="csX3" fmla="*/ 339775 w 814880"/>
                <a:gd name="csY3" fmla="*/ 1015058 h 3820087"/>
                <a:gd name="csX4" fmla="*/ 389305 w 814880"/>
                <a:gd name="csY4" fmla="*/ 3057487 h 3820087"/>
                <a:gd name="csX5" fmla="*/ 803957 w 814880"/>
                <a:gd name="csY5" fmla="*/ 3816315 h 3820087"/>
                <a:gd name="csX6" fmla="*/ 403693 w 814880"/>
                <a:gd name="csY6" fmla="*/ 3597875 h 3820087"/>
                <a:gd name="csX7" fmla="*/ 56345 w 814880"/>
                <a:gd name="csY7" fmla="*/ 3077807 h 3820087"/>
                <a:gd name="csX8" fmla="*/ 1735 w 814880"/>
                <a:gd name="csY8" fmla="*/ 967433 h 3820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14880" h="3820087">
                  <a:moveTo>
                    <a:pt x="1735" y="967433"/>
                  </a:moveTo>
                  <a:cubicBezTo>
                    <a:pt x="30310" y="762300"/>
                    <a:pt x="286825" y="136215"/>
                    <a:pt x="375753" y="52395"/>
                  </a:cubicBezTo>
                  <a:cubicBezTo>
                    <a:pt x="477848" y="-12375"/>
                    <a:pt x="499932" y="-6660"/>
                    <a:pt x="617267" y="14295"/>
                  </a:cubicBezTo>
                  <a:cubicBezTo>
                    <a:pt x="734770" y="46680"/>
                    <a:pt x="311200" y="800400"/>
                    <a:pt x="339775" y="1015058"/>
                  </a:cubicBezTo>
                  <a:lnTo>
                    <a:pt x="389305" y="3057487"/>
                  </a:lnTo>
                  <a:cubicBezTo>
                    <a:pt x="389305" y="3148320"/>
                    <a:pt x="894790" y="3816315"/>
                    <a:pt x="803957" y="3816315"/>
                  </a:cubicBezTo>
                  <a:cubicBezTo>
                    <a:pt x="648522" y="3838328"/>
                    <a:pt x="604848" y="3763822"/>
                    <a:pt x="403693" y="3597875"/>
                  </a:cubicBezTo>
                  <a:cubicBezTo>
                    <a:pt x="231580" y="3409915"/>
                    <a:pt x="56345" y="3168640"/>
                    <a:pt x="56345" y="3077807"/>
                  </a:cubicBezTo>
                  <a:cubicBezTo>
                    <a:pt x="56345" y="2334132"/>
                    <a:pt x="-11600" y="1674913"/>
                    <a:pt x="1735" y="967433"/>
                  </a:cubicBezTo>
                  <a:close/>
                </a:path>
              </a:pathLst>
            </a:custGeom>
            <a:solidFill>
              <a:srgbClr val="9DB4CE"/>
            </a:solidFill>
            <a:ln w="12700">
              <a:solidFill>
                <a:srgbClr val="2166AC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Block Arc 4">
              <a:extLst>
                <a:ext uri="{FF2B5EF4-FFF2-40B4-BE49-F238E27FC236}">
                  <a16:creationId xmlns:a16="http://schemas.microsoft.com/office/drawing/2014/main" id="{6A1F7EEC-A387-3307-85C0-D8BE43D91FCF}"/>
                </a:ext>
              </a:extLst>
            </p:cNvPr>
            <p:cNvSpPr/>
            <p:nvPr/>
          </p:nvSpPr>
          <p:spPr>
            <a:xfrm flipV="1">
              <a:off x="2557256" y="2871611"/>
              <a:ext cx="1620012" cy="822599"/>
            </a:xfrm>
            <a:prstGeom prst="blockArc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4" grpId="0"/>
      <p:bldP spid="25" grpId="0"/>
      <p:bldP spid="26" grpId="0" animBg="1"/>
      <p:bldP spid="27" grpId="0" animBg="1"/>
      <p:bldP spid="28" grpId="0" animBg="1"/>
      <p:bldP spid="29" grpId="0" animBg="1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365760" y="164520"/>
            <a:ext cx="11429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 dirty="0">
                <a:solidFill>
                  <a:srgbClr val="2C3E50"/>
                </a:solidFill>
                <a:effectLst/>
                <a:uFillTx/>
                <a:latin typeface="Cambria"/>
                <a:ea typeface="Cambria"/>
              </a:rPr>
              <a:t>The real structure: Sororin locks the ring; phosphorylation lets WAPL in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a_realimg" descr="/tmp/assets/cohesin_real.png"/>
          <p:cNvPicPr/>
          <p:nvPr/>
        </p:nvPicPr>
        <p:blipFill>
          <a:blip r:embed="rId3"/>
          <a:stretch/>
        </p:blipFill>
        <p:spPr>
          <a:xfrm>
            <a:off x="1234440" y="960120"/>
            <a:ext cx="9692280" cy="49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a_cap"/>
          <p:cNvSpPr/>
          <p:nvPr/>
        </p:nvSpPr>
        <p:spPr>
          <a:xfrm>
            <a:off x="548640" y="594360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1A7A34"/>
                </a:solidFill>
                <a:effectLst/>
                <a:uFillTx/>
                <a:latin typeface="Calibri"/>
                <a:ea typeface="Calibri"/>
              </a:rPr>
              <a:t>LEFT:  </a:t>
            </a:r>
            <a:r>
              <a:rPr lang="en-US" sz="1300" b="0" u="none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Sororin (green) docks on Pds5 → </a:t>
            </a:r>
            <a:r>
              <a:rPr lang="en-US" sz="1300" dirty="0">
                <a:solidFill>
                  <a:srgbClr val="2C3E50"/>
                </a:solidFill>
                <a:latin typeface="Calibri"/>
                <a:ea typeface="Calibri"/>
              </a:rPr>
              <a:t>C</a:t>
            </a:r>
            <a:r>
              <a:rPr lang="en-US" sz="1300" b="0" u="none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ohesin ring CLOSED, sisters glued.    </a:t>
            </a:r>
            <a:r>
              <a:rPr lang="en-US" sz="1300" b="1" u="none" strike="noStrike" dirty="0">
                <a:solidFill>
                  <a:srgbClr val="B2182B"/>
                </a:solidFill>
                <a:effectLst/>
                <a:uFillTx/>
                <a:latin typeface="Calibri"/>
                <a:ea typeface="Calibri"/>
              </a:rPr>
              <a:t>RIGHT:  </a:t>
            </a:r>
            <a:r>
              <a:rPr lang="en-US" sz="1300" b="0" u="none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mitotic phosphorylation (red ✱) displaces Sororin → WAPL opens the ring.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548640" y="647388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8A97A3"/>
                </a:solidFill>
                <a:effectLst/>
                <a:uFillTx/>
                <a:latin typeface="Calibri"/>
                <a:ea typeface="Calibri"/>
              </a:rPr>
              <a:t>Image: Nature Communications, Fig. 9 (see 'PPT images/ref.txt' for full citation) — used for study purposes.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457200" y="16452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C3E50"/>
                </a:solidFill>
                <a:effectLst/>
                <a:uFillTx/>
                <a:latin typeface="Cambria"/>
                <a:ea typeface="Cambria"/>
              </a:rPr>
              <a:t>The mechanism, step by step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a_cohesin"/>
          <p:cNvSpPr/>
          <p:nvPr/>
        </p:nvSpPr>
        <p:spPr>
          <a:xfrm>
            <a:off x="3108960" y="777240"/>
            <a:ext cx="5943240" cy="658080"/>
          </a:xfrm>
          <a:prstGeom prst="roundRect">
            <a:avLst>
              <a:gd name="adj" fmla="val 11111"/>
            </a:avLst>
          </a:prstGeom>
          <a:solidFill>
            <a:srgbClr val="2166AC"/>
          </a:solidFill>
          <a:ln w="0">
            <a:solidFill>
              <a:srgbClr val="2166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Cohesin ring traps the two sister chromatids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E8F0F8"/>
                </a:solidFill>
                <a:effectLst/>
                <a:uFillTx/>
                <a:latin typeface="Calibri"/>
              </a:rPr>
              <a:t>SMC1A · SMC3 · RAD21 · STAG1/2  +  PDS5 (docking subunit)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a_arrAB"/>
          <p:cNvSpPr/>
          <p:nvPr/>
        </p:nvSpPr>
        <p:spPr>
          <a:xfrm>
            <a:off x="6094440" y="1463040"/>
            <a:ext cx="360" cy="182880"/>
          </a:xfrm>
          <a:prstGeom prst="line">
            <a:avLst/>
          </a:prstGeom>
          <a:ln w="25400">
            <a:solidFill>
              <a:srgbClr val="2C3E5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a_sororin"/>
          <p:cNvSpPr/>
          <p:nvPr/>
        </p:nvSpPr>
        <p:spPr>
          <a:xfrm>
            <a:off x="2743200" y="1673280"/>
            <a:ext cx="6674760" cy="749520"/>
          </a:xfrm>
          <a:prstGeom prst="roundRect">
            <a:avLst>
              <a:gd name="adj" fmla="val 9756"/>
            </a:avLst>
          </a:prstGeom>
          <a:solidFill>
            <a:srgbClr val="DCEFDD"/>
          </a:solidFill>
          <a:ln w="19050">
            <a:solidFill>
              <a:srgbClr val="1A7A3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A7A34"/>
                </a:solidFill>
                <a:effectLst/>
                <a:uFillTx/>
                <a:latin typeface="Calibri"/>
              </a:rPr>
              <a:t>Sororin binds PDS5 via its FGF motif (aa 166–168)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1B5E20"/>
                </a:solidFill>
                <a:effectLst/>
                <a:uFillTx/>
                <a:latin typeface="Calibri"/>
              </a:rPr>
              <a:t>→ blocks WAPL → ring stays CLOSED → cohesion protected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a_label"/>
          <p:cNvSpPr/>
          <p:nvPr/>
        </p:nvSpPr>
        <p:spPr>
          <a:xfrm>
            <a:off x="2743200" y="248724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u="none" strike="noStrike" dirty="0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Two ways to switch Sororin OFF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a_arrL"/>
          <p:cNvSpPr/>
          <p:nvPr/>
        </p:nvSpPr>
        <p:spPr>
          <a:xfrm>
            <a:off x="3246120" y="2450520"/>
            <a:ext cx="360" cy="402120"/>
          </a:xfrm>
          <a:prstGeom prst="line">
            <a:avLst/>
          </a:prstGeom>
          <a:ln w="25400">
            <a:solidFill>
              <a:srgbClr val="2C3E5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a_arrR"/>
          <p:cNvSpPr/>
          <p:nvPr/>
        </p:nvSpPr>
        <p:spPr>
          <a:xfrm>
            <a:off x="8942760" y="2450520"/>
            <a:ext cx="360" cy="402120"/>
          </a:xfrm>
          <a:prstGeom prst="line">
            <a:avLst/>
          </a:prstGeom>
          <a:ln w="25400">
            <a:solidFill>
              <a:srgbClr val="2C3E5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a_switch1"/>
          <p:cNvSpPr/>
          <p:nvPr/>
        </p:nvSpPr>
        <p:spPr>
          <a:xfrm>
            <a:off x="457200" y="2880360"/>
            <a:ext cx="5486040" cy="1782720"/>
          </a:xfrm>
          <a:prstGeom prst="roundRect">
            <a:avLst>
              <a:gd name="adj" fmla="val 3077"/>
            </a:avLst>
          </a:prstGeom>
          <a:solidFill>
            <a:srgbClr val="F7DBDB"/>
          </a:solidFill>
          <a:ln w="19050">
            <a:solidFill>
              <a:srgbClr val="B218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8920" tIns="88920" rIns="88920" bIns="8892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B2182B"/>
                </a:solidFill>
                <a:effectLst/>
                <a:uFillTx/>
                <a:latin typeface="Calibri"/>
              </a:rPr>
              <a:t>①  PHOSPHORYLATION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temporary · reversible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Kinases CDK1 (on schedule) &amp; ERK2/MAPK1 add PO₄ to 7 proline-directed sites (Ser/</a:t>
            </a:r>
            <a:r>
              <a:rPr lang="en-US" sz="1050" b="0" u="none" strike="noStrike" dirty="0" err="1">
                <a:solidFill>
                  <a:srgbClr val="2C3E50"/>
                </a:solidFill>
                <a:effectLst/>
                <a:uFillTx/>
                <a:latin typeface="Calibri"/>
              </a:rPr>
              <a:t>Thr</a:t>
            </a:r>
            <a:r>
              <a:rPr lang="en-US" sz="1050" b="0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–Pro):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Ser21, Ser75, Ser79, Thr111, Thr115, Thr159, Ser209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→ negative charge disrupts the FGF–PDS5 grip → Sororin displaced (a phosphatase can remove it)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 dirty="0">
                <a:solidFill>
                  <a:srgbClr val="762A83"/>
                </a:solidFill>
                <a:effectLst/>
                <a:uFillTx/>
                <a:latin typeface="Calibri"/>
              </a:rPr>
              <a:t>ERK2 → Ser209 drives lung cancer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a_switch2"/>
          <p:cNvSpPr/>
          <p:nvPr/>
        </p:nvSpPr>
        <p:spPr>
          <a:xfrm>
            <a:off x="6245280" y="2880360"/>
            <a:ext cx="5486040" cy="1782720"/>
          </a:xfrm>
          <a:prstGeom prst="roundRect">
            <a:avLst>
              <a:gd name="adj" fmla="val 3077"/>
            </a:avLst>
          </a:prstGeom>
          <a:solidFill>
            <a:srgbClr val="F7DBDB"/>
          </a:solidFill>
          <a:ln w="19050">
            <a:solidFill>
              <a:srgbClr val="B218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8920" tIns="88920" rIns="88920" bIns="8892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B2182B"/>
                </a:solidFill>
                <a:effectLst/>
                <a:uFillTx/>
                <a:latin typeface="Calibri"/>
              </a:rPr>
              <a:t>②  DEGRADATION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 dirty="0">
                <a:solidFill>
                  <a:srgbClr val="5A6B7B"/>
                </a:solidFill>
                <a:effectLst/>
                <a:uFillTx/>
                <a:latin typeface="Calibri"/>
              </a:rPr>
              <a:t>permanent · irreversible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Degrons (short 'destroy-me' motifs) are read by shredding machines: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KEN box (aa 88–90) → APC/C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SPOP degron → SPOP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→ add ubiquitin tag → proteasome destroys the whole Sororin protein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 dirty="0">
                <a:solidFill>
                  <a:srgbClr val="762A83"/>
                </a:solidFill>
                <a:effectLst/>
                <a:uFillTx/>
                <a:latin typeface="Calibri"/>
              </a:rPr>
              <a:t>SPOP loss → Sororin piles up (prostate cancer)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a_arrCL"/>
          <p:cNvSpPr/>
          <p:nvPr/>
        </p:nvSpPr>
        <p:spPr>
          <a:xfrm>
            <a:off x="3246120" y="4681440"/>
            <a:ext cx="360" cy="274320"/>
          </a:xfrm>
          <a:prstGeom prst="line">
            <a:avLst/>
          </a:prstGeom>
          <a:ln w="25400">
            <a:solidFill>
              <a:srgbClr val="2C3E5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a_arrCR"/>
          <p:cNvSpPr/>
          <p:nvPr/>
        </p:nvSpPr>
        <p:spPr>
          <a:xfrm>
            <a:off x="8942760" y="4681440"/>
            <a:ext cx="360" cy="274320"/>
          </a:xfrm>
          <a:prstGeom prst="line">
            <a:avLst/>
          </a:prstGeom>
          <a:ln w="25400">
            <a:solidFill>
              <a:srgbClr val="2C3E5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a_wapl"/>
          <p:cNvSpPr/>
          <p:nvPr/>
        </p:nvSpPr>
        <p:spPr>
          <a:xfrm>
            <a:off x="2743200" y="4983480"/>
            <a:ext cx="6674760" cy="566640"/>
          </a:xfrm>
          <a:prstGeom prst="roundRect">
            <a:avLst>
              <a:gd name="adj" fmla="val 12903"/>
            </a:avLst>
          </a:prstGeom>
          <a:solidFill>
            <a:srgbClr val="B2182B"/>
          </a:solidFill>
          <a:ln w="0">
            <a:solidFill>
              <a:srgbClr val="B218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Sororin OFF  →  WAPL binds PDS5  →  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C</a:t>
            </a:r>
            <a:r>
              <a:rPr lang="en-US" sz="1400" b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ohesin ring OPENS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a_arrCD"/>
          <p:cNvSpPr/>
          <p:nvPr/>
        </p:nvSpPr>
        <p:spPr>
          <a:xfrm>
            <a:off x="6094440" y="5550120"/>
            <a:ext cx="360" cy="155520"/>
          </a:xfrm>
          <a:prstGeom prst="line">
            <a:avLst/>
          </a:prstGeom>
          <a:ln w="25400">
            <a:solidFill>
              <a:srgbClr val="2C3E5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a_sep"/>
          <p:cNvSpPr/>
          <p:nvPr/>
        </p:nvSpPr>
        <p:spPr>
          <a:xfrm>
            <a:off x="3566160" y="5733360"/>
            <a:ext cx="5028840" cy="456840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 w="0">
            <a:solidFill>
              <a:srgbClr val="2C3E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Sister chromatids separate  (mitosis / anaphase)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a_key"/>
          <p:cNvSpPr/>
          <p:nvPr/>
        </p:nvSpPr>
        <p:spPr>
          <a:xfrm>
            <a:off x="457200" y="6327720"/>
            <a:ext cx="11274120" cy="438480"/>
          </a:xfrm>
          <a:prstGeom prst="roundRect">
            <a:avLst>
              <a:gd name="adj" fmla="val 10417"/>
            </a:avLst>
          </a:prstGeom>
          <a:solidFill>
            <a:srgbClr val="FCEBD0"/>
          </a:solidFill>
          <a:ln w="12700">
            <a:solidFill>
              <a:srgbClr val="B9770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B9770E"/>
                </a:solidFill>
                <a:effectLst/>
                <a:uFillTx/>
                <a:latin typeface="Calibri"/>
              </a:rPr>
              <a:t>KEY INSIGHT — </a:t>
            </a:r>
            <a:r>
              <a:rPr lang="en-US" sz="1150" b="0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every switch element (FGF motif, KEN box, SPOP degron, all 7 phospho-sites) sits in an </a:t>
            </a:r>
            <a:r>
              <a:rPr lang="en-US" sz="1150" b="1" u="none" strike="noStrike" dirty="0">
                <a:solidFill>
                  <a:srgbClr val="B9770E"/>
                </a:solidFill>
                <a:effectLst/>
                <a:uFillTx/>
                <a:latin typeface="Calibri"/>
              </a:rPr>
              <a:t>intrinsically DISORDERED region</a:t>
            </a:r>
            <a:r>
              <a:rPr lang="en-US" sz="1150" b="0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 (61.5% of Sororin; only the C-terminal domain aa 230–252 is folded). Floppy chain + short motifs = easy to switch  →  Sororin is a </a:t>
            </a:r>
            <a:r>
              <a:rPr lang="en-US" sz="1150" b="1" u="none" strike="noStrike" dirty="0">
                <a:solidFill>
                  <a:srgbClr val="B9770E"/>
                </a:solidFill>
                <a:effectLst/>
                <a:uFillTx/>
                <a:latin typeface="Calibri"/>
              </a:rPr>
              <a:t>“fuzzy hub.”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320040" y="128160"/>
            <a:ext cx="11521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2C3E50"/>
                </a:solidFill>
                <a:effectLst/>
                <a:uFillTx/>
                <a:latin typeface="Cambria"/>
                <a:ea typeface="Cambria"/>
              </a:rPr>
              <a:t>Result 1: Sororin sits in a dense </a:t>
            </a:r>
            <a:r>
              <a:rPr lang="en-US" sz="2400" b="1" u="none" strike="noStrike" dirty="0" err="1">
                <a:solidFill>
                  <a:srgbClr val="2C3E50"/>
                </a:solidFill>
                <a:effectLst/>
                <a:uFillTx/>
                <a:latin typeface="Cambria"/>
                <a:ea typeface="Cambria"/>
              </a:rPr>
              <a:t>cohesin</a:t>
            </a:r>
            <a:r>
              <a:rPr lang="en-US" sz="2400" b="1" u="none" strike="noStrike" dirty="0">
                <a:solidFill>
                  <a:srgbClr val="2C3E50"/>
                </a:solidFill>
                <a:effectLst/>
                <a:uFillTx/>
                <a:latin typeface="Cambria"/>
                <a:ea typeface="Cambria"/>
              </a:rPr>
              <a:t> network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Image 0" descr="/tmp/assets/fig1_net.png"/>
          <p:cNvPicPr/>
          <p:nvPr/>
        </p:nvPicPr>
        <p:blipFill>
          <a:blip r:embed="rId2"/>
          <a:stretch/>
        </p:blipFill>
        <p:spPr>
          <a:xfrm>
            <a:off x="320040" y="822960"/>
            <a:ext cx="4626360" cy="374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 1"/>
          <p:cNvSpPr/>
          <p:nvPr/>
        </p:nvSpPr>
        <p:spPr>
          <a:xfrm>
            <a:off x="320040" y="455364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 dirty="0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Figure 1 — STRING interaction network (dashed red = literature-curated ERK2/SPOP).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5623560" y="822960"/>
            <a:ext cx="6217560" cy="776880"/>
          </a:xfrm>
          <a:prstGeom prst="roundRect">
            <a:avLst>
              <a:gd name="adj" fmla="val 5882"/>
            </a:avLst>
          </a:prstGeom>
          <a:solidFill>
            <a:srgbClr val="DCE7F3"/>
          </a:solidFill>
          <a:ln w="12700">
            <a:solidFill>
              <a:srgbClr val="2166A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16 nodes  ·  107 edges  ·  density 0.89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2166AC"/>
                </a:solidFill>
                <a:effectLst/>
                <a:uFillTx/>
                <a:latin typeface="Calibri"/>
              </a:rPr>
              <a:t>Sororin degree = 15 of 15  (a hub)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" name="Table 0"/>
          <p:cNvGraphicFramePr/>
          <p:nvPr/>
        </p:nvGraphicFramePr>
        <p:xfrm>
          <a:off x="5623560" y="1737360"/>
          <a:ext cx="6217920" cy="2362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Partner</a:t>
                      </a:r>
                      <a:endParaRPr lang="en-US" sz="95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Functional class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STRING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PDS5A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 dirty="0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Cohesin regulator</a:t>
                      </a:r>
                      <a:endParaRPr lang="en-US" sz="9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0.999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WAPL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 dirty="0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Cohesin (release)</a:t>
                      </a:r>
                      <a:endParaRPr lang="en-US" sz="9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0.998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SMC3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 dirty="0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Cohesin core</a:t>
                      </a:r>
                      <a:endParaRPr lang="en-US" sz="9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0.994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RAD21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 dirty="0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Cohesin core (kleisin)</a:t>
                      </a:r>
                      <a:endParaRPr lang="en-US" sz="9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0.988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CDK1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Mitotic kinase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0.979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CDC20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APC/C activator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0.938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ESPL1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Separase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0.930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240">
                <a:tc gridSpan="3"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i="1" u="none" strike="noStrike">
                          <a:solidFill>
                            <a:srgbClr val="5A6B7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 … 15 high-confidence partners total 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B218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ERK2 / SPOP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B218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literature edges (dashed)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 dirty="0">
                          <a:solidFill>
                            <a:srgbClr val="B218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9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a_interp"/>
          <p:cNvSpPr/>
          <p:nvPr/>
        </p:nvSpPr>
        <p:spPr>
          <a:xfrm>
            <a:off x="320040" y="4892040"/>
            <a:ext cx="115210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Sororin's high-confidence partners form one tight cluster — the </a:t>
            </a:r>
            <a:r>
              <a:rPr lang="en-US" sz="1150" dirty="0">
                <a:solidFill>
                  <a:srgbClr val="2C3E50"/>
                </a:solidFill>
                <a:latin typeface="Calibri"/>
                <a:ea typeface="Calibri"/>
              </a:rPr>
              <a:t>C</a:t>
            </a:r>
            <a:r>
              <a:rPr lang="en-US" sz="1150" b="0" u="none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ohesin machine. Density of 89% of all possible links are present; Sororin touches all 15 others (degree 15/15 = a hub), with its strongest edges to exactly the expected partners (PDS5A, WAPL, the </a:t>
            </a:r>
            <a:r>
              <a:rPr lang="en-US" sz="1150" dirty="0">
                <a:solidFill>
                  <a:srgbClr val="2C3E50"/>
                </a:solidFill>
                <a:latin typeface="Calibri"/>
                <a:ea typeface="Calibri"/>
              </a:rPr>
              <a:t>C</a:t>
            </a:r>
            <a:r>
              <a:rPr lang="en-US" sz="1150" b="0" u="none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ohesin core, CDK1). </a:t>
            </a:r>
            <a:r>
              <a:rPr lang="en-US" sz="1150" b="1" u="none" strike="noStrike" dirty="0">
                <a:solidFill>
                  <a:srgbClr val="2166AC"/>
                </a:solidFill>
                <a:effectLst/>
                <a:uFillTx/>
                <a:latin typeface="Calibri"/>
                <a:ea typeface="Calibri"/>
              </a:rPr>
              <a:t>→ the network indicates Sororin is the central hub of a tightly-coupled physical complex.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a_caveat"/>
          <p:cNvSpPr/>
          <p:nvPr/>
        </p:nvSpPr>
        <p:spPr>
          <a:xfrm>
            <a:off x="320040" y="5760720"/>
            <a:ext cx="115210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B9770E"/>
                </a:solidFill>
                <a:effectLst/>
                <a:uFillTx/>
                <a:latin typeface="Calibri"/>
                <a:ea typeface="Calibri"/>
              </a:rPr>
              <a:t>Honest point:  </a:t>
            </a:r>
            <a:r>
              <a:rPr lang="en-US" sz="1100" b="0" u="none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density is high partly </a:t>
            </a:r>
            <a:r>
              <a:rPr lang="en-US" sz="1100" b="0" i="1" u="none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because I curated the </a:t>
            </a:r>
            <a:r>
              <a:rPr lang="en-US" sz="1100" i="1" dirty="0">
                <a:solidFill>
                  <a:srgbClr val="2C3E50"/>
                </a:solidFill>
                <a:latin typeface="Calibri"/>
                <a:ea typeface="Calibri"/>
              </a:rPr>
              <a:t>C</a:t>
            </a:r>
            <a:r>
              <a:rPr lang="en-US" sz="1100" b="0" i="1" u="none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ohesin proteins</a:t>
            </a:r>
            <a:r>
              <a:rPr lang="en-US" sz="1100" i="1" dirty="0">
                <a:solidFill>
                  <a:srgbClr val="2C3E50"/>
                </a:solidFill>
                <a:latin typeface="Calibri"/>
                <a:ea typeface="Calibri"/>
              </a:rPr>
              <a:t>.</a:t>
            </a:r>
            <a:r>
              <a:rPr lang="en-US" sz="1100" b="0" u="none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dirty="0">
                <a:solidFill>
                  <a:srgbClr val="2C3E50"/>
                </a:solidFill>
                <a:latin typeface="Calibri"/>
                <a:ea typeface="Calibri"/>
              </a:rPr>
              <a:t>S</a:t>
            </a:r>
            <a:r>
              <a:rPr lang="en-US" sz="1100" b="0" u="none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o, density describes the module, </a:t>
            </a:r>
            <a:r>
              <a:rPr lang="en-US" sz="1100" b="0" u="sng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it doesn't prove it</a:t>
            </a:r>
            <a:r>
              <a:rPr lang="en-US" sz="1100" dirty="0">
                <a:solidFill>
                  <a:srgbClr val="2C3E50"/>
                </a:solidFill>
                <a:latin typeface="Calibri"/>
                <a:ea typeface="Calibri"/>
              </a:rPr>
              <a:t>. I’m bringing more evidence </a:t>
            </a:r>
            <a:r>
              <a:rPr lang="en-US" sz="1100" b="0" u="none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from the enrichment (next slide) and the high-confidence scores.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320040" y="6419160"/>
            <a:ext cx="11521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i="1" u="none" strike="noStrike" dirty="0">
                <a:solidFill>
                  <a:srgbClr val="1A7A34"/>
                </a:solidFill>
                <a:effectLst/>
                <a:uFillTx/>
                <a:latin typeface="Calibri"/>
                <a:ea typeface="Calibri"/>
              </a:rPr>
              <a:t>How obtained:  </a:t>
            </a:r>
            <a:r>
              <a:rPr lang="en-US" sz="1000" b="0" i="1" u="none" strike="noStrike" dirty="0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UniProt (sequence)  →  STRING API (network)  →  networkx (metrics, code)  →  Cytoscape + stringApp (independent check + enrichment, desktop)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320040" y="128160"/>
            <a:ext cx="11521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2C3E50"/>
                </a:solidFill>
                <a:effectLst/>
                <a:uFillTx/>
                <a:latin typeface="Cambria"/>
                <a:ea typeface="Cambria"/>
              </a:rPr>
              <a:t>Confirmed independently: Cytoscape + functional enrichment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0" descr="/tmp/assets/fig2_cyto.png"/>
          <p:cNvPicPr/>
          <p:nvPr/>
        </p:nvPicPr>
        <p:blipFill>
          <a:blip r:embed="rId2"/>
          <a:stretch/>
        </p:blipFill>
        <p:spPr>
          <a:xfrm>
            <a:off x="320040" y="868680"/>
            <a:ext cx="5028840" cy="186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1"/>
          <p:cNvSpPr/>
          <p:nvPr/>
        </p:nvSpPr>
        <p:spPr>
          <a:xfrm>
            <a:off x="320040" y="2834640"/>
            <a:ext cx="50288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Figure 2 — the same module rebuilt in Cytoscape (stringApp): 16 nodes, 107 edges, density 0.892, clustering coefficient 0.925, one connected component. Same result, second tool.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320040" y="3931920"/>
            <a:ext cx="5028840" cy="548280"/>
          </a:xfrm>
          <a:prstGeom prst="roundRect">
            <a:avLst>
              <a:gd name="adj" fmla="val 8333"/>
            </a:avLst>
          </a:prstGeom>
          <a:solidFill>
            <a:srgbClr val="1A7A34"/>
          </a:solidFill>
          <a:ln w="0">
            <a:solidFill>
              <a:srgbClr val="1A7A3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STRING PPI enrichment:  p &lt; 10</a:t>
            </a:r>
            <a:r>
              <a:rPr lang="en-US" sz="900" b="1" u="none" strike="noStrike" baseline="30000">
                <a:solidFill>
                  <a:srgbClr val="FFFFFF"/>
                </a:solidFill>
                <a:effectLst/>
                <a:uFillTx/>
                <a:latin typeface="Calibri"/>
              </a:rPr>
              <a:t>−16</a:t>
            </a:r>
            <a:r>
              <a:rPr lang="en-US" sz="1200" b="0" u="none" strike="noStrike">
                <a:solidFill>
                  <a:srgbClr val="F2F2F2"/>
                </a:solidFill>
                <a:effectLst/>
                <a:uFillTx/>
                <a:latin typeface="Calibri"/>
              </a:rPr>
              <a:t>   — far more connected than random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" name="Table 0"/>
          <p:cNvGraphicFramePr/>
          <p:nvPr>
            <p:extLst>
              <p:ext uri="{D42A27DB-BD31-4B8C-83A1-F6EECF244321}">
                <p14:modId xmlns:p14="http://schemas.microsoft.com/office/powerpoint/2010/main" val="716754159"/>
              </p:ext>
            </p:extLst>
          </p:nvPr>
        </p:nvGraphicFramePr>
        <p:xfrm>
          <a:off x="5559425" y="1152540"/>
          <a:ext cx="6309360" cy="1900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Source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Enriched term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FDR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 Process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 dirty="0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Sister chromatid cohesion</a:t>
                      </a:r>
                      <a:endParaRPr lang="en-US" sz="9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1.4e-24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 Process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Sister chromatid segregation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2.3e-24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 Process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 dirty="0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Mitotic cell cycle</a:t>
                      </a:r>
                      <a:endParaRPr lang="en-US" sz="9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1.2e-18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 Component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Chromosomal region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7.0e-15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KEGG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Cell cycle (hsa04110)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6.1e-14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Reactome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Resolution of sister-chr. cohesion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1.7e-23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Reactome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Establishment of sister-chr. cohesion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 dirty="0">
                          <a:solidFill>
                            <a:srgbClr val="2C3E5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4.4e-22</a:t>
                      </a:r>
                      <a:endParaRPr lang="en-US" sz="9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0D0D0"/>
                      </a:solidFill>
                      <a:prstDash val="solid"/>
                    </a:lnL>
                    <a:lnR w="6480">
                      <a:solidFill>
                        <a:srgbClr val="D0D0D0"/>
                      </a:solidFill>
                      <a:prstDash val="solid"/>
                    </a:lnR>
                    <a:lnT w="6480">
                      <a:solidFill>
                        <a:srgbClr val="D0D0D0"/>
                      </a:solidFill>
                      <a:prstDash val="solid"/>
                    </a:lnT>
                    <a:lnB w="6480">
                      <a:solidFill>
                        <a:srgbClr val="D0D0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" name="Text 3"/>
          <p:cNvSpPr/>
          <p:nvPr/>
        </p:nvSpPr>
        <p:spPr>
          <a:xfrm>
            <a:off x="5559425" y="3164220"/>
            <a:ext cx="6309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 dirty="0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Table 2 — representative enriched terms (all point to cohesion / cell cycle).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a_enrtext"/>
          <p:cNvSpPr/>
          <p:nvPr/>
        </p:nvSpPr>
        <p:spPr>
          <a:xfrm>
            <a:off x="5532120" y="3703140"/>
            <a:ext cx="6400440" cy="86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Enrichment </a:t>
            </a:r>
            <a:r>
              <a:rPr lang="en-US" sz="1150" b="0" u="none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tests whether my 16 proteins are over-represented for a function vs. a random set — they are, overwhelmingly. The top terms (sister-chromatid cohesion, cell cycle) return at FDR ≈ 10</a:t>
            </a:r>
            <a:r>
              <a:rPr lang="en-US" sz="800" b="0" u="none" strike="noStrike" baseline="30000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−24</a:t>
            </a:r>
            <a:r>
              <a:rPr lang="en-US" sz="1150" b="0" u="none" strike="noStrike" dirty="0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.  </a:t>
            </a:r>
            <a:r>
              <a:rPr lang="en-US" sz="1150" b="1" u="none" strike="noStrike" dirty="0">
                <a:solidFill>
                  <a:srgbClr val="1A7A34"/>
                </a:solidFill>
                <a:effectLst/>
                <a:uFillTx/>
                <a:latin typeface="Calibri"/>
                <a:ea typeface="Calibri"/>
              </a:rPr>
              <a:t>→ this demonstrates the module is genuinely the cohesion machinery, not an arbitrary selection.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 dirty="0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FDR = significance corrected for testing many terms; the lower it is, the more reliable.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a_formula"/>
              <p:cNvSpPr/>
              <p:nvPr/>
            </p:nvSpPr>
            <p:spPr>
              <a:xfrm>
                <a:off x="320040" y="4663440"/>
                <a:ext cx="11566800" cy="721360"/>
              </a:xfrm>
              <a:prstGeom prst="roundRect">
                <a:avLst>
                  <a:gd name="adj" fmla="val 2632"/>
                </a:avLst>
              </a:prstGeom>
              <a:solidFill>
                <a:srgbClr val="F4F0F7"/>
              </a:solidFill>
              <a:ln w="12700">
                <a:solidFill>
                  <a:srgbClr val="762A83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4480" tIns="114480" rIns="114480" bIns="114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000" b="1" u="none" strike="noStrike" dirty="0">
                    <a:solidFill>
                      <a:srgbClr val="762A83"/>
                    </a:solidFill>
                    <a:effectLst/>
                    <a:uFillTx/>
                    <a:latin typeface="Calibri"/>
                  </a:rPr>
                  <a:t>how it is computed:  </a:t>
                </a:r>
                <a:endParaRPr lang="en-US" sz="10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950" b="0" u="none" strike="noStrike" dirty="0">
                    <a:solidFill>
                      <a:srgbClr val="2C3E50"/>
                    </a:solidFill>
                    <a:effectLst/>
                    <a:uFillTx/>
                    <a:latin typeface="Calibri"/>
                  </a:rPr>
                  <a:t>Hypergeometric ('urn') test: </a:t>
                </a:r>
                <a14:m>
                  <m:oMath xmlns:m="http://schemas.openxmlformats.org/officeDocument/2006/math">
                    <m:r>
                      <a:rPr lang="en-US" sz="950" i="1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950" i="1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50" i="1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950" i="1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sz="950" i="1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950" i="1">
                        <a:solidFill>
                          <a:srgbClr val="2C3E5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950" i="1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950" i="1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950" i="1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950" i="1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func>
                          <m:funcPr>
                            <m:ctrlPr>
                              <a:rPr lang="en-US" sz="950" i="1">
                                <a:solidFill>
                                  <a:srgbClr val="2C3E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950" i="1">
                                <a:solidFill>
                                  <a:srgbClr val="2C3E50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950" i="1">
                                    <a:solidFill>
                                      <a:srgbClr val="2C3E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950" i="1">
                                    <a:solidFill>
                                      <a:srgbClr val="2C3E5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950" i="1">
                                    <a:solidFill>
                                      <a:srgbClr val="2C3E5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950" i="1">
                                    <a:solidFill>
                                      <a:srgbClr val="2C3E5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d>
                          </m:e>
                        </m:func>
                      </m:sup>
                      <m:e>
                        <m:f>
                          <m:fPr>
                            <m:ctrlPr>
                              <a:rPr lang="en-US" sz="950" i="1">
                                <a:solidFill>
                                  <a:srgbClr val="2C3E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950" i="1">
                                    <a:solidFill>
                                      <a:srgbClr val="2C3E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US" sz="950" i="1">
                                        <a:solidFill>
                                          <a:srgbClr val="2C3E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950" i="1">
                                        <a:solidFill>
                                          <a:srgbClr val="2C3E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num>
                                  <m:den>
                                    <m:r>
                                      <a:rPr lang="en-US" sz="950" i="1">
                                        <a:solidFill>
                                          <a:srgbClr val="2C3E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den>
                                </m:f>
                              </m:e>
                            </m:d>
                            <m:d>
                              <m:dPr>
                                <m:ctrlPr>
                                  <a:rPr lang="en-US" sz="950" i="1">
                                    <a:solidFill>
                                      <a:srgbClr val="2C3E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US" sz="950" i="1">
                                        <a:solidFill>
                                          <a:srgbClr val="2C3E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950" i="1">
                                        <a:solidFill>
                                          <a:srgbClr val="2C3E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950" i="1">
                                        <a:solidFill>
                                          <a:srgbClr val="2C3E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950" i="1">
                                        <a:solidFill>
                                          <a:srgbClr val="2C3E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num>
                                  <m:den>
                                    <m:r>
                                      <a:rPr lang="en-US" sz="950" i="1">
                                        <a:solidFill>
                                          <a:srgbClr val="2C3E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950" i="1">
                                        <a:solidFill>
                                          <a:srgbClr val="2C3E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950" i="1">
                                        <a:solidFill>
                                          <a:srgbClr val="2C3E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d>
                              <m:dPr>
                                <m:ctrlPr>
                                  <a:rPr lang="en-US" sz="950" i="1">
                                    <a:solidFill>
                                      <a:srgbClr val="2C3E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US" sz="950" i="1">
                                        <a:solidFill>
                                          <a:srgbClr val="2C3E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950" i="1">
                                        <a:solidFill>
                                          <a:srgbClr val="2C3E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num>
                                  <m:den>
                                    <m:r>
                                      <a:rPr lang="en-US" sz="950" i="1">
                                        <a:solidFill>
                                          <a:srgbClr val="2C3E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</m:e>
                    </m:nary>
                    <m:r>
                      <a:rPr lang="en-US" sz="950" b="0" i="1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950" b="0" u="none" strike="noStrike" dirty="0">
                    <a:solidFill>
                      <a:srgbClr val="2C3E50"/>
                    </a:solidFill>
                    <a:effectLst/>
                    <a:uFillTx/>
                    <a:latin typeface="Calibri"/>
                  </a:rPr>
                  <a:t> e.g. 12 of my 16 proteins are among the only 42 cohesion genes in the whole genome (N ≈ 19,000) → p = 8.6×10⁻²⁹.   Benjamini–Hochberg correction:  FDR = p × (M / rank),  M = number of terms tested.</a:t>
                </a:r>
                <a:endParaRPr lang="en-US" sz="95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25" name="a_formul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4663440"/>
                <a:ext cx="11566800" cy="721360"/>
              </a:xfrm>
              <a:prstGeom prst="roundRect">
                <a:avLst>
                  <a:gd name="adj" fmla="val 2632"/>
                </a:avLst>
              </a:prstGeom>
              <a:blipFill>
                <a:blip r:embed="rId3"/>
                <a:stretch>
                  <a:fillRect b="-12500"/>
                </a:stretch>
              </a:blipFill>
              <a:ln w="12700">
                <a:solidFill>
                  <a:srgbClr val="762A83"/>
                </a:solidFill>
                <a:rou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6AE693D-DB3C-C44E-E8D2-A8D3BFF68B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535248"/>
              </p:ext>
            </p:extLst>
          </p:nvPr>
        </p:nvGraphicFramePr>
        <p:xfrm>
          <a:off x="4927600" y="26416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27600" y="26416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320040" y="164520"/>
            <a:ext cx="11521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C3E50"/>
                </a:solidFill>
                <a:effectLst/>
                <a:uFillTx/>
                <a:latin typeface="Cambria"/>
                <a:ea typeface="Cambria"/>
              </a:rPr>
              <a:t>Key terms (Result 1)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457200" y="1051560"/>
            <a:ext cx="54860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66AC"/>
                </a:solidFill>
                <a:effectLst/>
                <a:uFillTx/>
                <a:latin typeface="Calibri"/>
                <a:ea typeface="Calibri"/>
              </a:rPr>
              <a:t>Node / edge  </a:t>
            </a:r>
            <a:r>
              <a:rPr lang="en-US" sz="125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— a protein / a STRING interaction between two proteins.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457200" y="1965960"/>
            <a:ext cx="54860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66AC"/>
                </a:solidFill>
                <a:effectLst/>
                <a:uFillTx/>
                <a:latin typeface="Calibri"/>
                <a:ea typeface="Calibri"/>
              </a:rPr>
              <a:t>Degree  </a:t>
            </a:r>
            <a:r>
              <a:rPr lang="en-US" sz="125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— how many interactions a protein has (Sororin: 15/15 = hub).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457200" y="2880360"/>
            <a:ext cx="54860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66AC"/>
                </a:solidFill>
                <a:effectLst/>
                <a:uFillTx/>
                <a:latin typeface="Calibri"/>
                <a:ea typeface="Calibri"/>
              </a:rPr>
              <a:t>Density  </a:t>
            </a:r>
            <a:r>
              <a:rPr lang="en-US" sz="125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— fraction of all possible links present (0.89 = very tightly connected).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457200" y="3794760"/>
            <a:ext cx="54860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66AC"/>
                </a:solidFill>
                <a:effectLst/>
                <a:uFillTx/>
                <a:latin typeface="Calibri"/>
                <a:ea typeface="Calibri"/>
              </a:rPr>
              <a:t>Clustering coefficient  </a:t>
            </a:r>
            <a:r>
              <a:rPr lang="en-US" sz="125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— how interconnected a node's neighbours are (0.925).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457200" y="4709160"/>
            <a:ext cx="54860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66AC"/>
                </a:solidFill>
                <a:effectLst/>
                <a:uFillTx/>
                <a:latin typeface="Calibri"/>
                <a:ea typeface="Calibri"/>
              </a:rPr>
              <a:t>Separase (ESPL1)  </a:t>
            </a:r>
            <a:r>
              <a:rPr lang="en-US" sz="125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— the protease ('scissors') that cuts RAD21 to open the ring at anaphase.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6263640" y="1051560"/>
            <a:ext cx="5577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66AC"/>
                </a:solidFill>
                <a:effectLst/>
                <a:uFillTx/>
                <a:latin typeface="Calibri"/>
                <a:ea typeface="Calibri"/>
              </a:rPr>
              <a:t>Substrate  </a:t>
            </a:r>
            <a:r>
              <a:rPr lang="en-US" sz="125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— the molecule an enzyme acts on (Sororin is an APC/C substrate = its target).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6263640" y="1965960"/>
            <a:ext cx="5577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66AC"/>
                </a:solidFill>
                <a:effectLst/>
                <a:uFillTx/>
                <a:latin typeface="Calibri"/>
                <a:ea typeface="Calibri"/>
              </a:rPr>
              <a:t>Oncogenic  </a:t>
            </a:r>
            <a:r>
              <a:rPr lang="en-US" sz="125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— cancer-promoting (ERK2 via overactivity; SPOP is a tumour suppressor whose loss is oncogenic → both 'cancer-relevant').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6263640" y="3108960"/>
            <a:ext cx="5577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66AC"/>
                </a:solidFill>
                <a:effectLst/>
                <a:uFillTx/>
                <a:latin typeface="Calibri"/>
                <a:ea typeface="Calibri"/>
              </a:rPr>
              <a:t>PPI enrichment  </a:t>
            </a:r>
            <a:r>
              <a:rPr lang="en-US" sz="125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— statistical test: is the set more interconnected than random? (here p &lt; 10⁻¹⁶).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6263640" y="4114800"/>
            <a:ext cx="5577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66AC"/>
                </a:solidFill>
                <a:effectLst/>
                <a:uFillTx/>
                <a:latin typeface="Calibri"/>
                <a:ea typeface="Calibri"/>
              </a:rPr>
              <a:t>KEGG  </a:t>
            </a:r>
            <a:r>
              <a:rPr lang="en-US" sz="125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— database of curated pathway maps (e.g. 'Cell cycle', hsa04110).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6263640" y="5029200"/>
            <a:ext cx="5577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66AC"/>
                </a:solidFill>
                <a:effectLst/>
                <a:uFillTx/>
                <a:latin typeface="Calibri"/>
                <a:ea typeface="Calibri"/>
              </a:rPr>
              <a:t>FDR  </a:t>
            </a:r>
            <a:r>
              <a:rPr lang="en-US" sz="125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— false-discovery rate: significance corrected for testing many terms; lower = more reliable.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457200" y="18288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2C3E50"/>
                </a:solidFill>
                <a:effectLst/>
                <a:uFillTx/>
                <a:latin typeface="Cambria"/>
                <a:ea typeface="Cambria"/>
              </a:rPr>
              <a:t>Seeing it: Sororin is mostly disordered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a_af" descr="/tmp/assets/af_crop.png"/>
          <p:cNvPicPr/>
          <p:nvPr/>
        </p:nvPicPr>
        <p:blipFill>
          <a:blip r:embed="rId3"/>
          <a:stretch/>
        </p:blipFill>
        <p:spPr>
          <a:xfrm>
            <a:off x="914400" y="1234440"/>
            <a:ext cx="2631960" cy="356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1"/>
          <p:cNvSpPr/>
          <p:nvPr/>
        </p:nvSpPr>
        <p:spPr>
          <a:xfrm>
            <a:off x="548640" y="4892040"/>
            <a:ext cx="338292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AlphaFold 3D model — a floppy, extended chain with almost no fixed structure (one short helix = the folded C-terminus).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a_disorder" descr="/tmp/assets/disorder_crop.png"/>
          <p:cNvPicPr/>
          <p:nvPr/>
        </p:nvPicPr>
        <p:blipFill>
          <a:blip r:embed="rId4"/>
          <a:stretch/>
        </p:blipFill>
        <p:spPr>
          <a:xfrm>
            <a:off x="4297680" y="1371600"/>
            <a:ext cx="7406280" cy="408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2"/>
          <p:cNvSpPr/>
          <p:nvPr/>
        </p:nvSpPr>
        <p:spPr>
          <a:xfrm>
            <a:off x="4297680" y="5623560"/>
            <a:ext cx="7406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IUPred disorder profile: 61.5% disordered (red curve above 0.5). Only the C-terminal domain (aa 230–252) folds; the KEN box, FGF motif and Ser209 all sit in disordered regions.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a_key"/>
          <p:cNvSpPr/>
          <p:nvPr/>
        </p:nvSpPr>
        <p:spPr>
          <a:xfrm>
            <a:off x="548640" y="6327720"/>
            <a:ext cx="11091240" cy="411120"/>
          </a:xfrm>
          <a:prstGeom prst="roundRect">
            <a:avLst>
              <a:gd name="adj" fmla="val 11111"/>
            </a:avLst>
          </a:prstGeom>
          <a:solidFill>
            <a:srgbClr val="FCEBD0"/>
          </a:solidFill>
          <a:ln w="12700">
            <a:solidFill>
              <a:srgbClr val="B9770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Every binding handle and switch lives in these disordered regions  →  </a:t>
            </a:r>
            <a:r>
              <a:rPr lang="en-US" sz="1300" b="1" u="none" strike="noStrike" dirty="0">
                <a:solidFill>
                  <a:srgbClr val="B9770E"/>
                </a:solidFill>
                <a:effectLst/>
                <a:uFillTx/>
                <a:latin typeface="Calibri"/>
              </a:rPr>
              <a:t>Sororin is a “fuzzy hub.”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1235</Words>
  <Application>Microsoft Office PowerPoint</Application>
  <PresentationFormat>Custom</PresentationFormat>
  <Paragraphs>129</Paragraphs>
  <Slides>8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Cambria</vt:lpstr>
      <vt:lpstr>Cambria Math</vt:lpstr>
      <vt:lpstr>Symbol</vt:lpstr>
      <vt:lpstr>Times New Roman</vt:lpstr>
      <vt:lpstr>Wingdings</vt:lpstr>
      <vt:lpstr>Office Theme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Amirhossein Rezaei</cp:lastModifiedBy>
  <cp:revision>31</cp:revision>
  <dcterms:created xsi:type="dcterms:W3CDTF">2026-07-24T12:17:33Z</dcterms:created>
  <dcterms:modified xsi:type="dcterms:W3CDTF">2026-07-25T11:25:56Z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</vt:r8>
  </property>
  <property fmtid="{D5CDD505-2E9C-101B-9397-08002B2CF9AE}" pid="3" name="PresentationFormat">
    <vt:lpwstr>On-screen Show (16:9)</vt:lpwstr>
  </property>
  <property fmtid="{D5CDD505-2E9C-101B-9397-08002B2CF9AE}" pid="4" name="Slides">
    <vt:r8>5</vt:r8>
  </property>
</Properties>
</file>